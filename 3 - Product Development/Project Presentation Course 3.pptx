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21"/>
  </p:notesMasterIdLst>
  <p:sldIdLst>
    <p:sldId id="256" r:id="rId3"/>
    <p:sldId id="260" r:id="rId4"/>
    <p:sldId id="262" r:id="rId5"/>
    <p:sldId id="263" r:id="rId6"/>
    <p:sldId id="265" r:id="rId7"/>
    <p:sldId id="268" r:id="rId8"/>
    <p:sldId id="267" r:id="rId9"/>
    <p:sldId id="269" r:id="rId10"/>
    <p:sldId id="275" r:id="rId11"/>
    <p:sldId id="276" r:id="rId12"/>
    <p:sldId id="278" r:id="rId13"/>
    <p:sldId id="280" r:id="rId14"/>
    <p:sldId id="282" r:id="rId15"/>
    <p:sldId id="283" r:id="rId16"/>
    <p:sldId id="285" r:id="rId17"/>
    <p:sldId id="287" r:id="rId18"/>
    <p:sldId id="289" r:id="rId19"/>
    <p:sldId id="291" r:id="rId20"/>
  </p:sldIdLst>
  <p:sldSz cx="9144000" cy="5143500" type="screen16x9"/>
  <p:notesSz cx="6858000" cy="9144000"/>
  <p:embeddedFontLst>
    <p:embeddedFont>
      <p:font typeface="Open Sans" panose="020B0606030504020204" pitchFamily="34" charset="0"/>
      <p:regular r:id="rId22"/>
      <p:bold r:id="rId23"/>
      <p:italic r:id="rId24"/>
      <p:boldItalic r:id="rId25"/>
    </p:embeddedFont>
    <p:embeddedFont>
      <p:font typeface="Open Sans Light" panose="020B06060305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132107-9968-4529-8D7F-A200421C30BD}">
  <a:tblStyle styleId="{16132107-9968-4529-8D7F-A200421C30B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82"/>
  </p:normalViewPr>
  <p:slideViewPr>
    <p:cSldViewPr snapToGrid="0">
      <p:cViewPr>
        <p:scale>
          <a:sx n="103" d="100"/>
          <a:sy n="103" d="100"/>
        </p:scale>
        <p:origin x="144" y="4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7515110cb_1_4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g57515110cb_1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63c535a6a2_0_5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[ALL PARTICIPATION]</a:t>
            </a:r>
            <a:endParaRPr/>
          </a:p>
        </p:txBody>
      </p:sp>
      <p:sp>
        <p:nvSpPr>
          <p:cNvPr id="157" name="Google Shape;157;g63c535a6a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63c535a6a2_0_7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72" name="Google Shape;172;g63c535a6a2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63c535a6a2_0_36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[ALL PARTICIPATION]</a:t>
            </a:r>
            <a:endParaRPr/>
          </a:p>
        </p:txBody>
      </p:sp>
      <p:sp>
        <p:nvSpPr>
          <p:cNvPr id="182" name="Google Shape;182;g63c535a6a2_0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62a7771621_0_2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99" name="Google Shape;199;g62a777162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63c535a6a2_0_3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4" name="Google Shape;224;g63c535a6a2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473e69d8f_0_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16" name="Google Shape;216;g6473e69d8f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639711a67d_1_126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[ALL PARTICIPATION]</a:t>
            </a:r>
            <a:endParaRPr/>
          </a:p>
        </p:txBody>
      </p:sp>
      <p:sp>
        <p:nvSpPr>
          <p:cNvPr id="232" name="Google Shape;232;g639711a67d_1_1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6463c6be4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6463c6be4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62a7771621_0_3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[ALL PARTICIPATION]</a:t>
            </a:r>
            <a:endParaRPr/>
          </a:p>
        </p:txBody>
      </p:sp>
      <p:sp>
        <p:nvSpPr>
          <p:cNvPr id="291" name="Google Shape;291;g62a7771621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61265ad5f5_0_9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g61265ad5f5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639711a67d_1_124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g639711a67d_1_1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639711a67d_1_125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g639711a67d_1_1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62a7771621_0_7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[ALL PARTICIPATION]</a:t>
            </a:r>
            <a:endParaRPr/>
          </a:p>
        </p:txBody>
      </p:sp>
      <p:sp>
        <p:nvSpPr>
          <p:cNvPr id="349" name="Google Shape;349;g62a7771621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63c535a6a2_0_38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65" name="Google Shape;365;g63c535a6a2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645f63b28d_0_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83" name="Google Shape;383;g645f63b28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645f63b28d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01" name="Google Shape;401;g645f63b28d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645f63b28d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19" name="Google Shape;419;g645f63b2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56" name="Google Shape;56;p14"/>
          <p:cNvSpPr txBox="1">
            <a:spLocks noGrp="1"/>
          </p:cNvSpPr>
          <p:nvPr>
            <p:ph type="title"/>
          </p:nvPr>
        </p:nvSpPr>
        <p:spPr>
          <a:xfrm>
            <a:off x="457200" y="834727"/>
            <a:ext cx="8229600" cy="13893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7" name="Google Shape;57;p14"/>
          <p:cNvSpPr txBox="1">
            <a:spLocks noGrp="1"/>
          </p:cNvSpPr>
          <p:nvPr>
            <p:ph type="body" idx="1"/>
          </p:nvPr>
        </p:nvSpPr>
        <p:spPr>
          <a:xfrm>
            <a:off x="457200" y="2195513"/>
            <a:ext cx="5038800" cy="10035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8" name="Google Shape;58;p1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gue" type="tx">
  <p:cSld name="TITLE_AND_BODY">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1" name="Google Shape;61;p1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FFFF"/>
        </a:solidFill>
        <a:effectLst/>
      </p:bgPr>
    </p:bg>
    <p:spTree>
      <p:nvGrpSpPr>
        <p:cNvPr id="1" name="Shape 62"/>
        <p:cNvGrpSpPr/>
        <p:nvPr/>
      </p:nvGrpSpPr>
      <p:grpSpPr>
        <a:xfrm>
          <a:off x="0" y="0"/>
          <a:ext cx="0" cy="0"/>
          <a:chOff x="0" y="0"/>
          <a:chExt cx="0" cy="0"/>
        </a:xfrm>
      </p:grpSpPr>
      <p:sp>
        <p:nvSpPr>
          <p:cNvPr id="63" name="Google Shape;63;p16"/>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4" name="Google Shape;64;p16"/>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5" name="Google Shape;65;p16"/>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6" name="Google Shape;66;p16"/>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
        <p:nvSpPr>
          <p:cNvPr id="67" name="Google Shape;67;p16"/>
          <p:cNvSpPr txBox="1">
            <a:spLocks noGrp="1"/>
          </p:cNvSpPr>
          <p:nvPr>
            <p:ph type="body" idx="3"/>
          </p:nvPr>
        </p:nvSpPr>
        <p:spPr>
          <a:xfrm>
            <a:off x="457200" y="1715877"/>
            <a:ext cx="8229600" cy="2857800"/>
          </a:xfrm>
          <a:prstGeom prst="rect">
            <a:avLst/>
          </a:prstGeom>
          <a:noFill/>
          <a:ln>
            <a:noFill/>
          </a:ln>
        </p:spPr>
        <p:txBody>
          <a:bodyPr spcFirstLastPara="1" wrap="square" lIns="34275" tIns="34275" rIns="34275" bIns="34275" anchor="ctr" anchorCtr="0">
            <a:noAutofit/>
          </a:bodyPr>
          <a:lstStyle>
            <a:lvl1pPr marL="457200" marR="0" lvl="0"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gue with Subtitle">
  <p:cSld name="Segue with Subtitle">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0" name="Google Shape;70;p17"/>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1" name="Google Shape;71;p1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gue with Subtitle Light">
  <p:cSld name="Segue with Subtitle Light">
    <p:bg>
      <p:bgPr>
        <a:solidFill>
          <a:srgbClr val="02B3E4"/>
        </a:solidFill>
        <a:effectLst/>
      </p:bgPr>
    </p:bg>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4" name="Google Shape;74;p18"/>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5" name="Google Shape;75;p1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bg>
      <p:bgPr>
        <a:solidFill>
          <a:srgbClr val="FFFFFF"/>
        </a:solidFill>
        <a:effectLst/>
      </p:bgPr>
    </p:bg>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457200" y="667978"/>
            <a:ext cx="8229600" cy="2665800"/>
          </a:xfrm>
          <a:prstGeom prst="rect">
            <a:avLst/>
          </a:prstGeom>
          <a:noFill/>
          <a:ln>
            <a:noFill/>
          </a:ln>
        </p:spPr>
        <p:txBody>
          <a:bodyPr spcFirstLastPara="1" wrap="square" lIns="34275" tIns="34275" rIns="34275" bIns="34275" anchor="b" anchorCtr="0">
            <a:noAutofit/>
          </a:bodyPr>
          <a:lstStyle>
            <a:lvl1pPr marL="152400" marR="0" lvl="0" indent="-152400" algn="l" rtl="0">
              <a:lnSpc>
                <a:spcPct val="100000"/>
              </a:lnSpc>
              <a:spcBef>
                <a:spcPts val="0"/>
              </a:spcBef>
              <a:spcAft>
                <a:spcPts val="0"/>
              </a:spcAft>
              <a:buClr>
                <a:srgbClr val="2D3D4A"/>
              </a:buClr>
              <a:buSzPts val="500"/>
              <a:buFont typeface="Open Sans"/>
              <a:buNone/>
              <a:defRPr sz="3600" b="0" i="1"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1" name="Google Shape;81;p20"/>
          <p:cNvSpPr txBox="1">
            <a:spLocks noGrp="1"/>
          </p:cNvSpPr>
          <p:nvPr>
            <p:ph type="body" idx="1"/>
          </p:nvPr>
        </p:nvSpPr>
        <p:spPr>
          <a:xfrm>
            <a:off x="609600" y="3419475"/>
            <a:ext cx="8077200" cy="7449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2pPr>
            <a:lvl3pPr marL="1371600" marR="0" lvl="2"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3pPr>
            <a:lvl4pPr marL="1828800" marR="0" lvl="3"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4pPr>
            <a:lvl5pPr marL="2286000" marR="0" lvl="4"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2" name="Google Shape;82;p20"/>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with Content">
  <p:cSld name="Title with Content">
    <p:bg>
      <p:bgPr>
        <a:solidFill>
          <a:srgbClr val="FFFFFF"/>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5" name="Google Shape;85;p21"/>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6" name="Google Shape;86;p21"/>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7" name="Google Shape;87;p21"/>
          <p:cNvSpPr txBox="1">
            <a:spLocks noGrp="1"/>
          </p:cNvSpPr>
          <p:nvPr>
            <p:ph type="body" idx="3"/>
          </p:nvPr>
        </p:nvSpPr>
        <p:spPr>
          <a:xfrm>
            <a:off x="457200" y="1714500"/>
            <a:ext cx="8229600" cy="28575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700"/>
              </a:spcBef>
              <a:spcAft>
                <a:spcPts val="0"/>
              </a:spcAft>
              <a:buClr>
                <a:srgbClr val="2D3D4A"/>
              </a:buClr>
              <a:buSzPts val="1400"/>
              <a:buFont typeface="Cabin"/>
              <a:buChar char="•"/>
              <a:defRPr sz="1800" b="0" i="0" u="none" strike="noStrike" cap="none">
                <a:solidFill>
                  <a:srgbClr val="2D3D4A"/>
                </a:solidFill>
                <a:latin typeface="Open Sans"/>
                <a:ea typeface="Open Sans"/>
                <a:cs typeface="Open Sans"/>
                <a:sym typeface="Open Sans"/>
              </a:defRPr>
            </a:lvl1pPr>
            <a:lvl2pPr marL="914400" marR="0" lvl="1" indent="-311150" algn="l" rtl="0">
              <a:lnSpc>
                <a:spcPct val="100000"/>
              </a:lnSpc>
              <a:spcBef>
                <a:spcPts val="700"/>
              </a:spcBef>
              <a:spcAft>
                <a:spcPts val="0"/>
              </a:spcAft>
              <a:buClr>
                <a:srgbClr val="2D3D4A"/>
              </a:buClr>
              <a:buSzPts val="1300"/>
              <a:buFont typeface="Open Sans"/>
              <a:buChar char="–"/>
              <a:defRPr sz="1600" b="0" i="0" u="none" strike="noStrike" cap="none">
                <a:solidFill>
                  <a:srgbClr val="2D3D4A"/>
                </a:solidFill>
                <a:latin typeface="Open Sans"/>
                <a:ea typeface="Open Sans"/>
                <a:cs typeface="Open Sans"/>
                <a:sym typeface="Open Sans"/>
              </a:defRPr>
            </a:lvl2pPr>
            <a:lvl3pPr marL="1371600" marR="0" lvl="2"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3pPr>
            <a:lvl4pPr marL="1828800" marR="0" lvl="3"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4pPr>
            <a:lvl5pPr marL="2286000" marR="0" lvl="4"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8" name="Google Shape;88;p21"/>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with Content &amp; Image">
  <p:cSld name="Title with Content &amp; Image">
    <p:bg>
      <p:bgPr>
        <a:solidFill>
          <a:srgbClr val="FFFFFF"/>
        </a:solidFill>
        <a:effectLst/>
      </p:bgPr>
    </p:bg>
    <p:spTree>
      <p:nvGrpSpPr>
        <p:cNvPr id="1" name="Shape 89"/>
        <p:cNvGrpSpPr/>
        <p:nvPr/>
      </p:nvGrpSpPr>
      <p:grpSpPr>
        <a:xfrm>
          <a:off x="0" y="0"/>
          <a:ext cx="0" cy="0"/>
          <a:chOff x="0" y="0"/>
          <a:chExt cx="0" cy="0"/>
        </a:xfrm>
      </p:grpSpPr>
      <p:sp>
        <p:nvSpPr>
          <p:cNvPr id="90" name="Google Shape;90;p22"/>
          <p:cNvSpPr txBox="1">
            <a:spLocks noGrp="1"/>
          </p:cNvSpPr>
          <p:nvPr>
            <p:ph type="body" idx="1"/>
          </p:nvPr>
        </p:nvSpPr>
        <p:spPr>
          <a:xfrm>
            <a:off x="457200" y="912875"/>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1" name="Google Shape;91;p22"/>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2" name="Google Shape;92;p22"/>
          <p:cNvSpPr txBox="1">
            <a:spLocks noGrp="1"/>
          </p:cNvSpPr>
          <p:nvPr>
            <p:ph type="title"/>
          </p:nvPr>
        </p:nvSpPr>
        <p:spPr>
          <a:xfrm>
            <a:off x="457200" y="304800"/>
            <a:ext cx="8229600" cy="5937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93" name="Google Shape;93;p22"/>
          <p:cNvSpPr txBox="1">
            <a:spLocks noGrp="1"/>
          </p:cNvSpPr>
          <p:nvPr>
            <p:ph type="body" idx="3"/>
          </p:nvPr>
        </p:nvSpPr>
        <p:spPr>
          <a:xfrm>
            <a:off x="457200" y="1714500"/>
            <a:ext cx="4025100" cy="28575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700"/>
              </a:spcBef>
              <a:spcAft>
                <a:spcPts val="0"/>
              </a:spcAft>
              <a:buClr>
                <a:srgbClr val="2D3D4A"/>
              </a:buClr>
              <a:buSzPts val="1400"/>
              <a:buFont typeface="Open Sans"/>
              <a:buChar char="•"/>
              <a:defRPr sz="1800" b="0" i="0" u="none" strike="noStrike" cap="none">
                <a:solidFill>
                  <a:srgbClr val="2D3D4A"/>
                </a:solidFill>
                <a:latin typeface="Open Sans"/>
                <a:ea typeface="Open Sans"/>
                <a:cs typeface="Open Sans"/>
                <a:sym typeface="Open Sans"/>
              </a:defRPr>
            </a:lvl1pPr>
            <a:lvl2pPr marL="914400" marR="0" lvl="1" indent="-311150" algn="l" rtl="0">
              <a:lnSpc>
                <a:spcPct val="100000"/>
              </a:lnSpc>
              <a:spcBef>
                <a:spcPts val="700"/>
              </a:spcBef>
              <a:spcAft>
                <a:spcPts val="0"/>
              </a:spcAft>
              <a:buClr>
                <a:srgbClr val="2D3D4A"/>
              </a:buClr>
              <a:buSzPts val="1300"/>
              <a:buFont typeface="Open Sans"/>
              <a:buChar char="–"/>
              <a:defRPr sz="1600" b="0" i="0" u="none" strike="noStrike" cap="none">
                <a:solidFill>
                  <a:srgbClr val="2D3D4A"/>
                </a:solidFill>
                <a:latin typeface="Open Sans"/>
                <a:ea typeface="Open Sans"/>
                <a:cs typeface="Open Sans"/>
                <a:sym typeface="Open Sans"/>
              </a:defRPr>
            </a:lvl2pPr>
            <a:lvl3pPr marL="1371600" marR="0" lvl="2"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3pPr>
            <a:lvl4pPr marL="1828800" marR="0" lvl="3"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4pPr>
            <a:lvl5pPr marL="2286000" marR="0" lvl="4"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4" name="Google Shape;94;p22"/>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
        <p:nvSpPr>
          <p:cNvPr id="95" name="Google Shape;95;p22"/>
          <p:cNvSpPr>
            <a:spLocks noGrp="1"/>
          </p:cNvSpPr>
          <p:nvPr>
            <p:ph type="pic" idx="4"/>
          </p:nvPr>
        </p:nvSpPr>
        <p:spPr>
          <a:xfrm>
            <a:off x="4662488" y="1714500"/>
            <a:ext cx="4024200" cy="28575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0" marR="0" lvl="1"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0" marR="0" lvl="2"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0" marR="0" lvl="3"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0" marR="0" lvl="4"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0" marR="0" lvl="5" indent="5334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0" marR="0" lvl="6" indent="7112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0" marR="0" lvl="7" indent="8890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0" marR="0" lvl="8" indent="10668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p:cSld name="Image">
    <p:bg>
      <p:bgPr>
        <a:solidFill>
          <a:srgbClr val="2D3D4A"/>
        </a:solidFill>
        <a:effectLst/>
      </p:bgPr>
    </p:bg>
    <p:spTree>
      <p:nvGrpSpPr>
        <p:cNvPr id="1" name="Shape 96"/>
        <p:cNvGrpSpPr/>
        <p:nvPr/>
      </p:nvGrpSpPr>
      <p:grpSpPr>
        <a:xfrm>
          <a:off x="0" y="0"/>
          <a:ext cx="0" cy="0"/>
          <a:chOff x="0" y="0"/>
          <a:chExt cx="0" cy="0"/>
        </a:xfrm>
      </p:grpSpPr>
      <p:sp>
        <p:nvSpPr>
          <p:cNvPr id="97" name="Google Shape;97;p23"/>
          <p:cNvSpPr>
            <a:spLocks noGrp="1"/>
          </p:cNvSpPr>
          <p:nvPr>
            <p:ph type="pic" idx="2"/>
          </p:nvPr>
        </p:nvSpPr>
        <p:spPr>
          <a:xfrm>
            <a:off x="0" y="0"/>
            <a:ext cx="9144000" cy="51435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0" marR="0" lvl="1"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0" marR="0" lvl="2"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0" marR="0" lvl="3"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0" marR="0" lvl="4"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0" marR="0" lvl="5" indent="5334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0" marR="0" lvl="6" indent="7112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0" marR="0" lvl="7" indent="8890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0" marR="0" lvl="8" indent="10668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8" name="Google Shape;98;p2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emo">
  <p:cSld name="Demo">
    <p:spTree>
      <p:nvGrpSpPr>
        <p:cNvPr id="1" name="Shape 99"/>
        <p:cNvGrpSpPr/>
        <p:nvPr/>
      </p:nvGrpSpPr>
      <p:grpSpPr>
        <a:xfrm>
          <a:off x="0" y="0"/>
          <a:ext cx="0" cy="0"/>
          <a:chOff x="0" y="0"/>
          <a:chExt cx="0" cy="0"/>
        </a:xfrm>
      </p:grpSpPr>
      <p:pic>
        <p:nvPicPr>
          <p:cNvPr id="100" name="Google Shape;100;p2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101" name="Google Shape;101;p24"/>
          <p:cNvSpPr txBox="1">
            <a:spLocks noGrp="1"/>
          </p:cNvSpPr>
          <p:nvPr>
            <p:ph type="body" idx="1"/>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457200" marR="0" lvl="0" indent="-2286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102" name="Google Shape;102;p2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ogo A Dark">
  <p:cSld name="Logo A Dark">
    <p:spTree>
      <p:nvGrpSpPr>
        <p:cNvPr id="1" name="Shape 103"/>
        <p:cNvGrpSpPr/>
        <p:nvPr/>
      </p:nvGrpSpPr>
      <p:grpSpPr>
        <a:xfrm>
          <a:off x="0" y="0"/>
          <a:ext cx="0" cy="0"/>
          <a:chOff x="0" y="0"/>
          <a:chExt cx="0" cy="0"/>
        </a:xfrm>
      </p:grpSpPr>
      <p:sp>
        <p:nvSpPr>
          <p:cNvPr id="104" name="Google Shape;104;p25"/>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05" name="Google Shape;105;p25"/>
          <p:cNvSpPr/>
          <p:nvPr/>
        </p:nvSpPr>
        <p:spPr>
          <a:xfrm>
            <a:off x="3796401" y="3514398"/>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06" name="Google Shape;106;p25"/>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07" name="Google Shape;107;p2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ogo A Light">
  <p:cSld name="Logo A Light">
    <p:bg>
      <p:bgPr>
        <a:solidFill>
          <a:srgbClr val="02B3E4"/>
        </a:solidFill>
        <a:effectLst/>
      </p:bgPr>
    </p:bg>
    <p:spTree>
      <p:nvGrpSpPr>
        <p:cNvPr id="1" name="Shape 108"/>
        <p:cNvGrpSpPr/>
        <p:nvPr/>
      </p:nvGrpSpPr>
      <p:grpSpPr>
        <a:xfrm>
          <a:off x="0" y="0"/>
          <a:ext cx="0" cy="0"/>
          <a:chOff x="0" y="0"/>
          <a:chExt cx="0" cy="0"/>
        </a:xfrm>
      </p:grpSpPr>
      <p:sp>
        <p:nvSpPr>
          <p:cNvPr id="109" name="Google Shape;109;p26"/>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10" name="Google Shape;110;p26"/>
          <p:cNvSpPr/>
          <p:nvPr/>
        </p:nvSpPr>
        <p:spPr>
          <a:xfrm>
            <a:off x="3796401" y="3514725"/>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11" name="Google Shape;111;p26"/>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12" name="Google Shape;112;p26"/>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ogo B Dark">
  <p:cSld name="Logo B Dark">
    <p:spTree>
      <p:nvGrpSpPr>
        <p:cNvPr id="1" name="Shape 113"/>
        <p:cNvGrpSpPr/>
        <p:nvPr/>
      </p:nvGrpSpPr>
      <p:grpSpPr>
        <a:xfrm>
          <a:off x="0" y="0"/>
          <a:ext cx="0" cy="0"/>
          <a:chOff x="0" y="0"/>
          <a:chExt cx="0" cy="0"/>
        </a:xfrm>
      </p:grpSpPr>
      <p:sp>
        <p:nvSpPr>
          <p:cNvPr id="114" name="Google Shape;114;p27"/>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15" name="Google Shape;115;p27"/>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16" name="Google Shape;116;p27"/>
          <p:cNvPicPr preferRelativeResize="0"/>
          <p:nvPr/>
        </p:nvPicPr>
        <p:blipFill rotWithShape="1">
          <a:blip r:embed="rId2">
            <a:alphaModFix/>
          </a:blip>
          <a:srcRect/>
          <a:stretch/>
        </p:blipFill>
        <p:spPr>
          <a:xfrm>
            <a:off x="2500679" y="2221260"/>
            <a:ext cx="4143300" cy="720000"/>
          </a:xfrm>
          <a:prstGeom prst="rect">
            <a:avLst/>
          </a:prstGeom>
          <a:noFill/>
          <a:ln>
            <a:noFill/>
          </a:ln>
        </p:spPr>
      </p:pic>
      <p:sp>
        <p:nvSpPr>
          <p:cNvPr id="117" name="Google Shape;117;p2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ogo B Light">
  <p:cSld name="Logo B Light">
    <p:bg>
      <p:bgPr>
        <a:solidFill>
          <a:srgbClr val="02B3E4"/>
        </a:solidFill>
        <a:effectLst/>
      </p:bgPr>
    </p:bg>
    <p:spTree>
      <p:nvGrpSpPr>
        <p:cNvPr id="1" name="Shape 118"/>
        <p:cNvGrpSpPr/>
        <p:nvPr/>
      </p:nvGrpSpPr>
      <p:grpSpPr>
        <a:xfrm>
          <a:off x="0" y="0"/>
          <a:ext cx="0" cy="0"/>
          <a:chOff x="0" y="0"/>
          <a:chExt cx="0" cy="0"/>
        </a:xfrm>
      </p:grpSpPr>
      <p:sp>
        <p:nvSpPr>
          <p:cNvPr id="119" name="Google Shape;119;p28"/>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20" name="Google Shape;120;p28"/>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21" name="Google Shape;121;p28"/>
          <p:cNvPicPr preferRelativeResize="0"/>
          <p:nvPr/>
        </p:nvPicPr>
        <p:blipFill rotWithShape="1">
          <a:blip r:embed="rId2">
            <a:alphaModFix/>
          </a:blip>
          <a:srcRect/>
          <a:stretch/>
        </p:blipFill>
        <p:spPr>
          <a:xfrm>
            <a:off x="2500313" y="2221260"/>
            <a:ext cx="4143300" cy="720000"/>
          </a:xfrm>
          <a:prstGeom prst="rect">
            <a:avLst/>
          </a:prstGeom>
          <a:noFill/>
          <a:ln>
            <a:noFill/>
          </a:ln>
        </p:spPr>
      </p:pic>
      <p:sp>
        <p:nvSpPr>
          <p:cNvPr id="122" name="Google Shape;122;p2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123"/>
        <p:cNvGrpSpPr/>
        <p:nvPr/>
      </p:nvGrpSpPr>
      <p:grpSpPr>
        <a:xfrm>
          <a:off x="0" y="0"/>
          <a:ext cx="0" cy="0"/>
          <a:chOff x="0" y="0"/>
          <a:chExt cx="0" cy="0"/>
        </a:xfrm>
      </p:grpSpPr>
      <p:sp>
        <p:nvSpPr>
          <p:cNvPr id="124" name="Google Shape;124;p29"/>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E3D49"/>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2" name="Google Shape;52;p13"/>
          <p:cNvSpPr txBox="1">
            <a:spLocks noGrp="1"/>
          </p:cNvSpPr>
          <p:nvPr>
            <p:ph type="body" idx="1"/>
          </p:nvPr>
        </p:nvSpPr>
        <p:spPr>
          <a:xfrm>
            <a:off x="614363" y="2662238"/>
            <a:ext cx="79152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3" name="Google Shape;53;p1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RpNM7-2ux8Pbs-NCK19tKV0sq-xNLb_4pI0aWimcR5s/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hyperlink" Target="https://drive.google.com/open?id=1mWVlcW0F2hpAO4b_g-8ZD6UWbsHAUOap" TargetMode="External"/><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open?id=1OGNNRV6qEI-yKJY19guh3AxhHL8FzFNf" TargetMode="External"/><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aP-Fx_vq_yoeQtOs7seM0u55xipMFt5-/view?usp=sharing"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open?id=1nDZo0V-GKS1Xjxvxw3NGDBKmf-Wj_iv6" TargetMode="External"/><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0"/>
          <p:cNvSpPr txBox="1">
            <a:spLocks noGrp="1"/>
          </p:cNvSpPr>
          <p:nvPr>
            <p:ph type="title"/>
          </p:nvPr>
        </p:nvSpPr>
        <p:spPr>
          <a:xfrm>
            <a:off x="457200" y="834727"/>
            <a:ext cx="8229600" cy="1389300"/>
          </a:xfrm>
          <a:prstGeom prst="rect">
            <a:avLst/>
          </a:prstGeom>
          <a:noFill/>
          <a:ln>
            <a:noFill/>
          </a:ln>
        </p:spPr>
        <p:txBody>
          <a:bodyPr spcFirstLastPara="1" wrap="square" lIns="0" tIns="0" rIns="0" bIns="0" anchor="b" anchorCtr="0">
            <a:noAutofit/>
          </a:bodyPr>
          <a:lstStyle/>
          <a:p>
            <a:pPr marL="0" marR="0" lvl="0" indent="0" algn="l" rtl="0">
              <a:lnSpc>
                <a:spcPct val="120000"/>
              </a:lnSpc>
              <a:spcBef>
                <a:spcPts val="0"/>
              </a:spcBef>
              <a:spcAft>
                <a:spcPts val="0"/>
              </a:spcAft>
              <a:buClr>
                <a:srgbClr val="FFFFFF"/>
              </a:buClr>
              <a:buFont typeface="Open Sans"/>
              <a:buNone/>
            </a:pPr>
            <a:r>
              <a:rPr lang="en" sz="4200" dirty="0" err="1"/>
              <a:t>KPDailyCheckup</a:t>
            </a:r>
            <a:endParaRPr sz="4200" dirty="0"/>
          </a:p>
        </p:txBody>
      </p:sp>
      <p:sp>
        <p:nvSpPr>
          <p:cNvPr id="130" name="Google Shape;130;p30"/>
          <p:cNvSpPr txBox="1">
            <a:spLocks noGrp="1"/>
          </p:cNvSpPr>
          <p:nvPr>
            <p:ph type="body" idx="1"/>
          </p:nvPr>
        </p:nvSpPr>
        <p:spPr>
          <a:xfrm>
            <a:off x="457200" y="2195525"/>
            <a:ext cx="5900700" cy="1003500"/>
          </a:xfrm>
          <a:prstGeom prst="rect">
            <a:avLst/>
          </a:prstGeom>
          <a:noFill/>
          <a:ln>
            <a:noFill/>
          </a:ln>
        </p:spPr>
        <p:txBody>
          <a:bodyPr spcFirstLastPara="1" wrap="square" lIns="0" tIns="0" rIns="0" bIns="0" anchor="t" anchorCtr="0">
            <a:noAutofit/>
          </a:bodyPr>
          <a:lstStyle/>
          <a:p>
            <a:pPr marL="0" marR="0" lvl="0" indent="0" algn="l" rtl="0">
              <a:lnSpc>
                <a:spcPct val="131250"/>
              </a:lnSpc>
              <a:spcBef>
                <a:spcPts val="0"/>
              </a:spcBef>
              <a:spcAft>
                <a:spcPts val="0"/>
              </a:spcAft>
              <a:buClr>
                <a:srgbClr val="9CBDD8"/>
              </a:buClr>
              <a:buFont typeface="Open Sans"/>
              <a:buNone/>
            </a:pPr>
            <a:r>
              <a:rPr lang="en" dirty="0"/>
              <a:t>Developing the product</a:t>
            </a:r>
            <a:endParaRPr b="1" dirty="0"/>
          </a:p>
          <a:p>
            <a:pPr marL="0" marR="0" lvl="0" indent="0" algn="l" rtl="0">
              <a:lnSpc>
                <a:spcPct val="131250"/>
              </a:lnSpc>
              <a:spcBef>
                <a:spcPts val="0"/>
              </a:spcBef>
              <a:spcAft>
                <a:spcPts val="0"/>
              </a:spcAft>
              <a:buClr>
                <a:srgbClr val="9CBDD8"/>
              </a:buClr>
              <a:buFont typeface="Open Sans"/>
              <a:buNone/>
            </a:pPr>
            <a:endParaRPr b="1" dirty="0"/>
          </a:p>
          <a:p>
            <a:pPr marL="0" marR="0" lvl="0" indent="0" algn="l" rtl="0">
              <a:lnSpc>
                <a:spcPct val="131250"/>
              </a:lnSpc>
              <a:spcBef>
                <a:spcPts val="0"/>
              </a:spcBef>
              <a:spcAft>
                <a:spcPts val="0"/>
              </a:spcAft>
              <a:buClr>
                <a:srgbClr val="9CBDD8"/>
              </a:buClr>
              <a:buFont typeface="Open Sans"/>
              <a:buNone/>
            </a:pPr>
            <a:r>
              <a:rPr lang="en" b="1" dirty="0"/>
              <a:t>Product Owner: </a:t>
            </a:r>
            <a:r>
              <a:rPr lang="en-US" b="1" dirty="0" err="1"/>
              <a:t>Maleina</a:t>
            </a:r>
            <a:r>
              <a:rPr lang="en-US" b="1" dirty="0"/>
              <a:t> </a:t>
            </a:r>
            <a:r>
              <a:rPr lang="en-US" b="1" dirty="0" err="1"/>
              <a:t>Bidek</a:t>
            </a:r>
            <a:endParaRPr b="1" dirty="0"/>
          </a:p>
          <a:p>
            <a:pPr marL="0" marR="0" lvl="0" indent="0" algn="l" rtl="0">
              <a:lnSpc>
                <a:spcPct val="131250"/>
              </a:lnSpc>
              <a:spcBef>
                <a:spcPts val="0"/>
              </a:spcBef>
              <a:spcAft>
                <a:spcPts val="0"/>
              </a:spcAft>
              <a:buClr>
                <a:srgbClr val="9CBDD8"/>
              </a:buClr>
              <a:buFont typeface="Open Sans"/>
              <a:buNone/>
            </a:pPr>
            <a:endParaRPr sz="500" dirty="0"/>
          </a:p>
        </p:txBody>
      </p:sp>
      <p:sp>
        <p:nvSpPr>
          <p:cNvPr id="131" name="Google Shape;131;p30"/>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2019 Udacity.  All rights reserved.</a:t>
            </a:r>
            <a:endParaRPr sz="50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4"/>
          <p:cNvSpPr txBox="1">
            <a:spLocks noGrp="1"/>
          </p:cNvSpPr>
          <p:nvPr>
            <p:ph type="title"/>
          </p:nvPr>
        </p:nvSpPr>
        <p:spPr>
          <a:xfrm>
            <a:off x="457200" y="1219200"/>
            <a:ext cx="8229600" cy="1390800"/>
          </a:xfrm>
          <a:prstGeom prst="rect">
            <a:avLst/>
          </a:prstGeom>
          <a:noFill/>
          <a:ln>
            <a:noFill/>
          </a:ln>
        </p:spPr>
        <p:txBody>
          <a:bodyPr spcFirstLastPara="1" wrap="square" lIns="0" tIns="0" rIns="0" bIns="0" anchor="b" anchorCtr="0">
            <a:noAutofit/>
          </a:bodyPr>
          <a:lstStyle/>
          <a:p>
            <a:pPr marL="0" marR="0" lvl="0" indent="0" algn="l" rtl="0">
              <a:lnSpc>
                <a:spcPct val="115000"/>
              </a:lnSpc>
              <a:spcBef>
                <a:spcPts val="0"/>
              </a:spcBef>
              <a:spcAft>
                <a:spcPts val="0"/>
              </a:spcAft>
              <a:buClr>
                <a:srgbClr val="FFFFFF"/>
              </a:buClr>
              <a:buFont typeface="Open Sans"/>
              <a:buNone/>
            </a:pPr>
            <a:r>
              <a:rPr lang="en" sz="4200"/>
              <a:t>Create Project Blueprint</a:t>
            </a:r>
            <a:endParaRPr sz="4200"/>
          </a:p>
        </p:txBody>
      </p:sp>
      <p:sp>
        <p:nvSpPr>
          <p:cNvPr id="160" name="Google Shape;160;p34"/>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161" name="Google Shape;161;p34"/>
          <p:cNvSpPr txBox="1">
            <a:spLocks noGrp="1"/>
          </p:cNvSpPr>
          <p:nvPr>
            <p:ph type="body" idx="1"/>
          </p:nvPr>
        </p:nvSpPr>
        <p:spPr>
          <a:xfrm>
            <a:off x="457200" y="2557475"/>
            <a:ext cx="8421900" cy="768000"/>
          </a:xfrm>
          <a:prstGeom prst="rect">
            <a:avLst/>
          </a:prstGeom>
        </p:spPr>
        <p:txBody>
          <a:bodyPr spcFirstLastPara="1" wrap="square" lIns="34275" tIns="34275" rIns="34275" bIns="34275" anchor="t" anchorCtr="0">
            <a:noAutofit/>
          </a:bodyPr>
          <a:lstStyle/>
          <a:p>
            <a:pPr marL="0" lvl="0" indent="0" algn="l" rtl="0">
              <a:lnSpc>
                <a:spcPct val="115000"/>
              </a:lnSpc>
              <a:spcBef>
                <a:spcPts val="0"/>
              </a:spcBef>
              <a:spcAft>
                <a:spcPts val="0"/>
              </a:spcAft>
              <a:buNone/>
            </a:pPr>
            <a:r>
              <a:rPr lang="en" sz="1200">
                <a:solidFill>
                  <a:srgbClr val="FFFFFF"/>
                </a:solidFill>
              </a:rPr>
              <a:t> A product launch is not just about deploying a beautifully designed,built and thoroughly tested feature. Your company needs to be equally prepared if not more to support every possible customer interaction associated with the product (e.g landing on your company website to learn more about the new feature)</a:t>
            </a:r>
            <a:endParaRPr sz="1200">
              <a:solidFill>
                <a:srgbClr val="FFFFFF"/>
              </a:solidFill>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6"/>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175" name="Google Shape;175;p36"/>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3</a:t>
            </a:fld>
            <a:endParaRPr>
              <a:solidFill>
                <a:srgbClr val="929292"/>
              </a:solidFill>
            </a:endParaRPr>
          </a:p>
        </p:txBody>
      </p:sp>
      <p:sp>
        <p:nvSpPr>
          <p:cNvPr id="176" name="Google Shape;176;p36"/>
          <p:cNvSpPr txBox="1">
            <a:spLocks noGrp="1"/>
          </p:cNvSpPr>
          <p:nvPr>
            <p:ph type="body" idx="1"/>
          </p:nvPr>
        </p:nvSpPr>
        <p:spPr>
          <a:xfrm>
            <a:off x="475050" y="463111"/>
            <a:ext cx="8440800" cy="283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sz="1200" dirty="0">
                <a:highlight>
                  <a:srgbClr val="FFFFFF"/>
                </a:highlight>
                <a:latin typeface="Open Sans Light"/>
                <a:ea typeface="Open Sans Light"/>
                <a:cs typeface="Open Sans Light"/>
                <a:sym typeface="Open Sans Light"/>
              </a:rPr>
              <a:t>Please view my coordination activities map here</a:t>
            </a:r>
            <a:r>
              <a:rPr lang="en" sz="1200" dirty="0">
                <a:solidFill>
                  <a:srgbClr val="0097A7"/>
                </a:solidFill>
                <a:highlight>
                  <a:srgbClr val="FFFFFF"/>
                </a:highlight>
                <a:latin typeface="Open Sans Light"/>
                <a:ea typeface="Open Sans Light"/>
                <a:cs typeface="Open Sans Light"/>
                <a:sym typeface="Open Sans Light"/>
              </a:rPr>
              <a:t> </a:t>
            </a:r>
            <a:r>
              <a:rPr lang="en" sz="1200" dirty="0">
                <a:solidFill>
                  <a:srgbClr val="0097A7"/>
                </a:solidFill>
                <a:highlight>
                  <a:srgbClr val="FFFFFF"/>
                </a:highlight>
                <a:latin typeface="Open Sans Light"/>
                <a:ea typeface="Open Sans Light"/>
                <a:cs typeface="Open Sans Light"/>
                <a:sym typeface="Open Sans Light"/>
                <a:hlinkClick r:id="rId3"/>
              </a:rPr>
              <a:t>here</a:t>
            </a:r>
            <a:r>
              <a:rPr lang="en" sz="1200" dirty="0">
                <a:solidFill>
                  <a:srgbClr val="0097A7"/>
                </a:solidFill>
                <a:highlight>
                  <a:srgbClr val="FFFFFF"/>
                </a:highlight>
                <a:latin typeface="Open Sans Light"/>
                <a:ea typeface="Open Sans Light"/>
                <a:cs typeface="Open Sans Light"/>
                <a:sym typeface="Open Sans Light"/>
              </a:rPr>
              <a:t> </a:t>
            </a:r>
            <a:r>
              <a:rPr lang="en" sz="1200" dirty="0">
                <a:solidFill>
                  <a:srgbClr val="02B3E4"/>
                </a:solidFill>
                <a:highlight>
                  <a:srgbClr val="FFFFFF"/>
                </a:highlight>
                <a:latin typeface="Open Sans Light"/>
                <a:ea typeface="Open Sans Light"/>
                <a:cs typeface="Open Sans Light"/>
                <a:sym typeface="Open Sans Light"/>
              </a:rPr>
              <a:t>if you have trouble viewing the screenshot</a:t>
            </a:r>
            <a:r>
              <a:rPr lang="en" sz="1200" dirty="0">
                <a:highlight>
                  <a:srgbClr val="FFFFFF"/>
                </a:highlight>
                <a:latin typeface="Open Sans Light"/>
                <a:ea typeface="Open Sans Light"/>
                <a:cs typeface="Open Sans Light"/>
                <a:sym typeface="Open Sans Light"/>
              </a:rPr>
              <a:t> below.</a:t>
            </a:r>
            <a:endParaRPr sz="1200" dirty="0">
              <a:solidFill>
                <a:srgbClr val="02B3E4"/>
              </a:solidFill>
            </a:endParaRPr>
          </a:p>
        </p:txBody>
      </p:sp>
      <p:sp>
        <p:nvSpPr>
          <p:cNvPr id="177" name="Google Shape;177;p36"/>
          <p:cNvSpPr txBox="1">
            <a:spLocks noGrp="1"/>
          </p:cNvSpPr>
          <p:nvPr>
            <p:ph type="title"/>
          </p:nvPr>
        </p:nvSpPr>
        <p:spPr>
          <a:xfrm>
            <a:off x="457200" y="76200"/>
            <a:ext cx="8229600" cy="4788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sz="2800" dirty="0"/>
              <a:t>Create a coordination activities map</a:t>
            </a:r>
            <a:endParaRPr sz="2800" dirty="0"/>
          </a:p>
        </p:txBody>
      </p:sp>
      <p:pic>
        <p:nvPicPr>
          <p:cNvPr id="3" name="Picture 2" descr="A close up of a piece of paper&#10;&#10;Description automatically generated">
            <a:extLst>
              <a:ext uri="{FF2B5EF4-FFF2-40B4-BE49-F238E27FC236}">
                <a16:creationId xmlns:a16="http://schemas.microsoft.com/office/drawing/2014/main" id="{CEDD9284-B0A8-BC4B-8441-372BE2238D76}"/>
              </a:ext>
            </a:extLst>
          </p:cNvPr>
          <p:cNvPicPr>
            <a:picLocks noChangeAspect="1"/>
          </p:cNvPicPr>
          <p:nvPr/>
        </p:nvPicPr>
        <p:blipFill>
          <a:blip r:embed="rId4"/>
          <a:stretch>
            <a:fillRect/>
          </a:stretch>
        </p:blipFill>
        <p:spPr>
          <a:xfrm>
            <a:off x="1731668" y="717675"/>
            <a:ext cx="5373325" cy="4183997"/>
          </a:xfrm>
          <a:prstGeom prst="rect">
            <a:avLst/>
          </a:prstGeom>
        </p:spPr>
      </p:pic>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7"/>
          <p:cNvSpPr txBox="1">
            <a:spLocks noGrp="1"/>
          </p:cNvSpPr>
          <p:nvPr>
            <p:ph type="title"/>
          </p:nvPr>
        </p:nvSpPr>
        <p:spPr>
          <a:xfrm>
            <a:off x="533400" y="1295400"/>
            <a:ext cx="8229600" cy="1390800"/>
          </a:xfrm>
          <a:prstGeom prst="rect">
            <a:avLst/>
          </a:prstGeom>
          <a:noFill/>
          <a:ln>
            <a:noFill/>
          </a:ln>
        </p:spPr>
        <p:txBody>
          <a:bodyPr spcFirstLastPara="1" wrap="square" lIns="0" tIns="0" rIns="0" bIns="0" anchor="b" anchorCtr="0">
            <a:noAutofit/>
          </a:bodyPr>
          <a:lstStyle/>
          <a:p>
            <a:pPr marL="0" marR="0" lvl="0" indent="0" algn="l" rtl="0">
              <a:lnSpc>
                <a:spcPct val="115000"/>
              </a:lnSpc>
              <a:spcBef>
                <a:spcPts val="0"/>
              </a:spcBef>
              <a:spcAft>
                <a:spcPts val="0"/>
              </a:spcAft>
              <a:buClr>
                <a:srgbClr val="FFFFFF"/>
              </a:buClr>
              <a:buFont typeface="Open Sans"/>
              <a:buNone/>
            </a:pPr>
            <a:r>
              <a:rPr lang="en" sz="4200"/>
              <a:t> Plan for Sprint Meeting</a:t>
            </a:r>
            <a:endParaRPr sz="4200"/>
          </a:p>
        </p:txBody>
      </p:sp>
      <p:sp>
        <p:nvSpPr>
          <p:cNvPr id="185" name="Google Shape;185;p37"/>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186" name="Google Shape;186;p37"/>
          <p:cNvSpPr txBox="1"/>
          <p:nvPr/>
        </p:nvSpPr>
        <p:spPr>
          <a:xfrm>
            <a:off x="685800" y="2644075"/>
            <a:ext cx="7916700" cy="719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200">
                <a:solidFill>
                  <a:srgbClr val="FFFFFF"/>
                </a:solidFill>
                <a:latin typeface="Open Sans"/>
                <a:ea typeface="Open Sans"/>
                <a:cs typeface="Open Sans"/>
                <a:sym typeface="Open Sans"/>
              </a:rPr>
              <a:t>As a PM, it is important to stay ahead of your scrum team and be prepared for every upcoming sprint by having a target goal defined with prioritized backlog for team to start costing and breaking down the tasks</a:t>
            </a:r>
            <a:endParaRPr sz="1200">
              <a:latin typeface="Open Sans"/>
              <a:ea typeface="Open Sans"/>
              <a:cs typeface="Open Sans"/>
              <a:sym typeface="Open Sans"/>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9"/>
          <p:cNvSpPr txBox="1">
            <a:spLocks noGrp="1"/>
          </p:cNvSpPr>
          <p:nvPr>
            <p:ph type="body" idx="2"/>
          </p:nvPr>
        </p:nvSpPr>
        <p:spPr>
          <a:xfrm>
            <a:off x="457200" y="4998981"/>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dirty="0">
                <a:solidFill>
                  <a:srgbClr val="7D97AD"/>
                </a:solidFill>
                <a:latin typeface="Open Sans"/>
                <a:ea typeface="Open Sans"/>
                <a:cs typeface="Open Sans"/>
                <a:sym typeface="Open Sans"/>
              </a:rPr>
              <a:t>© 201</a:t>
            </a:r>
            <a:r>
              <a:rPr lang="en" dirty="0"/>
              <a:t>9</a:t>
            </a:r>
            <a:r>
              <a:rPr lang="en" sz="700" b="0" i="0" u="none" strike="noStrike" cap="none" dirty="0">
                <a:solidFill>
                  <a:srgbClr val="7D97AD"/>
                </a:solidFill>
                <a:latin typeface="Open Sans"/>
                <a:ea typeface="Open Sans"/>
                <a:cs typeface="Open Sans"/>
                <a:sym typeface="Open Sans"/>
              </a:rPr>
              <a:t> Udacity.  All rights reserved.</a:t>
            </a:r>
            <a:endParaRPr sz="500" dirty="0"/>
          </a:p>
        </p:txBody>
      </p:sp>
      <p:sp>
        <p:nvSpPr>
          <p:cNvPr id="202" name="Google Shape;202;p39"/>
          <p:cNvSpPr txBox="1">
            <a:spLocks noGrp="1"/>
          </p:cNvSpPr>
          <p:nvPr>
            <p:ph type="title"/>
          </p:nvPr>
        </p:nvSpPr>
        <p:spPr>
          <a:xfrm>
            <a:off x="381000" y="34160"/>
            <a:ext cx="8229600" cy="59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dirty="0"/>
              <a:t>Sprint Planning Meeting Preparation</a:t>
            </a:r>
            <a:endParaRPr sz="2800" dirty="0"/>
          </a:p>
        </p:txBody>
      </p:sp>
      <p:sp>
        <p:nvSpPr>
          <p:cNvPr id="203" name="Google Shape;203;p39"/>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5</a:t>
            </a:fld>
            <a:endParaRPr>
              <a:solidFill>
                <a:srgbClr val="929292"/>
              </a:solidFill>
            </a:endParaRPr>
          </a:p>
        </p:txBody>
      </p:sp>
      <p:graphicFrame>
        <p:nvGraphicFramePr>
          <p:cNvPr id="204" name="Google Shape;204;p39"/>
          <p:cNvGraphicFramePr/>
          <p:nvPr>
            <p:extLst>
              <p:ext uri="{D42A27DB-BD31-4B8C-83A1-F6EECF244321}">
                <p14:modId xmlns:p14="http://schemas.microsoft.com/office/powerpoint/2010/main" val="124779066"/>
              </p:ext>
            </p:extLst>
          </p:nvPr>
        </p:nvGraphicFramePr>
        <p:xfrm>
          <a:off x="468306" y="444268"/>
          <a:ext cx="8102003" cy="4629086"/>
        </p:xfrm>
        <a:graphic>
          <a:graphicData uri="http://schemas.openxmlformats.org/drawingml/2006/table">
            <a:tbl>
              <a:tblPr>
                <a:noFill/>
                <a:tableStyleId>{16132107-9968-4529-8D7F-A200421C30BD}</a:tableStyleId>
              </a:tblPr>
              <a:tblGrid>
                <a:gridCol w="376914">
                  <a:extLst>
                    <a:ext uri="{9D8B030D-6E8A-4147-A177-3AD203B41FA5}">
                      <a16:colId xmlns:a16="http://schemas.microsoft.com/office/drawing/2014/main" val="20000"/>
                    </a:ext>
                  </a:extLst>
                </a:gridCol>
                <a:gridCol w="7725089">
                  <a:extLst>
                    <a:ext uri="{9D8B030D-6E8A-4147-A177-3AD203B41FA5}">
                      <a16:colId xmlns:a16="http://schemas.microsoft.com/office/drawing/2014/main" val="20001"/>
                    </a:ext>
                  </a:extLst>
                </a:gridCol>
              </a:tblGrid>
              <a:tr h="325633">
                <a:tc gridSpan="2">
                  <a:txBody>
                    <a:bodyPr/>
                    <a:lstStyle/>
                    <a:p>
                      <a:pPr marL="0" lvl="0" indent="0" algn="l" rtl="0">
                        <a:lnSpc>
                          <a:spcPct val="115000"/>
                        </a:lnSpc>
                        <a:spcBef>
                          <a:spcPts val="0"/>
                        </a:spcBef>
                        <a:spcAft>
                          <a:spcPts val="0"/>
                        </a:spcAft>
                        <a:buNone/>
                      </a:pPr>
                      <a:r>
                        <a:rPr lang="en" sz="800" b="1" dirty="0">
                          <a:solidFill>
                            <a:srgbClr val="2D3D4A"/>
                          </a:solidFill>
                          <a:latin typeface="Open Sans"/>
                          <a:ea typeface="Open Sans"/>
                          <a:cs typeface="Open Sans"/>
                          <a:sym typeface="Open Sans"/>
                        </a:rPr>
                        <a:t>Sprint Goal</a:t>
                      </a:r>
                      <a:endParaRPr sz="800" dirty="0">
                        <a:solidFill>
                          <a:srgbClr val="9E9E9E"/>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0"/>
                  </a:ext>
                </a:extLst>
              </a:tr>
              <a:tr h="343122">
                <a:tc gridSpan="2">
                  <a:txBody>
                    <a:bodyPr/>
                    <a:lstStyle/>
                    <a:p>
                      <a:pPr marL="0" lvl="0" indent="0" algn="l" rtl="0">
                        <a:lnSpc>
                          <a:spcPct val="115000"/>
                        </a:lnSpc>
                        <a:spcBef>
                          <a:spcPts val="0"/>
                        </a:spcBef>
                        <a:spcAft>
                          <a:spcPts val="0"/>
                        </a:spcAft>
                        <a:buNone/>
                      </a:pPr>
                      <a:r>
                        <a:rPr lang="en" sz="800" dirty="0">
                          <a:solidFill>
                            <a:schemeClr val="tx1">
                              <a:lumMod val="50000"/>
                            </a:schemeClr>
                          </a:solidFill>
                          <a:latin typeface="Open Sans"/>
                          <a:ea typeface="Open Sans"/>
                          <a:cs typeface="Open Sans"/>
                          <a:sym typeface="Open Sans"/>
                        </a:rPr>
                        <a:t>Implement a minimum viable product to address the weight management aspect of preventative care. The app will include authentication via member login, a well as activity and food logging to track progress towards the user’s weight goal.</a:t>
                      </a:r>
                      <a:endParaRPr sz="800" dirty="0">
                        <a:solidFill>
                          <a:schemeClr val="tx1">
                            <a:lumMod val="50000"/>
                          </a:schemeClr>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1"/>
                  </a:ext>
                </a:extLst>
              </a:tr>
              <a:tr h="343122">
                <a:tc gridSpan="2">
                  <a:txBody>
                    <a:bodyPr/>
                    <a:lstStyle/>
                    <a:p>
                      <a:pPr marL="0" lvl="0" indent="0" algn="l" rtl="0">
                        <a:lnSpc>
                          <a:spcPct val="115000"/>
                        </a:lnSpc>
                        <a:spcBef>
                          <a:spcPts val="700"/>
                        </a:spcBef>
                        <a:spcAft>
                          <a:spcPts val="0"/>
                        </a:spcAft>
                        <a:buNone/>
                      </a:pPr>
                      <a:r>
                        <a:rPr lang="en" sz="800" b="1" dirty="0">
                          <a:solidFill>
                            <a:srgbClr val="2D3D4A"/>
                          </a:solidFill>
                          <a:latin typeface="Open Sans"/>
                          <a:ea typeface="Open Sans"/>
                          <a:cs typeface="Open Sans"/>
                          <a:sym typeface="Open Sans"/>
                        </a:rPr>
                        <a:t>Sprint Backlog</a:t>
                      </a:r>
                      <a:endParaRPr sz="800" dirty="0">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457541">
                <a:tc>
                  <a:txBody>
                    <a:bodyPr/>
                    <a:lstStyle/>
                    <a:p>
                      <a:pPr marL="0" lvl="0" indent="0" algn="l" rtl="0">
                        <a:spcBef>
                          <a:spcPts val="0"/>
                        </a:spcBef>
                        <a:spcAft>
                          <a:spcPts val="0"/>
                        </a:spcAft>
                        <a:buNone/>
                      </a:pPr>
                      <a:r>
                        <a:rPr lang="en" sz="800">
                          <a:latin typeface="Open Sans"/>
                          <a:ea typeface="Open Sans"/>
                          <a:cs typeface="Open Sans"/>
                          <a:sym typeface="Open Sans"/>
                        </a:rPr>
                        <a:t>1</a:t>
                      </a:r>
                      <a:endParaRPr sz="8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800" noProof="0" dirty="0">
                          <a:solidFill>
                            <a:srgbClr val="2D3D4A"/>
                          </a:solidFill>
                          <a:latin typeface="Open Sans"/>
                          <a:ea typeface="Open Sans"/>
                          <a:cs typeface="Open Sans"/>
                          <a:sym typeface="Open Sans"/>
                        </a:rPr>
                        <a:t>As a Kaiser Permanente member, I want to be able to create an account with my member ID, so that I can log into and use the app.</a:t>
                      </a:r>
                    </a:p>
                  </a:txBody>
                  <a:tcPr marL="91425" marR="91425" marT="91425" marB="91425"/>
                </a:tc>
                <a:extLst>
                  <a:ext uri="{0D108BD9-81ED-4DB2-BD59-A6C34878D82A}">
                    <a16:rowId xmlns:a16="http://schemas.microsoft.com/office/drawing/2014/main" val="10003"/>
                  </a:ext>
                </a:extLst>
              </a:tr>
              <a:tr h="457541">
                <a:tc>
                  <a:txBody>
                    <a:bodyPr/>
                    <a:lstStyle/>
                    <a:p>
                      <a:pPr marL="0" lvl="0" indent="0" algn="l" rtl="0">
                        <a:spcBef>
                          <a:spcPts val="0"/>
                        </a:spcBef>
                        <a:spcAft>
                          <a:spcPts val="0"/>
                        </a:spcAft>
                        <a:buNone/>
                      </a:pPr>
                      <a:r>
                        <a:rPr lang="en" sz="800">
                          <a:latin typeface="Open Sans"/>
                          <a:ea typeface="Open Sans"/>
                          <a:cs typeface="Open Sans"/>
                          <a:sym typeface="Open Sans"/>
                        </a:rPr>
                        <a:t>2</a:t>
                      </a:r>
                      <a:endParaRPr sz="8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enter my current weight and target weight so that the app can recommend an action plan.</a:t>
                      </a:r>
                      <a:endParaRPr sz="8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4"/>
                  </a:ext>
                </a:extLst>
              </a:tr>
              <a:tr h="457541">
                <a:tc>
                  <a:txBody>
                    <a:bodyPr/>
                    <a:lstStyle/>
                    <a:p>
                      <a:pPr marL="0" lvl="0" indent="0" algn="l" rtl="0">
                        <a:spcBef>
                          <a:spcPts val="0"/>
                        </a:spcBef>
                        <a:spcAft>
                          <a:spcPts val="0"/>
                        </a:spcAft>
                        <a:buNone/>
                      </a:pPr>
                      <a:r>
                        <a:rPr lang="en" sz="800">
                          <a:latin typeface="Open Sans"/>
                          <a:ea typeface="Open Sans"/>
                          <a:cs typeface="Open Sans"/>
                          <a:sym typeface="Open Sans"/>
                        </a:rPr>
                        <a:t>3</a:t>
                      </a:r>
                      <a:endParaRPr sz="8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enter in the type and amount of physical activity that I’ve done, so that the app can calculate how many calories I have burned and count it towards my daily goal.</a:t>
                      </a:r>
                      <a:endParaRPr sz="8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5"/>
                  </a:ext>
                </a:extLst>
              </a:tr>
              <a:tr h="457541">
                <a:tc>
                  <a:txBody>
                    <a:bodyPr/>
                    <a:lstStyle/>
                    <a:p>
                      <a:pPr marL="0" lvl="0" indent="0" algn="l" rtl="0">
                        <a:spcBef>
                          <a:spcPts val="0"/>
                        </a:spcBef>
                        <a:spcAft>
                          <a:spcPts val="0"/>
                        </a:spcAft>
                        <a:buNone/>
                      </a:pPr>
                      <a:r>
                        <a:rPr lang="en" sz="800">
                          <a:latin typeface="Open Sans"/>
                          <a:ea typeface="Open Sans"/>
                          <a:cs typeface="Open Sans"/>
                          <a:sym typeface="Open Sans"/>
                        </a:rPr>
                        <a:t>4</a:t>
                      </a:r>
                      <a:endParaRPr sz="8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enter in the foods that I have eaten, so that the app can calculate how many calories I have consumed and count it towards my daily goal.</a:t>
                      </a:r>
                      <a:endParaRPr sz="8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6"/>
                  </a:ext>
                </a:extLst>
              </a:tr>
              <a:tr h="457541">
                <a:tc>
                  <a:txBody>
                    <a:bodyPr/>
                    <a:lstStyle/>
                    <a:p>
                      <a:pPr marL="0" lvl="0" indent="0" algn="l" rtl="0">
                        <a:spcBef>
                          <a:spcPts val="0"/>
                        </a:spcBef>
                        <a:spcAft>
                          <a:spcPts val="0"/>
                        </a:spcAft>
                        <a:buNone/>
                      </a:pPr>
                      <a:r>
                        <a:rPr lang="en" sz="800">
                          <a:latin typeface="Open Sans"/>
                          <a:ea typeface="Open Sans"/>
                          <a:cs typeface="Open Sans"/>
                          <a:sym typeface="Open Sans"/>
                        </a:rPr>
                        <a:t>5</a:t>
                      </a:r>
                      <a:endParaRPr sz="8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view the meals and activity that I’ve logged and their corresponding calories, so that I can see how I am advancing towards my goal.</a:t>
                      </a:r>
                      <a:endParaRPr sz="8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7"/>
                  </a:ext>
                </a:extLst>
              </a:tr>
              <a:tr h="343122">
                <a:tc gridSpan="2">
                  <a:txBody>
                    <a:bodyPr/>
                    <a:lstStyle/>
                    <a:p>
                      <a:pPr marL="0" lvl="0" indent="0" algn="l" rtl="0">
                        <a:lnSpc>
                          <a:spcPct val="115000"/>
                        </a:lnSpc>
                        <a:spcBef>
                          <a:spcPts val="700"/>
                        </a:spcBef>
                        <a:spcAft>
                          <a:spcPts val="0"/>
                        </a:spcAft>
                        <a:buNone/>
                      </a:pPr>
                      <a:r>
                        <a:rPr lang="en" sz="800" b="1">
                          <a:solidFill>
                            <a:srgbClr val="2D3D4A"/>
                          </a:solidFill>
                          <a:latin typeface="Open Sans"/>
                          <a:ea typeface="Open Sans"/>
                          <a:cs typeface="Open Sans"/>
                          <a:sym typeface="Open Sans"/>
                        </a:rPr>
                        <a:t>Sprint Prioritization Logic</a:t>
                      </a:r>
                      <a:endParaRPr sz="800">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8"/>
                  </a:ext>
                </a:extLst>
              </a:tr>
              <a:tr h="818950">
                <a:tc gridSpan="2">
                  <a:txBody>
                    <a:bodyPr/>
                    <a:lstStyle/>
                    <a:p>
                      <a:pPr marL="171450" lvl="0" indent="-171450" algn="l" rtl="0">
                        <a:lnSpc>
                          <a:spcPct val="115000"/>
                        </a:lnSpc>
                        <a:spcBef>
                          <a:spcPts val="0"/>
                        </a:spcBef>
                        <a:spcAft>
                          <a:spcPts val="0"/>
                        </a:spcAft>
                        <a:buFont typeface="Arial" panose="020B0604020202020204" pitchFamily="34" charset="0"/>
                        <a:buChar char="•"/>
                      </a:pPr>
                      <a:r>
                        <a:rPr lang="en" sz="800" dirty="0">
                          <a:solidFill>
                            <a:schemeClr val="tx1">
                              <a:lumMod val="50000"/>
                            </a:schemeClr>
                          </a:solidFill>
                          <a:latin typeface="Open Sans"/>
                          <a:ea typeface="Open Sans"/>
                          <a:cs typeface="Open Sans"/>
                          <a:sym typeface="Open Sans"/>
                        </a:rPr>
                        <a:t>We need to have a functional product at the end of the sprint and all of the stories in the sprint backlog result in a </a:t>
                      </a:r>
                      <a:r>
                        <a:rPr lang="en-US" sz="800" dirty="0">
                          <a:solidFill>
                            <a:schemeClr val="tx1">
                              <a:lumMod val="50000"/>
                            </a:schemeClr>
                          </a:solidFill>
                          <a:latin typeface="Open Sans"/>
                          <a:ea typeface="Open Sans"/>
                          <a:cs typeface="Open Sans"/>
                          <a:sym typeface="Open Sans"/>
                        </a:rPr>
                        <a:t>basic weight management product. Metrics collected from this initial launch can subsequently be used to obtain information regarding the user’s journey through the product to identify further features and/or refinements</a:t>
                      </a:r>
                      <a:r>
                        <a:rPr lang="en" sz="800" dirty="0">
                          <a:solidFill>
                            <a:schemeClr val="tx1">
                              <a:lumMod val="50000"/>
                            </a:schemeClr>
                          </a:solidFill>
                          <a:latin typeface="Open Sans"/>
                          <a:ea typeface="Open Sans"/>
                          <a:cs typeface="Open Sans"/>
                          <a:sym typeface="Open Sans"/>
                        </a:rPr>
                        <a:t>.</a:t>
                      </a:r>
                    </a:p>
                    <a:p>
                      <a:pPr marL="171450" lvl="0" indent="-171450" algn="l" rtl="0">
                        <a:lnSpc>
                          <a:spcPct val="115000"/>
                        </a:lnSpc>
                        <a:spcBef>
                          <a:spcPts val="0"/>
                        </a:spcBef>
                        <a:spcAft>
                          <a:spcPts val="0"/>
                        </a:spcAft>
                        <a:buFont typeface="Arial" panose="020B0604020202020204" pitchFamily="34" charset="0"/>
                        <a:buChar char="•"/>
                      </a:pPr>
                      <a:r>
                        <a:rPr lang="en" sz="800" dirty="0">
                          <a:solidFill>
                            <a:schemeClr val="tx1">
                              <a:lumMod val="50000"/>
                            </a:schemeClr>
                          </a:solidFill>
                          <a:latin typeface="Open Sans"/>
                          <a:ea typeface="Open Sans"/>
                          <a:cs typeface="Open Sans"/>
                          <a:sym typeface="Open Sans"/>
                        </a:rPr>
                        <a:t>According to the product roadmap, weight management was one of the first areas that we want to implement since it is the basis of many preventing many chronic diseases.</a:t>
                      </a:r>
                      <a:endParaRPr sz="800" dirty="0">
                        <a:solidFill>
                          <a:schemeClr val="tx1">
                            <a:lumMod val="50000"/>
                          </a:schemeClr>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body" idx="2"/>
          </p:nvPr>
        </p:nvSpPr>
        <p:spPr>
          <a:xfrm>
            <a:off x="462000" y="497205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t>
            </a:r>
            <a:r>
              <a:rPr lang="en" sz="700" b="0" i="0" u="none" strike="noStrike" cap="none" dirty="0">
                <a:solidFill>
                  <a:srgbClr val="7D97AD"/>
                </a:solidFill>
                <a:latin typeface="Open Sans"/>
                <a:ea typeface="Open Sans"/>
                <a:cs typeface="Open Sans"/>
                <a:sym typeface="Open Sans"/>
              </a:rPr>
              <a:t>All rights reserved.</a:t>
            </a:r>
            <a:endParaRPr sz="500" dirty="0"/>
          </a:p>
        </p:txBody>
      </p:sp>
      <p:sp>
        <p:nvSpPr>
          <p:cNvPr id="227" name="Google Shape;227;p42"/>
          <p:cNvSpPr txBox="1">
            <a:spLocks noGrp="1"/>
          </p:cNvSpPr>
          <p:nvPr>
            <p:ph type="title"/>
          </p:nvPr>
        </p:nvSpPr>
        <p:spPr>
          <a:xfrm>
            <a:off x="304800" y="76200"/>
            <a:ext cx="8229600" cy="59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dirty="0"/>
              <a:t>User Story 1</a:t>
            </a:r>
            <a:endParaRPr sz="2800" dirty="0"/>
          </a:p>
        </p:txBody>
      </p:sp>
      <p:sp>
        <p:nvSpPr>
          <p:cNvPr id="228" name="Google Shape;228;p42"/>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6</a:t>
            </a:fld>
            <a:endParaRPr>
              <a:solidFill>
                <a:srgbClr val="929292"/>
              </a:solidFill>
            </a:endParaRPr>
          </a:p>
        </p:txBody>
      </p:sp>
      <p:graphicFrame>
        <p:nvGraphicFramePr>
          <p:cNvPr id="229" name="Google Shape;229;p42"/>
          <p:cNvGraphicFramePr/>
          <p:nvPr>
            <p:extLst>
              <p:ext uri="{D42A27DB-BD31-4B8C-83A1-F6EECF244321}">
                <p14:modId xmlns:p14="http://schemas.microsoft.com/office/powerpoint/2010/main" val="215223405"/>
              </p:ext>
            </p:extLst>
          </p:nvPr>
        </p:nvGraphicFramePr>
        <p:xfrm>
          <a:off x="304800" y="392739"/>
          <a:ext cx="8603350" cy="4750761"/>
        </p:xfrm>
        <a:graphic>
          <a:graphicData uri="http://schemas.openxmlformats.org/drawingml/2006/table">
            <a:tbl>
              <a:tblPr>
                <a:noFill/>
                <a:tableStyleId>{16132107-9968-4529-8D7F-A200421C30BD}</a:tableStyleId>
              </a:tblPr>
              <a:tblGrid>
                <a:gridCol w="1200900">
                  <a:extLst>
                    <a:ext uri="{9D8B030D-6E8A-4147-A177-3AD203B41FA5}">
                      <a16:colId xmlns:a16="http://schemas.microsoft.com/office/drawing/2014/main" val="20000"/>
                    </a:ext>
                  </a:extLst>
                </a:gridCol>
                <a:gridCol w="7402450">
                  <a:extLst>
                    <a:ext uri="{9D8B030D-6E8A-4147-A177-3AD203B41FA5}">
                      <a16:colId xmlns:a16="http://schemas.microsoft.com/office/drawing/2014/main" val="20001"/>
                    </a:ext>
                  </a:extLst>
                </a:gridCol>
              </a:tblGrid>
              <a:tr h="0">
                <a:tc>
                  <a:txBody>
                    <a:bodyPr/>
                    <a:lstStyle/>
                    <a:p>
                      <a:pPr marL="0" lvl="0" indent="0" algn="l" rtl="0">
                        <a:lnSpc>
                          <a:spcPct val="115000"/>
                        </a:lnSpc>
                        <a:spcBef>
                          <a:spcPts val="0"/>
                        </a:spcBef>
                        <a:spcAft>
                          <a:spcPts val="0"/>
                        </a:spcAft>
                        <a:buNone/>
                      </a:pPr>
                      <a:r>
                        <a:rPr lang="en" sz="900" b="1" dirty="0">
                          <a:solidFill>
                            <a:srgbClr val="2D3D4A"/>
                          </a:solidFill>
                          <a:latin typeface="Open Sans"/>
                          <a:ea typeface="Open Sans"/>
                          <a:cs typeface="Open Sans"/>
                          <a:sym typeface="Open Sans"/>
                        </a:rPr>
                        <a:t>User Story</a:t>
                      </a:r>
                      <a:endParaRPr sz="900" b="1" dirty="0">
                        <a:solidFill>
                          <a:srgbClr val="2D3D4A"/>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view the meals and activity that I’ve logged and their corresponding calories, so that I can see how I am advancing towards my goal.</a:t>
                      </a: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 sz="900" b="1">
                          <a:solidFill>
                            <a:srgbClr val="2D3D4A"/>
                          </a:solidFill>
                          <a:latin typeface="Open Sans"/>
                          <a:ea typeface="Open Sans"/>
                          <a:cs typeface="Open Sans"/>
                          <a:sym typeface="Open Sans"/>
                        </a:rPr>
                        <a:t>Design </a:t>
                      </a:r>
                      <a:endParaRPr sz="900" b="1">
                        <a:solidFill>
                          <a:srgbClr val="2D3D4A"/>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dirty="0">
                          <a:solidFill>
                            <a:schemeClr val="tx1">
                              <a:lumMod val="50000"/>
                            </a:schemeClr>
                          </a:solidFill>
                          <a:latin typeface="Open Sans"/>
                          <a:ea typeface="Open Sans"/>
                          <a:cs typeface="Open Sans"/>
                          <a:sym typeface="Open Sans"/>
                          <a:hlinkClick r:id="rId3"/>
                        </a:rPr>
                        <a:t>Link to Mockup</a:t>
                      </a:r>
                      <a:r>
                        <a:rPr lang="en" sz="800" dirty="0">
                          <a:solidFill>
                            <a:schemeClr val="tx1">
                              <a:lumMod val="50000"/>
                            </a:schemeClr>
                          </a:solidFill>
                          <a:latin typeface="Open Sans"/>
                          <a:ea typeface="Open Sans"/>
                          <a:cs typeface="Open Sans"/>
                          <a:sym typeface="Open Sans"/>
                        </a:rPr>
                        <a:t> (For this sprint, the ’Water’ and ‘Sleep’ sections do not need to be developed.)</a:t>
                      </a:r>
                      <a:endParaRPr sz="800" dirty="0">
                        <a:solidFill>
                          <a:schemeClr val="tx1">
                            <a:lumMod val="50000"/>
                          </a:schemeClr>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997582">
                <a:tc>
                  <a:txBody>
                    <a:bodyPr/>
                    <a:lstStyle/>
                    <a:p>
                      <a:pPr marL="0" lvl="0" indent="0" algn="l" rtl="0">
                        <a:lnSpc>
                          <a:spcPct val="115000"/>
                        </a:lnSpc>
                        <a:spcBef>
                          <a:spcPts val="0"/>
                        </a:spcBef>
                        <a:spcAft>
                          <a:spcPts val="0"/>
                        </a:spcAft>
                        <a:buNone/>
                      </a:pPr>
                      <a:r>
                        <a:rPr lang="en" sz="900" b="1">
                          <a:solidFill>
                            <a:srgbClr val="2D3D4A"/>
                          </a:solidFill>
                          <a:latin typeface="Open Sans"/>
                          <a:ea typeface="Open Sans"/>
                          <a:cs typeface="Open Sans"/>
                          <a:sym typeface="Open Sans"/>
                        </a:rPr>
                        <a:t>Acceptance Criteria</a:t>
                      </a:r>
                      <a:endParaRPr sz="9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900" b="1">
                        <a:solidFill>
                          <a:srgbClr val="2D3D4A"/>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The user has clicked on ‘Daily Log’ from the hamburger menu or clicked on the ‘Log’ button from the bottom navigation bar to get to the ‘Daily Log’ screen.</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baseline="0" dirty="0">
                          <a:solidFill>
                            <a:srgbClr val="2D3D4A"/>
                          </a:solidFill>
                          <a:latin typeface="Open Sans"/>
                          <a:ea typeface="Open Sans"/>
                          <a:cs typeface="Open Sans"/>
                          <a:sym typeface="Open Sans"/>
                        </a:rPr>
                        <a:t>The screen and its associated data load almost instantly.</a:t>
                      </a:r>
                      <a:endParaRPr lang="en-US" sz="800" dirty="0">
                        <a:solidFill>
                          <a:srgbClr val="2D3D4A"/>
                        </a:solidFill>
                        <a:latin typeface="Open Sans"/>
                        <a:ea typeface="Open Sans"/>
                        <a:cs typeface="Open Sans"/>
                        <a:sym typeface="Open Sans"/>
                      </a:endParaRP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In the ’Food’ section of the screen, the user sees the food items and their corresponding calorie amounts that they’ve logged for the day, grouped by meal (Breakfast, Lunch, Snack, Dinner)</a:t>
                      </a:r>
                      <a:r>
                        <a:rPr lang="en-US" sz="800" baseline="0" dirty="0">
                          <a:solidFill>
                            <a:srgbClr val="2D3D4A"/>
                          </a:solidFill>
                          <a:latin typeface="Open Sans"/>
                          <a:ea typeface="Open Sans"/>
                          <a:cs typeface="Open Sans"/>
                          <a:sym typeface="Open Sans"/>
                        </a:rPr>
                        <a:t>. Additionally the total calories for the meal are displayed next to the meal name.</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dirty="0">
                          <a:solidFill>
                            <a:srgbClr val="2D3D4A"/>
                          </a:solidFill>
                          <a:latin typeface="Open Sans"/>
                          <a:ea typeface="Open Sans"/>
                          <a:cs typeface="Open Sans"/>
                          <a:sym typeface="Open Sans"/>
                        </a:rPr>
                        <a:t>In</a:t>
                      </a:r>
                      <a:r>
                        <a:rPr lang="en-US" sz="800" baseline="0" dirty="0">
                          <a:solidFill>
                            <a:srgbClr val="2D3D4A"/>
                          </a:solidFill>
                          <a:latin typeface="Open Sans"/>
                          <a:ea typeface="Open Sans"/>
                          <a:cs typeface="Open Sans"/>
                          <a:sym typeface="Open Sans"/>
                        </a:rPr>
                        <a:t> the ’Exercise’ section of the screen, t</a:t>
                      </a:r>
                      <a:r>
                        <a:rPr lang="en-US" sz="800" dirty="0">
                          <a:solidFill>
                            <a:srgbClr val="2D3D4A"/>
                          </a:solidFill>
                          <a:latin typeface="Open Sans"/>
                          <a:ea typeface="Open Sans"/>
                          <a:cs typeface="Open Sans"/>
                          <a:sym typeface="Open Sans"/>
                        </a:rPr>
                        <a:t>he user can see the physical activity that they’ve logged, as well as the corresponding calories that they’ve burned for each. There should be a grand total of calories burned next to the ’Exercise’ label.</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baseline="0" dirty="0">
                          <a:solidFill>
                            <a:srgbClr val="2D3D4A"/>
                          </a:solidFill>
                          <a:latin typeface="Open Sans"/>
                          <a:ea typeface="Open Sans"/>
                          <a:cs typeface="Open Sans"/>
                          <a:sym typeface="Open Sans"/>
                        </a:rPr>
                        <a:t>A generally representative icon is displayed next to each logged item, for example, a chicken drumstick next to a logged chicken item.</a:t>
                      </a:r>
                    </a:p>
                    <a:p>
                      <a:pPr marL="171450" lvl="0" indent="-171450" algn="l" rtl="0">
                        <a:lnSpc>
                          <a:spcPct val="115000"/>
                        </a:lnSpc>
                        <a:spcBef>
                          <a:spcPts val="0"/>
                        </a:spcBef>
                        <a:spcAft>
                          <a:spcPts val="0"/>
                        </a:spcAft>
                        <a:buFont typeface="Arial" panose="020B0604020202020204" pitchFamily="34" charset="0"/>
                        <a:buChar char="•"/>
                      </a:pPr>
                      <a:r>
                        <a:rPr lang="en-US" sz="800" baseline="0" dirty="0">
                          <a:solidFill>
                            <a:srgbClr val="2D3D4A"/>
                          </a:solidFill>
                          <a:latin typeface="Open Sans"/>
                          <a:ea typeface="Open Sans"/>
                          <a:cs typeface="Open Sans"/>
                          <a:sym typeface="Open Sans"/>
                        </a:rPr>
                        <a:t>If there is no logged data for a meal, the user sees the meal name (</a:t>
                      </a:r>
                      <a:r>
                        <a:rPr lang="en-US" sz="800" dirty="0">
                          <a:solidFill>
                            <a:srgbClr val="2D3D4A"/>
                          </a:solidFill>
                          <a:latin typeface="Open Sans"/>
                          <a:ea typeface="Open Sans"/>
                          <a:cs typeface="Open Sans"/>
                          <a:sym typeface="Open Sans"/>
                        </a:rPr>
                        <a:t>Breakfast, Lunch, Snack, Dinner), followed by the ‘+’  button. Likewise, for Exercise, the user will see the ‘Exercise’ label followed by the ‘+’  button. </a:t>
                      </a:r>
                      <a:endParaRPr lang="en-US" sz="800" baseline="0" dirty="0">
                        <a:solidFill>
                          <a:srgbClr val="2D3D4A"/>
                        </a:solidFill>
                        <a:latin typeface="Open Sans"/>
                        <a:ea typeface="Open Sans"/>
                        <a:cs typeface="Open Sans"/>
                        <a:sym typeface="Open Sans"/>
                      </a:endParaRP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baseline="0" dirty="0">
                          <a:solidFill>
                            <a:srgbClr val="2D3D4A"/>
                          </a:solidFill>
                          <a:latin typeface="Open Sans"/>
                          <a:ea typeface="Open Sans"/>
                          <a:cs typeface="Open Sans"/>
                          <a:sym typeface="Open Sans"/>
                        </a:rPr>
                        <a:t>The user can swipe left on a logged item to delete it. The calorie count for it’s corresponding category is adjusted accordingly.</a:t>
                      </a:r>
                      <a:endParaRPr lang="en-US" sz="800" dirty="0">
                        <a:solidFill>
                          <a:srgbClr val="2D3D4A"/>
                        </a:solidFill>
                        <a:latin typeface="Open Sans"/>
                        <a:ea typeface="Open Sans"/>
                        <a:cs typeface="Open Sans"/>
                        <a:sym typeface="Open Sans"/>
                      </a:endParaRP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When the user clicks on the ‘+’ next to a meal name, they are taken to the ‘Log Food’ screen. (See User Story 2)</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When the user clicks on any of the logged food items,</a:t>
                      </a:r>
                      <a:r>
                        <a:rPr lang="en-US" sz="800" baseline="0" dirty="0">
                          <a:solidFill>
                            <a:srgbClr val="2D3D4A"/>
                          </a:solidFill>
                          <a:latin typeface="Open Sans"/>
                          <a:ea typeface="Open Sans"/>
                          <a:cs typeface="Open Sans"/>
                          <a:sym typeface="Open Sans"/>
                        </a:rPr>
                        <a:t> they are taken to a nutrition summary page for that item where they are able to edit the quantity consumed of that item. The quantity must be a positive amount, otherwise the user must receive an error saying that they should enter a value greater than 0. The calorie amount will be updated automatically depending on the quantity value entered. The user can click ’Save’ to save the modification or ’Cancel’ to cancel. In either case, they are returned to the ‘Daily Log’ and the corresponding calorie amount for the item and the total of its corresponding category will be updated if the quantity changed.</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When the user clicks on the ‘+’</a:t>
                      </a:r>
                      <a:r>
                        <a:rPr lang="en-US" sz="800" baseline="0" dirty="0">
                          <a:solidFill>
                            <a:srgbClr val="2D3D4A"/>
                          </a:solidFill>
                          <a:latin typeface="Open Sans"/>
                          <a:ea typeface="Open Sans"/>
                          <a:cs typeface="Open Sans"/>
                          <a:sym typeface="Open Sans"/>
                        </a:rPr>
                        <a:t> in the ‘Exercise’ section</a:t>
                      </a:r>
                      <a:r>
                        <a:rPr lang="en-US" sz="800" dirty="0">
                          <a:solidFill>
                            <a:srgbClr val="2D3D4A"/>
                          </a:solidFill>
                          <a:latin typeface="Open Sans"/>
                          <a:ea typeface="Open Sans"/>
                          <a:cs typeface="Open Sans"/>
                          <a:sym typeface="Open Sans"/>
                        </a:rPr>
                        <a:t>, they are taken to the ‘Log Exercise’ screen. (Acceptance criteria are in the corresponding user story.)</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When the user clicks on any of the logged exercises,</a:t>
                      </a:r>
                      <a:r>
                        <a:rPr lang="en-US" sz="800" baseline="0" dirty="0">
                          <a:solidFill>
                            <a:srgbClr val="2D3D4A"/>
                          </a:solidFill>
                          <a:latin typeface="Open Sans"/>
                          <a:ea typeface="Open Sans"/>
                          <a:cs typeface="Open Sans"/>
                          <a:sym typeface="Open Sans"/>
                        </a:rPr>
                        <a:t> they are taken to an exercise summary page and are able to edit the amount of time exercised for that item. This must be a positive amount, otherwise the user must receive an error saying that they should enter a value greater than 0. The calories burned will be updated automatically depending on the time value. They can click ’Save’ to save the modification or ’Cancel’ to cancel. In either case, they are returned to the ‘Daily Log’ and the corresponding calories and totals burned will be updated if the amount of exercise changed.</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dirty="0">
                          <a:solidFill>
                            <a:srgbClr val="2D3D4A"/>
                          </a:solidFill>
                          <a:latin typeface="Open Sans"/>
                          <a:ea typeface="Open Sans"/>
                          <a:cs typeface="Open Sans"/>
                          <a:sym typeface="Open Sans"/>
                        </a:rPr>
                        <a:t>All functionality works on both iPhones and Android devices. The app does not yet support the integration of third party apps and tracking devices.</a:t>
                      </a: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395764">
                <a:tc>
                  <a:txBody>
                    <a:bodyPr/>
                    <a:lstStyle/>
                    <a:p>
                      <a:pPr marL="0" lvl="0" indent="0" algn="l" rtl="0">
                        <a:lnSpc>
                          <a:spcPct val="115000"/>
                        </a:lnSpc>
                        <a:spcBef>
                          <a:spcPts val="0"/>
                        </a:spcBef>
                        <a:spcAft>
                          <a:spcPts val="0"/>
                        </a:spcAft>
                        <a:buNone/>
                      </a:pPr>
                      <a:r>
                        <a:rPr lang="en" sz="900" b="1" dirty="0">
                          <a:solidFill>
                            <a:srgbClr val="2D3D4A"/>
                          </a:solidFill>
                          <a:latin typeface="Open Sans"/>
                          <a:ea typeface="Open Sans"/>
                          <a:cs typeface="Open Sans"/>
                          <a:sym typeface="Open Sans"/>
                        </a:rPr>
                        <a:t>Assumptions</a:t>
                      </a:r>
                      <a:endParaRPr sz="900" b="1" dirty="0">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800" dirty="0">
                          <a:solidFill>
                            <a:schemeClr val="tx1">
                              <a:lumMod val="50000"/>
                            </a:schemeClr>
                          </a:solidFill>
                          <a:latin typeface="Open Sans"/>
                          <a:ea typeface="Open Sans"/>
                          <a:cs typeface="Open Sans"/>
                          <a:sym typeface="Open Sans"/>
                        </a:rPr>
                        <a:t>The logic to log and modify meals and exercises has already been developed.</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chemeClr val="tx1">
                              <a:lumMod val="50000"/>
                            </a:schemeClr>
                          </a:solidFill>
                          <a:latin typeface="Open Sans"/>
                          <a:ea typeface="Open Sans"/>
                          <a:cs typeface="Open Sans"/>
                          <a:sym typeface="Open Sans"/>
                        </a:rPr>
                        <a:t>We have access to icons for each activity type and food type or food item.</a:t>
                      </a: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1"/>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219" name="Google Shape;219;p41"/>
          <p:cNvSpPr txBox="1">
            <a:spLocks noGrp="1"/>
          </p:cNvSpPr>
          <p:nvPr>
            <p:ph type="title"/>
          </p:nvPr>
        </p:nvSpPr>
        <p:spPr>
          <a:xfrm>
            <a:off x="304800" y="76200"/>
            <a:ext cx="8229600" cy="59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dirty="0"/>
              <a:t>User Story 2</a:t>
            </a:r>
            <a:endParaRPr sz="2800" dirty="0"/>
          </a:p>
        </p:txBody>
      </p:sp>
      <p:sp>
        <p:nvSpPr>
          <p:cNvPr id="220" name="Google Shape;220;p41"/>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7</a:t>
            </a:fld>
            <a:endParaRPr>
              <a:solidFill>
                <a:srgbClr val="929292"/>
              </a:solidFill>
            </a:endParaRPr>
          </a:p>
        </p:txBody>
      </p:sp>
      <p:graphicFrame>
        <p:nvGraphicFramePr>
          <p:cNvPr id="221" name="Google Shape;221;p41"/>
          <p:cNvGraphicFramePr/>
          <p:nvPr>
            <p:extLst>
              <p:ext uri="{D42A27DB-BD31-4B8C-83A1-F6EECF244321}">
                <p14:modId xmlns:p14="http://schemas.microsoft.com/office/powerpoint/2010/main" val="1093353824"/>
              </p:ext>
            </p:extLst>
          </p:nvPr>
        </p:nvGraphicFramePr>
        <p:xfrm>
          <a:off x="270325" y="599471"/>
          <a:ext cx="8603350" cy="4173546"/>
        </p:xfrm>
        <a:graphic>
          <a:graphicData uri="http://schemas.openxmlformats.org/drawingml/2006/table">
            <a:tbl>
              <a:tblPr>
                <a:noFill/>
                <a:tableStyleId>{16132107-9968-4529-8D7F-A200421C30BD}</a:tableStyleId>
              </a:tblPr>
              <a:tblGrid>
                <a:gridCol w="1183450">
                  <a:extLst>
                    <a:ext uri="{9D8B030D-6E8A-4147-A177-3AD203B41FA5}">
                      <a16:colId xmlns:a16="http://schemas.microsoft.com/office/drawing/2014/main" val="20000"/>
                    </a:ext>
                  </a:extLst>
                </a:gridCol>
                <a:gridCol w="7419900">
                  <a:extLst>
                    <a:ext uri="{9D8B030D-6E8A-4147-A177-3AD203B41FA5}">
                      <a16:colId xmlns:a16="http://schemas.microsoft.com/office/drawing/2014/main" val="20001"/>
                    </a:ext>
                  </a:extLst>
                </a:gridCol>
              </a:tblGrid>
              <a:tr h="330343">
                <a:tc>
                  <a:txBody>
                    <a:bodyPr/>
                    <a:lstStyle/>
                    <a:p>
                      <a:pPr marL="0" lvl="0" indent="0" algn="l" rtl="0">
                        <a:lnSpc>
                          <a:spcPct val="115000"/>
                        </a:lnSpc>
                        <a:spcBef>
                          <a:spcPts val="0"/>
                        </a:spcBef>
                        <a:spcAft>
                          <a:spcPts val="0"/>
                        </a:spcAft>
                        <a:buNone/>
                      </a:pPr>
                      <a:r>
                        <a:rPr lang="en" sz="800" b="1" dirty="0">
                          <a:solidFill>
                            <a:srgbClr val="2D3D4A"/>
                          </a:solidFill>
                          <a:latin typeface="Open Sans"/>
                          <a:ea typeface="Open Sans"/>
                          <a:cs typeface="Open Sans"/>
                          <a:sym typeface="Open Sans"/>
                        </a:rPr>
                        <a:t>User Story</a:t>
                      </a:r>
                      <a:endParaRPr sz="800" b="1" dirty="0">
                        <a:solidFill>
                          <a:srgbClr val="2D3D4A"/>
                        </a:solidFill>
                        <a:latin typeface="Open Sans"/>
                        <a:ea typeface="Open Sans"/>
                        <a:cs typeface="Open Sans"/>
                        <a:sym typeface="Open Sans"/>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800" dirty="0">
                          <a:solidFill>
                            <a:srgbClr val="2D3D4A"/>
                          </a:solidFill>
                          <a:latin typeface="Open Sans"/>
                          <a:ea typeface="Open Sans"/>
                          <a:cs typeface="Open Sans"/>
                          <a:sym typeface="Open Sans"/>
                        </a:rPr>
                        <a:t>As a user, I want to be able to enter in the foods that I have eaten, so that the app can calculate how many calories I have consumed and count it towards my daily goal.</a:t>
                      </a: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lnSpc>
                          <a:spcPct val="115000"/>
                        </a:lnSpc>
                        <a:spcBef>
                          <a:spcPts val="0"/>
                        </a:spcBef>
                        <a:spcAft>
                          <a:spcPts val="0"/>
                        </a:spcAft>
                        <a:buNone/>
                      </a:pPr>
                      <a:r>
                        <a:rPr lang="en" sz="800" b="1">
                          <a:solidFill>
                            <a:srgbClr val="2D3D4A"/>
                          </a:solidFill>
                          <a:latin typeface="Open Sans"/>
                          <a:ea typeface="Open Sans"/>
                          <a:cs typeface="Open Sans"/>
                          <a:sym typeface="Open Sans"/>
                        </a:rPr>
                        <a:t>Design </a:t>
                      </a:r>
                      <a:endParaRPr sz="800" b="1">
                        <a:solidFill>
                          <a:srgbClr val="2D3D4A"/>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800" dirty="0">
                          <a:solidFill>
                            <a:schemeClr val="tx1">
                              <a:lumMod val="50000"/>
                            </a:schemeClr>
                          </a:solidFill>
                          <a:latin typeface="Open Sans"/>
                          <a:ea typeface="Open Sans"/>
                          <a:cs typeface="Open Sans"/>
                          <a:sym typeface="Open Sans"/>
                          <a:hlinkClick r:id="rId3"/>
                        </a:rPr>
                        <a:t>Link to Mockup</a:t>
                      </a:r>
                      <a:endParaRPr sz="800" dirty="0">
                        <a:solidFill>
                          <a:schemeClr val="tx1">
                            <a:lumMod val="50000"/>
                          </a:schemeClr>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540936">
                <a:tc>
                  <a:txBody>
                    <a:bodyPr/>
                    <a:lstStyle/>
                    <a:p>
                      <a:pPr marL="0" lvl="0" indent="0" algn="l" rtl="0">
                        <a:lnSpc>
                          <a:spcPct val="115000"/>
                        </a:lnSpc>
                        <a:spcBef>
                          <a:spcPts val="0"/>
                        </a:spcBef>
                        <a:spcAft>
                          <a:spcPts val="0"/>
                        </a:spcAft>
                        <a:buNone/>
                      </a:pPr>
                      <a:r>
                        <a:rPr lang="en" sz="800" b="1">
                          <a:solidFill>
                            <a:srgbClr val="2D3D4A"/>
                          </a:solidFill>
                          <a:latin typeface="Open Sans"/>
                          <a:ea typeface="Open Sans"/>
                          <a:cs typeface="Open Sans"/>
                          <a:sym typeface="Open Sans"/>
                        </a:rPr>
                        <a:t>Acceptance Criteria</a:t>
                      </a:r>
                      <a:endParaRPr sz="8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800" b="1">
                        <a:solidFill>
                          <a:srgbClr val="2D3D4A"/>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On the Daily Log, user clicks on ‘+’ button to add a food item to a meal and is taken to the ’Log Foods’ page.</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User can search for food items by name against a large database via a search box. The search results should start to appear as the user types. </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The user can also search for foods by clicking the ‘Scan Barcode’ button, then scanning the code of the item. If the user has not yet given the app permission to access the device’s camera, they should be prompted to do so.</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dirty="0">
                          <a:solidFill>
                            <a:srgbClr val="2D3D4A"/>
                          </a:solidFill>
                          <a:latin typeface="Open Sans"/>
                          <a:ea typeface="Open Sans"/>
                          <a:cs typeface="Open Sans"/>
                          <a:sym typeface="Open Sans"/>
                        </a:rPr>
                        <a:t>If the bar code isn’t recognized, an error should display saying that a</a:t>
                      </a:r>
                      <a:r>
                        <a:rPr lang="en-US" sz="800" baseline="0" dirty="0">
                          <a:solidFill>
                            <a:srgbClr val="2D3D4A"/>
                          </a:solidFill>
                          <a:latin typeface="Open Sans"/>
                          <a:ea typeface="Open Sans"/>
                          <a:cs typeface="Open Sans"/>
                          <a:sym typeface="Open Sans"/>
                        </a:rPr>
                        <a:t> bar code</a:t>
                      </a:r>
                      <a:r>
                        <a:rPr lang="en-US" sz="800" dirty="0">
                          <a:solidFill>
                            <a:srgbClr val="2D3D4A"/>
                          </a:solidFill>
                          <a:latin typeface="Open Sans"/>
                          <a:ea typeface="Open Sans"/>
                          <a:cs typeface="Open Sans"/>
                          <a:sym typeface="Open Sans"/>
                        </a:rPr>
                        <a:t> code was not recognized.</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If there is any delay in retrieving search results, it should not be more than a few seconds and a ’Searching’ message should appear on the screen during that time.</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If there is no match for the search, the user should receive a message saying that no results were found and that they may add the item manually by clicking on the ’New Food’ button.</a:t>
                      </a:r>
                    </a:p>
                    <a:p>
                      <a:pPr marL="171450" marR="0" lvl="0" indent="-1714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US" sz="800" dirty="0">
                          <a:solidFill>
                            <a:srgbClr val="2D3D4A"/>
                          </a:solidFill>
                          <a:latin typeface="Open Sans"/>
                          <a:ea typeface="Open Sans"/>
                          <a:cs typeface="Open Sans"/>
                          <a:sym typeface="Open Sans"/>
                        </a:rPr>
                        <a:t>If the user clicks on the ’New Food’ button, they can create a new food item by entering the name, quantity and calorie information themselves. The name must contain at least one character, </a:t>
                      </a:r>
                      <a:r>
                        <a:rPr lang="en-US" sz="800" baseline="0" dirty="0">
                          <a:solidFill>
                            <a:srgbClr val="2D3D4A"/>
                          </a:solidFill>
                          <a:latin typeface="Open Sans"/>
                          <a:ea typeface="Open Sans"/>
                          <a:cs typeface="Open Sans"/>
                          <a:sym typeface="Open Sans"/>
                        </a:rPr>
                        <a:t>otherwise the user must receive an error saying that they should enter a name with at least one character.</a:t>
                      </a:r>
                      <a:r>
                        <a:rPr lang="en-US" sz="800" dirty="0">
                          <a:solidFill>
                            <a:srgbClr val="2D3D4A"/>
                          </a:solidFill>
                          <a:latin typeface="Open Sans"/>
                          <a:ea typeface="Open Sans"/>
                          <a:cs typeface="Open Sans"/>
                          <a:sym typeface="Open Sans"/>
                        </a:rPr>
                        <a:t> The quantity amount must be positive, </a:t>
                      </a:r>
                      <a:r>
                        <a:rPr lang="en-US" sz="800" baseline="0" dirty="0">
                          <a:solidFill>
                            <a:srgbClr val="2D3D4A"/>
                          </a:solidFill>
                          <a:latin typeface="Open Sans"/>
                          <a:ea typeface="Open Sans"/>
                          <a:cs typeface="Open Sans"/>
                          <a:sym typeface="Open Sans"/>
                        </a:rPr>
                        <a:t>otherwise the user must receive an error saying that they should enter a value greater than 0. The calorie amount must be non-negative, otherwise the user should receive an error saying that they should enter a non-negative value.</a:t>
                      </a:r>
                      <a:endParaRPr lang="en-US" sz="800" dirty="0">
                        <a:solidFill>
                          <a:srgbClr val="2D3D4A"/>
                        </a:solidFill>
                        <a:latin typeface="Open Sans"/>
                        <a:ea typeface="Open Sans"/>
                        <a:cs typeface="Open Sans"/>
                        <a:sym typeface="Open Sans"/>
                      </a:endParaRP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When user selects a food item (either from the search results or the list of recent foods), they are taken to the ‘Nutritional Information’ page for that item where they can edit the quantity consumed (must be positive), then click the ’Add’ button to add the item to their log and return to the ‘Log Foods’ page. Alternatively they can click the ‘Cancel’ button to return back to the ‘Log Foods’ page. If the user does not enter a positive quantity consumed, then they should receive and error saying that they should enter a value greater than 0.</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After the user has chosen all of the food items they want to add, they can click the ’Done’ button to return to the Daily Log.</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All functionality works on both iPhones and Android devices. The app does not yet support the integration of third party apps and tracking devices.</a:t>
                      </a: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582499">
                <a:tc>
                  <a:txBody>
                    <a:bodyPr/>
                    <a:lstStyle/>
                    <a:p>
                      <a:pPr marL="0" lvl="0" indent="0" algn="l" rtl="0">
                        <a:lnSpc>
                          <a:spcPct val="115000"/>
                        </a:lnSpc>
                        <a:spcBef>
                          <a:spcPts val="0"/>
                        </a:spcBef>
                        <a:spcAft>
                          <a:spcPts val="0"/>
                        </a:spcAft>
                        <a:buNone/>
                      </a:pPr>
                      <a:r>
                        <a:rPr lang="en" sz="800" b="1">
                          <a:solidFill>
                            <a:srgbClr val="2D3D4A"/>
                          </a:solidFill>
                          <a:latin typeface="Open Sans"/>
                          <a:ea typeface="Open Sans"/>
                          <a:cs typeface="Open Sans"/>
                          <a:sym typeface="Open Sans"/>
                        </a:rPr>
                        <a:t>Assumptions</a:t>
                      </a:r>
                      <a:endParaRPr sz="800" b="1">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We are able to integrate a nutritional information database that contains a large number of food items and their corresponding nutritional information. The database can be searched by item name and barcode.</a:t>
                      </a:r>
                    </a:p>
                    <a:p>
                      <a:pPr marL="171450" lvl="0" indent="-171450" algn="l" rtl="0">
                        <a:lnSpc>
                          <a:spcPct val="115000"/>
                        </a:lnSpc>
                        <a:spcBef>
                          <a:spcPts val="0"/>
                        </a:spcBef>
                        <a:spcAft>
                          <a:spcPts val="0"/>
                        </a:spcAft>
                        <a:buFont typeface="Arial" panose="020B0604020202020204" pitchFamily="34" charset="0"/>
                        <a:buChar char="•"/>
                      </a:pPr>
                      <a:r>
                        <a:rPr lang="en-US" sz="800" dirty="0">
                          <a:solidFill>
                            <a:srgbClr val="2D3D4A"/>
                          </a:solidFill>
                          <a:latin typeface="Open Sans"/>
                          <a:ea typeface="Open Sans"/>
                          <a:cs typeface="Open Sans"/>
                          <a:sym typeface="Open Sans"/>
                        </a:rPr>
                        <a:t>The app will be available in the U.S. only and nutritional information will use Imperial (American) units.</a:t>
                      </a: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457200" y="1066800"/>
            <a:ext cx="8229600" cy="13908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Clr>
                <a:srgbClr val="FFFFFF"/>
              </a:buClr>
              <a:buFont typeface="Open Sans"/>
              <a:buNone/>
            </a:pPr>
            <a:r>
              <a:rPr lang="en" sz="4200"/>
              <a:t>Decoding API Documentation</a:t>
            </a:r>
            <a:endParaRPr sz="4200"/>
          </a:p>
        </p:txBody>
      </p:sp>
      <p:sp>
        <p:nvSpPr>
          <p:cNvPr id="235" name="Google Shape;235;p43"/>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236" name="Google Shape;236;p43"/>
          <p:cNvSpPr txBox="1">
            <a:spLocks noGrp="1"/>
          </p:cNvSpPr>
          <p:nvPr>
            <p:ph type="body" idx="1"/>
          </p:nvPr>
        </p:nvSpPr>
        <p:spPr>
          <a:xfrm>
            <a:off x="457200" y="2405063"/>
            <a:ext cx="8229600" cy="1390800"/>
          </a:xfrm>
          <a:prstGeom prst="rect">
            <a:avLst/>
          </a:prstGeom>
        </p:spPr>
        <p:txBody>
          <a:bodyPr spcFirstLastPara="1" wrap="square" lIns="34275" tIns="34275" rIns="34275" bIns="34275" anchor="t" anchorCtr="0">
            <a:noAutofit/>
          </a:bodyPr>
          <a:lstStyle/>
          <a:p>
            <a:pPr marL="0" lvl="0" indent="0" algn="l" rtl="0">
              <a:lnSpc>
                <a:spcPct val="115000"/>
              </a:lnSpc>
              <a:spcBef>
                <a:spcPts val="0"/>
              </a:spcBef>
              <a:spcAft>
                <a:spcPts val="0"/>
              </a:spcAft>
              <a:buNone/>
            </a:pPr>
            <a:r>
              <a:rPr lang="en" sz="1200">
                <a:solidFill>
                  <a:srgbClr val="FAFBFC"/>
                </a:solidFill>
              </a:rPr>
              <a:t>As a PM, you will collaborate with the engineering team and provide guidance that heavily influences their development approach. When a product requires an API integration, sometimes PM need to be “technical enough” to understand the following  to refine the solution with designer and development team </a:t>
            </a:r>
            <a:endParaRPr sz="1200">
              <a:solidFill>
                <a:srgbClr val="FAFBFC"/>
              </a:solidFill>
            </a:endParaRPr>
          </a:p>
          <a:p>
            <a:pPr marL="457200" lvl="0" indent="-304800" algn="l" rtl="0">
              <a:lnSpc>
                <a:spcPct val="115000"/>
              </a:lnSpc>
              <a:spcBef>
                <a:spcPts val="0"/>
              </a:spcBef>
              <a:spcAft>
                <a:spcPts val="0"/>
              </a:spcAft>
              <a:buClr>
                <a:srgbClr val="FAFBFC"/>
              </a:buClr>
              <a:buSzPts val="1200"/>
              <a:buChar char="●"/>
            </a:pPr>
            <a:r>
              <a:rPr lang="en" sz="1200">
                <a:solidFill>
                  <a:srgbClr val="FAFBFC"/>
                </a:solidFill>
              </a:rPr>
              <a:t>what information is available via the API</a:t>
            </a:r>
            <a:endParaRPr sz="1200">
              <a:solidFill>
                <a:srgbClr val="FAFBFC"/>
              </a:solidFill>
            </a:endParaRPr>
          </a:p>
          <a:p>
            <a:pPr marL="457200" lvl="0" indent="-304800" algn="l" rtl="0">
              <a:lnSpc>
                <a:spcPct val="115000"/>
              </a:lnSpc>
              <a:spcBef>
                <a:spcPts val="0"/>
              </a:spcBef>
              <a:spcAft>
                <a:spcPts val="0"/>
              </a:spcAft>
              <a:buClr>
                <a:srgbClr val="FAFBFC"/>
              </a:buClr>
              <a:buSzPts val="1200"/>
              <a:buChar char="●"/>
            </a:pPr>
            <a:r>
              <a:rPr lang="en" sz="1200">
                <a:solidFill>
                  <a:srgbClr val="FAFBFC"/>
                </a:solidFill>
              </a:rPr>
              <a:t>how is it available</a:t>
            </a:r>
            <a:endParaRPr sz="1200">
              <a:solidFill>
                <a:srgbClr val="FAFBFC"/>
              </a:solidFill>
            </a:endParaRPr>
          </a:p>
          <a:p>
            <a:pPr marL="457200" lvl="0" indent="-304800" algn="l" rtl="0">
              <a:lnSpc>
                <a:spcPct val="115000"/>
              </a:lnSpc>
              <a:spcBef>
                <a:spcPts val="0"/>
              </a:spcBef>
              <a:spcAft>
                <a:spcPts val="0"/>
              </a:spcAft>
              <a:buClr>
                <a:srgbClr val="FAFBFC"/>
              </a:buClr>
              <a:buSzPts val="1200"/>
              <a:buChar char="●"/>
            </a:pPr>
            <a:r>
              <a:rPr lang="en" sz="1200"/>
              <a:t>p</a:t>
            </a:r>
            <a:r>
              <a:rPr lang="en" sz="1200">
                <a:solidFill>
                  <a:srgbClr val="FAFBFC"/>
                </a:solidFill>
              </a:rPr>
              <a:t>ossible pricing impact</a:t>
            </a:r>
            <a:endParaRPr sz="1200">
              <a:solidFill>
                <a:srgbClr val="FAFBFC"/>
              </a:solidFill>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9"/>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287" name="Google Shape;287;p49"/>
          <p:cNvSpPr txBox="1">
            <a:spLocks noGrp="1"/>
          </p:cNvSpPr>
          <p:nvPr>
            <p:ph type="title"/>
          </p:nvPr>
        </p:nvSpPr>
        <p:spPr>
          <a:xfrm>
            <a:off x="304800" y="762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sz="2800" dirty="0" err="1"/>
              <a:t>KPDailyCheckup</a:t>
            </a:r>
            <a:r>
              <a:rPr lang="en" sz="2800" dirty="0"/>
              <a:t> Project </a:t>
            </a:r>
            <a:endParaRPr sz="2800" dirty="0"/>
          </a:p>
        </p:txBody>
      </p:sp>
      <p:graphicFrame>
        <p:nvGraphicFramePr>
          <p:cNvPr id="288" name="Google Shape;288;p49"/>
          <p:cNvGraphicFramePr/>
          <p:nvPr>
            <p:extLst>
              <p:ext uri="{D42A27DB-BD31-4B8C-83A1-F6EECF244321}">
                <p14:modId xmlns:p14="http://schemas.microsoft.com/office/powerpoint/2010/main" val="2466944264"/>
              </p:ext>
            </p:extLst>
          </p:nvPr>
        </p:nvGraphicFramePr>
        <p:xfrm>
          <a:off x="152400" y="625600"/>
          <a:ext cx="8756850" cy="3906025"/>
        </p:xfrm>
        <a:graphic>
          <a:graphicData uri="http://schemas.openxmlformats.org/drawingml/2006/table">
            <a:tbl>
              <a:tblPr>
                <a:noFill/>
                <a:tableStyleId>{16132107-9968-4529-8D7F-A200421C30BD}</a:tableStyleId>
              </a:tblPr>
              <a:tblGrid>
                <a:gridCol w="2264800">
                  <a:extLst>
                    <a:ext uri="{9D8B030D-6E8A-4147-A177-3AD203B41FA5}">
                      <a16:colId xmlns:a16="http://schemas.microsoft.com/office/drawing/2014/main" val="20000"/>
                    </a:ext>
                  </a:extLst>
                </a:gridCol>
                <a:gridCol w="6492050">
                  <a:extLst>
                    <a:ext uri="{9D8B030D-6E8A-4147-A177-3AD203B41FA5}">
                      <a16:colId xmlns:a16="http://schemas.microsoft.com/office/drawing/2014/main" val="20001"/>
                    </a:ext>
                  </a:extLst>
                </a:gridCol>
              </a:tblGrid>
              <a:tr h="1744675">
                <a:tc>
                  <a:txBody>
                    <a:bodyPr/>
                    <a:lstStyle/>
                    <a:p>
                      <a:pPr marL="0" lvl="0" indent="0" algn="l" rtl="0">
                        <a:lnSpc>
                          <a:spcPct val="115000"/>
                        </a:lnSpc>
                        <a:spcBef>
                          <a:spcPts val="700"/>
                        </a:spcBef>
                        <a:spcAft>
                          <a:spcPts val="0"/>
                        </a:spcAft>
                        <a:buNone/>
                      </a:pPr>
                      <a:r>
                        <a:rPr lang="en" sz="1200" b="1">
                          <a:solidFill>
                            <a:srgbClr val="2D3D4A"/>
                          </a:solidFill>
                          <a:latin typeface="Open Sans"/>
                          <a:ea typeface="Open Sans"/>
                          <a:cs typeface="Open Sans"/>
                          <a:sym typeface="Open Sans"/>
                        </a:rPr>
                        <a:t>Based on the API documentation how would you update your solution and design?</a:t>
                      </a:r>
                      <a:endParaRPr sz="1200" b="1">
                        <a:solidFill>
                          <a:srgbClr val="2D3D4A"/>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b="1">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70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Given the vast number of devices that </a:t>
                      </a:r>
                      <a:r>
                        <a:rPr lang="en-US" sz="1200" dirty="0" err="1">
                          <a:solidFill>
                            <a:srgbClr val="2D3D4A"/>
                          </a:solidFill>
                          <a:latin typeface="Open Sans"/>
                          <a:ea typeface="Open Sans"/>
                          <a:cs typeface="Open Sans"/>
                          <a:sym typeface="Open Sans"/>
                        </a:rPr>
                        <a:t>Validic</a:t>
                      </a:r>
                      <a:r>
                        <a:rPr lang="en-US" sz="1200" dirty="0">
                          <a:solidFill>
                            <a:srgbClr val="2D3D4A"/>
                          </a:solidFill>
                          <a:latin typeface="Open Sans"/>
                          <a:ea typeface="Open Sans"/>
                          <a:cs typeface="Open Sans"/>
                          <a:sym typeface="Open Sans"/>
                        </a:rPr>
                        <a:t> is able to support with relative ease and pending cost approval, we should use it to collect activity, nutrition and other health data and remove our restriction that only certain smart devices provided by Kaiser Permanente should be supported. </a:t>
                      </a:r>
                    </a:p>
                    <a:p>
                      <a:pPr marL="171450" lvl="0" indent="-171450" algn="l" rtl="0">
                        <a:lnSpc>
                          <a:spcPct val="115000"/>
                        </a:lnSpc>
                        <a:spcBef>
                          <a:spcPts val="70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We will need to revisit our design for connecting devices and apps and integrate </a:t>
                      </a:r>
                      <a:r>
                        <a:rPr lang="en-US" sz="1200" dirty="0" err="1">
                          <a:solidFill>
                            <a:srgbClr val="2D3D4A"/>
                          </a:solidFill>
                          <a:latin typeface="Open Sans"/>
                          <a:ea typeface="Open Sans"/>
                          <a:cs typeface="Open Sans"/>
                          <a:sym typeface="Open Sans"/>
                        </a:rPr>
                        <a:t>Validic’s</a:t>
                      </a:r>
                      <a:r>
                        <a:rPr lang="en-US" sz="1200" dirty="0">
                          <a:solidFill>
                            <a:srgbClr val="2D3D4A"/>
                          </a:solidFill>
                          <a:latin typeface="Open Sans"/>
                          <a:ea typeface="Open Sans"/>
                          <a:cs typeface="Open Sans"/>
                          <a:sym typeface="Open Sans"/>
                        </a:rPr>
                        <a:t> App Marketplace.</a:t>
                      </a:r>
                      <a:endParaRPr sz="12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2161350">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Based on your high-level understanding of the API documentation, are there any details that you want to discuss with engineering to refine solution and/or determine feasibility</a:t>
                      </a:r>
                      <a:endParaRPr sz="1200" b="1">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The </a:t>
                      </a:r>
                      <a:r>
                        <a:rPr lang="en-US" sz="1200" dirty="0" err="1">
                          <a:solidFill>
                            <a:srgbClr val="2D3D4A"/>
                          </a:solidFill>
                          <a:latin typeface="Open Sans"/>
                          <a:ea typeface="Open Sans"/>
                          <a:cs typeface="Open Sans"/>
                          <a:sym typeface="Open Sans"/>
                        </a:rPr>
                        <a:t>Validic</a:t>
                      </a:r>
                      <a:r>
                        <a:rPr lang="en-US" sz="1200" dirty="0">
                          <a:solidFill>
                            <a:srgbClr val="2D3D4A"/>
                          </a:solidFill>
                          <a:latin typeface="Open Sans"/>
                          <a:ea typeface="Open Sans"/>
                          <a:cs typeface="Open Sans"/>
                          <a:sym typeface="Open Sans"/>
                        </a:rPr>
                        <a:t> API does not support some popular devices such as the Apple Watch. How will it complicate development and what potential conflicts could arise because we will need to call multiple APIs?</a:t>
                      </a:r>
                    </a:p>
                    <a:p>
                      <a:pPr marL="171450" lvl="0" indent="-171450" algn="l" rtl="0">
                        <a:lnSpc>
                          <a:spcPct val="115000"/>
                        </a:lnSpc>
                        <a:spcBef>
                          <a:spcPts val="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Will we allow multiple devices of the same type to connect to the app and, if so, how will we handle conflicts? (For example, the user connects two fitness trackers.)</a:t>
                      </a:r>
                      <a:endParaRPr sz="12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50"/>
          <p:cNvSpPr txBox="1">
            <a:spLocks noGrp="1"/>
          </p:cNvSpPr>
          <p:nvPr>
            <p:ph type="title"/>
          </p:nvPr>
        </p:nvSpPr>
        <p:spPr>
          <a:xfrm>
            <a:off x="457200" y="1295400"/>
            <a:ext cx="8229600" cy="13908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rgbClr val="FFFFFF"/>
              </a:buClr>
              <a:buFont typeface="Open Sans"/>
              <a:buNone/>
            </a:pPr>
            <a:r>
              <a:rPr lang="en" sz="4200"/>
              <a:t>Re-prioritize Sprint Backlog</a:t>
            </a:r>
            <a:endParaRPr sz="4200"/>
          </a:p>
        </p:txBody>
      </p:sp>
      <p:sp>
        <p:nvSpPr>
          <p:cNvPr id="294" name="Google Shape;294;p50"/>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295" name="Google Shape;295;p50"/>
          <p:cNvSpPr txBox="1">
            <a:spLocks noGrp="1"/>
          </p:cNvSpPr>
          <p:nvPr>
            <p:ph type="body" idx="1"/>
          </p:nvPr>
        </p:nvSpPr>
        <p:spPr>
          <a:xfrm>
            <a:off x="457200" y="2642663"/>
            <a:ext cx="8229600" cy="1390800"/>
          </a:xfrm>
          <a:prstGeom prst="rect">
            <a:avLst/>
          </a:prstGeom>
        </p:spPr>
        <p:txBody>
          <a:bodyPr spcFirstLastPara="1" wrap="square" lIns="34275" tIns="34275" rIns="34275" bIns="34275" anchor="t" anchorCtr="0">
            <a:noAutofit/>
          </a:bodyPr>
          <a:lstStyle/>
          <a:p>
            <a:pPr marL="0" lvl="0" indent="0" algn="l" rtl="0">
              <a:lnSpc>
                <a:spcPct val="115000"/>
              </a:lnSpc>
              <a:spcBef>
                <a:spcPts val="0"/>
              </a:spcBef>
              <a:spcAft>
                <a:spcPts val="0"/>
              </a:spcAft>
              <a:buNone/>
            </a:pPr>
            <a:r>
              <a:rPr lang="en" sz="1200"/>
              <a:t>As a PM, unexpected issues and new feature requests will require you to triage them efficiently and re-prioritize the sprint backlog without impacting the roadmap deliverables significantly</a:t>
            </a:r>
            <a:endParaRPr sz="1200"/>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2"/>
          <p:cNvSpPr txBox="1">
            <a:spLocks noGrp="1"/>
          </p:cNvSpPr>
          <p:nvPr>
            <p:ph type="title"/>
          </p:nvPr>
        </p:nvSpPr>
        <p:spPr>
          <a:xfrm>
            <a:off x="152400" y="76200"/>
            <a:ext cx="8229600" cy="479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a:t>Issue 1: Landing Page loading too slow</a:t>
            </a:r>
            <a:endParaRPr sz="2800"/>
          </a:p>
        </p:txBody>
      </p:sp>
      <p:sp>
        <p:nvSpPr>
          <p:cNvPr id="310" name="Google Shape;310;p52"/>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11</a:t>
            </a:fld>
            <a:endParaRPr>
              <a:solidFill>
                <a:srgbClr val="929292"/>
              </a:solidFill>
            </a:endParaRPr>
          </a:p>
        </p:txBody>
      </p:sp>
      <p:sp>
        <p:nvSpPr>
          <p:cNvPr id="311" name="Google Shape;311;p52"/>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graphicFrame>
        <p:nvGraphicFramePr>
          <p:cNvPr id="312" name="Google Shape;312;p52"/>
          <p:cNvGraphicFramePr/>
          <p:nvPr>
            <p:extLst>
              <p:ext uri="{D42A27DB-BD31-4B8C-83A1-F6EECF244321}">
                <p14:modId xmlns:p14="http://schemas.microsoft.com/office/powerpoint/2010/main" val="2896312013"/>
              </p:ext>
            </p:extLst>
          </p:nvPr>
        </p:nvGraphicFramePr>
        <p:xfrm>
          <a:off x="116775" y="698447"/>
          <a:ext cx="8910450" cy="3880871"/>
        </p:xfrm>
        <a:graphic>
          <a:graphicData uri="http://schemas.openxmlformats.org/drawingml/2006/table">
            <a:tbl>
              <a:tblPr>
                <a:noFill/>
                <a:tableStyleId>{16132107-9968-4529-8D7F-A200421C30BD}</a:tableStyleId>
              </a:tblPr>
              <a:tblGrid>
                <a:gridCol w="1405875">
                  <a:extLst>
                    <a:ext uri="{9D8B030D-6E8A-4147-A177-3AD203B41FA5}">
                      <a16:colId xmlns:a16="http://schemas.microsoft.com/office/drawing/2014/main" val="20000"/>
                    </a:ext>
                  </a:extLst>
                </a:gridCol>
                <a:gridCol w="7504575">
                  <a:extLst>
                    <a:ext uri="{9D8B030D-6E8A-4147-A177-3AD203B41FA5}">
                      <a16:colId xmlns:a16="http://schemas.microsoft.com/office/drawing/2014/main" val="20001"/>
                    </a:ext>
                  </a:extLst>
                </a:gridCol>
              </a:tblGrid>
              <a:tr h="1590346">
                <a:tc>
                  <a:txBody>
                    <a:bodyPr/>
                    <a:lstStyle/>
                    <a:p>
                      <a:pPr marL="0" lvl="0" indent="0" algn="l" rtl="0">
                        <a:lnSpc>
                          <a:spcPct val="115000"/>
                        </a:lnSpc>
                        <a:spcBef>
                          <a:spcPts val="0"/>
                        </a:spcBef>
                        <a:spcAft>
                          <a:spcPts val="0"/>
                        </a:spcAft>
                        <a:buNone/>
                      </a:pPr>
                      <a:r>
                        <a:rPr lang="en" sz="900" b="1">
                          <a:solidFill>
                            <a:srgbClr val="2D3D4A"/>
                          </a:solidFill>
                          <a:latin typeface="Open Sans"/>
                          <a:ea typeface="Open Sans"/>
                          <a:cs typeface="Open Sans"/>
                          <a:sym typeface="Open Sans"/>
                        </a:rPr>
                        <a:t>Determine impact and criticality to prioritize issue</a:t>
                      </a:r>
                      <a:endParaRPr sz="900"/>
                    </a:p>
                  </a:txBody>
                  <a:tcPr marL="91425" marR="91425" marT="91425" marB="91425"/>
                </a:tc>
                <a:tc>
                  <a:txBody>
                    <a:bodyPr/>
                    <a:lstStyle/>
                    <a:p>
                      <a:pPr marL="323850" lvl="0" indent="-171450" algn="l" rtl="0">
                        <a:lnSpc>
                          <a:spcPct val="115000"/>
                        </a:lnSpc>
                        <a:spcBef>
                          <a:spcPts val="0"/>
                        </a:spcBef>
                        <a:spcAft>
                          <a:spcPts val="0"/>
                        </a:spcAft>
                        <a:buClr>
                          <a:srgbClr val="9E9E9E"/>
                        </a:buClr>
                        <a:buSzPts val="1200"/>
                        <a:buFont typeface="Arial" panose="020B0604020202020204" pitchFamily="34" charset="0"/>
                        <a:buChar char="•"/>
                      </a:pPr>
                      <a:r>
                        <a:rPr lang="en" sz="900" dirty="0">
                          <a:solidFill>
                            <a:schemeClr val="tx1">
                              <a:lumMod val="50000"/>
                            </a:schemeClr>
                          </a:solidFill>
                          <a:latin typeface="Open Sans"/>
                          <a:ea typeface="Open Sans"/>
                          <a:cs typeface="Open Sans"/>
                          <a:sym typeface="Open Sans"/>
                        </a:rPr>
                        <a:t>Reproduced the problem myself and verified that the issue was consistent and not just occurring at peak usage times. </a:t>
                      </a:r>
                    </a:p>
                    <a:p>
                      <a:pPr marL="323850" lvl="0" indent="-171450" algn="l" rtl="0">
                        <a:lnSpc>
                          <a:spcPct val="115000"/>
                        </a:lnSpc>
                        <a:spcBef>
                          <a:spcPts val="0"/>
                        </a:spcBef>
                        <a:spcAft>
                          <a:spcPts val="0"/>
                        </a:spcAft>
                        <a:buClr>
                          <a:srgbClr val="9E9E9E"/>
                        </a:buClr>
                        <a:buSzPts val="1200"/>
                        <a:buFont typeface="Arial" panose="020B0604020202020204" pitchFamily="34" charset="0"/>
                        <a:buChar char="•"/>
                      </a:pPr>
                      <a:r>
                        <a:rPr lang="en" sz="900" dirty="0">
                          <a:solidFill>
                            <a:schemeClr val="tx1">
                              <a:lumMod val="50000"/>
                            </a:schemeClr>
                          </a:solidFill>
                          <a:latin typeface="Open Sans"/>
                          <a:ea typeface="Open Sans"/>
                          <a:cs typeface="Open Sans"/>
                          <a:sym typeface="Open Sans"/>
                        </a:rPr>
                        <a:t>Confirmed that the bounce rate is much higher than expected with respect to an established baseline, which suggests that users are frustrated and leaving the app.</a:t>
                      </a:r>
                    </a:p>
                    <a:p>
                      <a:pPr marL="323850" marR="0" lvl="0" indent="-171450" algn="l" defTabSz="914400" rtl="0" eaLnBrk="1" fontAlgn="auto" latinLnBrk="0" hangingPunct="1">
                        <a:lnSpc>
                          <a:spcPct val="115000"/>
                        </a:lnSpc>
                        <a:spcBef>
                          <a:spcPts val="0"/>
                        </a:spcBef>
                        <a:spcAft>
                          <a:spcPts val="0"/>
                        </a:spcAft>
                        <a:buClr>
                          <a:srgbClr val="9E9E9E"/>
                        </a:buClr>
                        <a:buSzPts val="1200"/>
                        <a:buFont typeface="Arial" panose="020B0604020202020204" pitchFamily="34" charset="0"/>
                        <a:buChar char="•"/>
                        <a:tabLst/>
                        <a:defRPr/>
                      </a:pPr>
                      <a:r>
                        <a:rPr lang="en" sz="900" dirty="0">
                          <a:solidFill>
                            <a:schemeClr val="tx1">
                              <a:lumMod val="50000"/>
                            </a:schemeClr>
                          </a:solidFill>
                          <a:latin typeface="Open Sans"/>
                          <a:ea typeface="Open Sans"/>
                          <a:cs typeface="Open Sans"/>
                          <a:sym typeface="Open Sans"/>
                        </a:rPr>
                        <a:t>Worked with the team’s data analyst to confirm the negative impacts that slow landing page load time has on landing page conversions and the number of unique visitors.</a:t>
                      </a:r>
                      <a:endParaRPr lang="en-US" sz="900" dirty="0">
                        <a:solidFill>
                          <a:schemeClr val="tx1">
                            <a:lumMod val="50000"/>
                          </a:schemeClr>
                        </a:solidFill>
                        <a:latin typeface="Open Sans"/>
                        <a:ea typeface="Open Sans"/>
                        <a:cs typeface="Open Sans"/>
                        <a:sym typeface="Open Sans"/>
                      </a:endParaRPr>
                    </a:p>
                    <a:p>
                      <a:pPr marL="152400" lvl="0" indent="0" algn="l" rtl="0">
                        <a:lnSpc>
                          <a:spcPct val="115000"/>
                        </a:lnSpc>
                        <a:spcBef>
                          <a:spcPts val="0"/>
                        </a:spcBef>
                        <a:spcAft>
                          <a:spcPts val="0"/>
                        </a:spcAft>
                        <a:buClr>
                          <a:srgbClr val="9E9E9E"/>
                        </a:buClr>
                        <a:buSzPts val="1200"/>
                        <a:buFont typeface="Open Sans"/>
                        <a:buNone/>
                      </a:pPr>
                      <a:endParaRPr lang="en-US" sz="900" dirty="0">
                        <a:solidFill>
                          <a:schemeClr val="tx1">
                            <a:lumMod val="50000"/>
                          </a:schemeClr>
                        </a:solidFill>
                        <a:latin typeface="Open Sans"/>
                        <a:ea typeface="Open Sans"/>
                        <a:cs typeface="Open Sans"/>
                        <a:sym typeface="Open Sans"/>
                      </a:endParaRPr>
                    </a:p>
                    <a:p>
                      <a:pPr marL="152400" lvl="0" indent="0" algn="l" rtl="0">
                        <a:lnSpc>
                          <a:spcPct val="115000"/>
                        </a:lnSpc>
                        <a:spcBef>
                          <a:spcPts val="0"/>
                        </a:spcBef>
                        <a:spcAft>
                          <a:spcPts val="0"/>
                        </a:spcAft>
                        <a:buClr>
                          <a:srgbClr val="9E9E9E"/>
                        </a:buClr>
                        <a:buSzPts val="1200"/>
                        <a:buFont typeface="Open Sans"/>
                        <a:buNone/>
                      </a:pPr>
                      <a:r>
                        <a:rPr lang="en-US" sz="900" dirty="0">
                          <a:solidFill>
                            <a:schemeClr val="tx1">
                              <a:lumMod val="50000"/>
                            </a:schemeClr>
                          </a:solidFill>
                          <a:latin typeface="Open Sans"/>
                          <a:ea typeface="Open Sans"/>
                          <a:cs typeface="Open Sans"/>
                          <a:sym typeface="Open Sans"/>
                        </a:rPr>
                        <a:t>The issue should be classified as High Priority because although the app is still usable, the landing page is a critical feature and therefore the bug should be addressed during the sprint using the 5-10% bucket reserved for high/critical priority issues.</a:t>
                      </a:r>
                    </a:p>
                  </a:txBody>
                  <a:tcPr marL="91425" marR="91425" marT="91425" marB="91425"/>
                </a:tc>
                <a:extLst>
                  <a:ext uri="{0D108BD9-81ED-4DB2-BD59-A6C34878D82A}">
                    <a16:rowId xmlns:a16="http://schemas.microsoft.com/office/drawing/2014/main" val="10000"/>
                  </a:ext>
                </a:extLst>
              </a:tr>
              <a:tr h="1306581">
                <a:tc>
                  <a:txBody>
                    <a:bodyPr/>
                    <a:lstStyle/>
                    <a:p>
                      <a:pPr marL="0" lvl="0" indent="0" algn="l" rtl="0">
                        <a:lnSpc>
                          <a:spcPct val="115000"/>
                        </a:lnSpc>
                        <a:spcBef>
                          <a:spcPts val="0"/>
                        </a:spcBef>
                        <a:spcAft>
                          <a:spcPts val="0"/>
                        </a:spcAft>
                        <a:buNone/>
                      </a:pPr>
                      <a:r>
                        <a:rPr lang="en" sz="900" b="1">
                          <a:solidFill>
                            <a:srgbClr val="2D3D4A"/>
                          </a:solidFill>
                          <a:latin typeface="Open Sans"/>
                          <a:ea typeface="Open Sans"/>
                          <a:cs typeface="Open Sans"/>
                          <a:sym typeface="Open Sans"/>
                        </a:rPr>
                        <a:t>Next Steps </a:t>
                      </a:r>
                      <a:endParaRPr sz="9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r>
                        <a:rPr lang="en" sz="900">
                          <a:solidFill>
                            <a:srgbClr val="2D3D4A"/>
                          </a:solidFill>
                          <a:latin typeface="Open Sans"/>
                          <a:ea typeface="Open Sans"/>
                          <a:cs typeface="Open Sans"/>
                          <a:sym typeface="Open Sans"/>
                        </a:rPr>
                        <a:t>You would carry out typically using JIRA (ticketing tool), communication channel (Slack) </a:t>
                      </a:r>
                      <a:endParaRPr sz="900"/>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900" i="0" dirty="0">
                          <a:solidFill>
                            <a:srgbClr val="2D3D4A"/>
                          </a:solidFill>
                          <a:latin typeface="Open Sans"/>
                          <a:ea typeface="Open Sans"/>
                          <a:cs typeface="Open Sans"/>
                          <a:sym typeface="Open Sans"/>
                        </a:rPr>
                        <a:t>Update ticket priority to High in JIRA.</a:t>
                      </a:r>
                    </a:p>
                    <a:p>
                      <a:pPr marL="171450" lvl="0" indent="-171450" algn="l" rtl="0">
                        <a:lnSpc>
                          <a:spcPct val="115000"/>
                        </a:lnSpc>
                        <a:spcBef>
                          <a:spcPts val="0"/>
                        </a:spcBef>
                        <a:spcAft>
                          <a:spcPts val="0"/>
                        </a:spcAft>
                        <a:buFont typeface="Arial" panose="020B0604020202020204" pitchFamily="34" charset="0"/>
                        <a:buChar char="•"/>
                      </a:pPr>
                      <a:r>
                        <a:rPr lang="en-US" sz="900" i="0" dirty="0">
                          <a:solidFill>
                            <a:srgbClr val="2D3D4A"/>
                          </a:solidFill>
                          <a:latin typeface="Open Sans"/>
                          <a:ea typeface="Open Sans"/>
                          <a:cs typeface="Open Sans"/>
                          <a:sym typeface="Open Sans"/>
                        </a:rPr>
                        <a:t>Update the sprint backlog for the issue to fixed in the current release and communicate its priority and its addition with the Dev team (Slack, in person)</a:t>
                      </a:r>
                    </a:p>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tx1">
                              <a:lumMod val="50000"/>
                            </a:schemeClr>
                          </a:solidFill>
                          <a:latin typeface="Open Sans"/>
                          <a:ea typeface="Open Sans"/>
                          <a:cs typeface="Open Sans"/>
                          <a:sym typeface="Open Sans"/>
                        </a:rPr>
                        <a:t>Use the feedback loop (Slack, email) to keep stakeholders informed of the priority of the issue and the plans/timeline to fix it. Send another update after the issue has been fixed.</a:t>
                      </a:r>
                    </a:p>
                  </a:txBody>
                  <a:tcPr marL="91425" marR="91425" marT="91425" marB="91425"/>
                </a:tc>
                <a:extLst>
                  <a:ext uri="{0D108BD9-81ED-4DB2-BD59-A6C34878D82A}">
                    <a16:rowId xmlns:a16="http://schemas.microsoft.com/office/drawing/2014/main" val="10001"/>
                  </a:ext>
                </a:extLst>
              </a:tr>
              <a:tr h="983944">
                <a:tc>
                  <a:txBody>
                    <a:bodyPr/>
                    <a:lstStyle/>
                    <a:p>
                      <a:pPr marL="0" lvl="0" indent="0" algn="l" rtl="0">
                        <a:lnSpc>
                          <a:spcPct val="115000"/>
                        </a:lnSpc>
                        <a:spcBef>
                          <a:spcPts val="0"/>
                        </a:spcBef>
                        <a:spcAft>
                          <a:spcPts val="0"/>
                        </a:spcAft>
                        <a:buNone/>
                      </a:pPr>
                      <a:r>
                        <a:rPr lang="en" sz="900" b="1">
                          <a:solidFill>
                            <a:srgbClr val="2D3D4A"/>
                          </a:solidFill>
                          <a:latin typeface="Open Sans"/>
                          <a:ea typeface="Open Sans"/>
                          <a:cs typeface="Open Sans"/>
                          <a:sym typeface="Open Sans"/>
                        </a:rPr>
                        <a:t>Would you take additional steps ?</a:t>
                      </a:r>
                      <a:endParaRPr sz="900"/>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tx1">
                              <a:lumMod val="50000"/>
                            </a:schemeClr>
                          </a:solidFill>
                          <a:latin typeface="Open Sans"/>
                          <a:ea typeface="Open Sans"/>
                          <a:cs typeface="Open Sans"/>
                          <a:sym typeface="Open Sans"/>
                        </a:rPr>
                        <a:t>Meet with the QA team to discuss the need for additional test cases to verify page load performance.</a:t>
                      </a:r>
                    </a:p>
                    <a:p>
                      <a:pPr marL="171450" lvl="0" indent="-171450" algn="l" rtl="0">
                        <a:lnSpc>
                          <a:spcPct val="115000"/>
                        </a:lnSpc>
                        <a:spcBef>
                          <a:spcPts val="0"/>
                        </a:spcBef>
                        <a:spcAft>
                          <a:spcPts val="0"/>
                        </a:spcAft>
                        <a:buFont typeface="Arial" panose="020B0604020202020204" pitchFamily="34" charset="0"/>
                        <a:buChar char="•"/>
                      </a:pPr>
                      <a:r>
                        <a:rPr lang="en" sz="900" dirty="0">
                          <a:solidFill>
                            <a:schemeClr val="tx1">
                              <a:lumMod val="50000"/>
                            </a:schemeClr>
                          </a:solidFill>
                          <a:latin typeface="Open Sans"/>
                          <a:ea typeface="Open Sans"/>
                          <a:cs typeface="Open Sans"/>
                          <a:sym typeface="Open Sans"/>
                        </a:rPr>
                        <a:t>Communicate results of the above discussion with QA to project stakeholders via the feedback loop.</a:t>
                      </a:r>
                      <a:endParaRPr sz="900" dirty="0">
                        <a:solidFill>
                          <a:schemeClr val="tx1">
                            <a:lumMod val="50000"/>
                          </a:schemeClr>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4"/>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12</a:t>
            </a:fld>
            <a:endParaRPr>
              <a:solidFill>
                <a:srgbClr val="929292"/>
              </a:solidFill>
            </a:endParaRPr>
          </a:p>
        </p:txBody>
      </p:sp>
      <p:sp>
        <p:nvSpPr>
          <p:cNvPr id="327" name="Google Shape;327;p54"/>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328" name="Google Shape;328;p54"/>
          <p:cNvSpPr txBox="1"/>
          <p:nvPr/>
        </p:nvSpPr>
        <p:spPr>
          <a:xfrm>
            <a:off x="-3775" y="76200"/>
            <a:ext cx="8287800" cy="50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800">
                <a:solidFill>
                  <a:srgbClr val="2D3D4A"/>
                </a:solidFill>
                <a:latin typeface="Open Sans"/>
                <a:ea typeface="Open Sans"/>
                <a:cs typeface="Open Sans"/>
                <a:sym typeface="Open Sans"/>
              </a:rPr>
              <a:t>Issue 2: Misaligned fields in Profile Settings</a:t>
            </a:r>
            <a:endParaRPr sz="2800">
              <a:solidFill>
                <a:srgbClr val="2D3D4A"/>
              </a:solidFill>
              <a:latin typeface="Open Sans"/>
              <a:ea typeface="Open Sans"/>
              <a:cs typeface="Open Sans"/>
              <a:sym typeface="Open Sans"/>
            </a:endParaRPr>
          </a:p>
        </p:txBody>
      </p:sp>
      <p:graphicFrame>
        <p:nvGraphicFramePr>
          <p:cNvPr id="329" name="Google Shape;329;p54"/>
          <p:cNvGraphicFramePr/>
          <p:nvPr>
            <p:extLst>
              <p:ext uri="{D42A27DB-BD31-4B8C-83A1-F6EECF244321}">
                <p14:modId xmlns:p14="http://schemas.microsoft.com/office/powerpoint/2010/main" val="4267969390"/>
              </p:ext>
            </p:extLst>
          </p:nvPr>
        </p:nvGraphicFramePr>
        <p:xfrm>
          <a:off x="105650" y="666750"/>
          <a:ext cx="8910450" cy="4450624"/>
        </p:xfrm>
        <a:graphic>
          <a:graphicData uri="http://schemas.openxmlformats.org/drawingml/2006/table">
            <a:tbl>
              <a:tblPr>
                <a:noFill/>
                <a:tableStyleId>{16132107-9968-4529-8D7F-A200421C30BD}</a:tableStyleId>
              </a:tblPr>
              <a:tblGrid>
                <a:gridCol w="1339350">
                  <a:extLst>
                    <a:ext uri="{9D8B030D-6E8A-4147-A177-3AD203B41FA5}">
                      <a16:colId xmlns:a16="http://schemas.microsoft.com/office/drawing/2014/main" val="20000"/>
                    </a:ext>
                  </a:extLst>
                </a:gridCol>
                <a:gridCol w="7571100">
                  <a:extLst>
                    <a:ext uri="{9D8B030D-6E8A-4147-A177-3AD203B41FA5}">
                      <a16:colId xmlns:a16="http://schemas.microsoft.com/office/drawing/2014/main" val="20001"/>
                    </a:ext>
                  </a:extLst>
                </a:gridCol>
              </a:tblGrid>
              <a:tr h="1701275">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Determine impact and criticality to prioritize issue</a:t>
                      </a:r>
                      <a:endParaRPr/>
                    </a:p>
                  </a:txBody>
                  <a:tcPr marL="91425" marR="91425" marT="91425" marB="91425"/>
                </a:tc>
                <a:tc>
                  <a:txBody>
                    <a:bodyPr/>
                    <a:lstStyle/>
                    <a:p>
                      <a:pPr marL="457200" marR="0" lvl="0" indent="-304800" algn="l" defTabSz="914400" rtl="0" eaLnBrk="1" fontAlgn="auto" latinLnBrk="0" hangingPunct="1">
                        <a:lnSpc>
                          <a:spcPct val="115000"/>
                        </a:lnSpc>
                        <a:spcBef>
                          <a:spcPts val="0"/>
                        </a:spcBef>
                        <a:spcAft>
                          <a:spcPts val="0"/>
                        </a:spcAft>
                        <a:buClr>
                          <a:srgbClr val="9E9E9E"/>
                        </a:buClr>
                        <a:buSzPts val="1200"/>
                        <a:buFont typeface="Open Sans"/>
                        <a:buChar char="●"/>
                        <a:tabLst/>
                        <a:defRPr/>
                      </a:pPr>
                      <a:r>
                        <a:rPr lang="en" sz="1200" dirty="0">
                          <a:solidFill>
                            <a:schemeClr val="tx1">
                              <a:lumMod val="50000"/>
                            </a:schemeClr>
                          </a:solidFill>
                          <a:latin typeface="Open Sans"/>
                          <a:ea typeface="Open Sans"/>
                          <a:cs typeface="Open Sans"/>
                          <a:sym typeface="Open Sans"/>
                        </a:rPr>
                        <a:t>Confirmed with team’s data analyst that the daily page access rate is 2%.</a:t>
                      </a:r>
                    </a:p>
                    <a:p>
                      <a:pPr marL="457200" lvl="0" indent="-304800" algn="l" rtl="0">
                        <a:lnSpc>
                          <a:spcPct val="115000"/>
                        </a:lnSpc>
                        <a:spcBef>
                          <a:spcPts val="0"/>
                        </a:spcBef>
                        <a:spcAft>
                          <a:spcPts val="0"/>
                        </a:spcAft>
                        <a:buClr>
                          <a:srgbClr val="9E9E9E"/>
                        </a:buClr>
                        <a:buSzPts val="1200"/>
                        <a:buFont typeface="Open Sans"/>
                        <a:buChar char="●"/>
                      </a:pPr>
                      <a:r>
                        <a:rPr lang="en" sz="1200" dirty="0">
                          <a:solidFill>
                            <a:schemeClr val="tx1">
                              <a:lumMod val="50000"/>
                            </a:schemeClr>
                          </a:solidFill>
                          <a:latin typeface="Open Sans"/>
                          <a:ea typeface="Open Sans"/>
                          <a:cs typeface="Open Sans"/>
                          <a:sym typeface="Open Sans"/>
                        </a:rPr>
                        <a:t>Talked to Customer Support to confirm that the number of users contacting them about the issue is low.</a:t>
                      </a:r>
                    </a:p>
                    <a:p>
                      <a:pPr marL="457200" lvl="0" indent="-304800" algn="l" rtl="0">
                        <a:lnSpc>
                          <a:spcPct val="115000"/>
                        </a:lnSpc>
                        <a:spcBef>
                          <a:spcPts val="0"/>
                        </a:spcBef>
                        <a:spcAft>
                          <a:spcPts val="0"/>
                        </a:spcAft>
                        <a:buClr>
                          <a:srgbClr val="9E9E9E"/>
                        </a:buClr>
                        <a:buSzPts val="1200"/>
                        <a:buFont typeface="Open Sans"/>
                        <a:buChar char="●"/>
                      </a:pPr>
                      <a:r>
                        <a:rPr lang="en" sz="1200" dirty="0">
                          <a:solidFill>
                            <a:schemeClr val="tx1">
                              <a:lumMod val="50000"/>
                            </a:schemeClr>
                          </a:solidFill>
                          <a:latin typeface="Open Sans"/>
                          <a:ea typeface="Open Sans"/>
                          <a:cs typeface="Open Sans"/>
                          <a:sym typeface="Open Sans"/>
                        </a:rPr>
                        <a:t>Confirmed with QA that the issue is only happening on Android devices and that the issue does not have a significant impact to the business’ reputation, nor cause significant problems for users trying to use the feature.</a:t>
                      </a:r>
                      <a:endParaRPr sz="1200" dirty="0">
                        <a:solidFill>
                          <a:schemeClr val="tx1">
                            <a:lumMod val="50000"/>
                          </a:schemeClr>
                        </a:solidFill>
                        <a:latin typeface="Open Sans"/>
                        <a:ea typeface="Open Sans"/>
                        <a:cs typeface="Open Sans"/>
                        <a:sym typeface="Open Sans"/>
                      </a:endParaRPr>
                    </a:p>
                    <a:p>
                      <a:pPr marL="914400" lvl="0" indent="0" algn="l" rtl="0">
                        <a:lnSpc>
                          <a:spcPct val="115000"/>
                        </a:lnSpc>
                        <a:spcBef>
                          <a:spcPts val="0"/>
                        </a:spcBef>
                        <a:spcAft>
                          <a:spcPts val="0"/>
                        </a:spcAft>
                        <a:buNone/>
                      </a:pPr>
                      <a:endParaRPr sz="1200" dirty="0">
                        <a:solidFill>
                          <a:schemeClr val="tx1">
                            <a:lumMod val="50000"/>
                          </a:schemeClr>
                        </a:solidFill>
                        <a:latin typeface="Open Sans"/>
                        <a:ea typeface="Open Sans"/>
                        <a:cs typeface="Open Sans"/>
                        <a:sym typeface="Open Sans"/>
                      </a:endParaRPr>
                    </a:p>
                    <a:p>
                      <a:pPr marL="0" lvl="0" indent="0" algn="l" rtl="0">
                        <a:spcBef>
                          <a:spcPts val="0"/>
                        </a:spcBef>
                        <a:spcAft>
                          <a:spcPts val="0"/>
                        </a:spcAft>
                        <a:buNone/>
                      </a:pPr>
                      <a:r>
                        <a:rPr lang="en-US" sz="1200" dirty="0">
                          <a:solidFill>
                            <a:schemeClr val="tx1">
                              <a:lumMod val="50000"/>
                            </a:schemeClr>
                          </a:solidFill>
                          <a:latin typeface="Open Sans"/>
                          <a:ea typeface="Open Sans"/>
                          <a:cs typeface="Open Sans"/>
                          <a:sym typeface="Open Sans"/>
                        </a:rPr>
                        <a:t>Given that the issue occurs only in Android on a page that is accessed by only 2% of users on a given day, the status will be updated to low and the fix will be considered for inclusion in a future sprint during the sprint planning process.</a:t>
                      </a:r>
                      <a:endParaRPr sz="1200" dirty="0">
                        <a:solidFill>
                          <a:schemeClr val="tx1">
                            <a:lumMod val="50000"/>
                          </a:schemeClr>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2246950">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Next Steps </a:t>
                      </a: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r>
                        <a:rPr lang="en" sz="1200">
                          <a:solidFill>
                            <a:srgbClr val="2D3D4A"/>
                          </a:solidFill>
                          <a:latin typeface="Open Sans"/>
                          <a:ea typeface="Open Sans"/>
                          <a:cs typeface="Open Sans"/>
                          <a:sym typeface="Open Sans"/>
                        </a:rPr>
                        <a:t>use ticketing tool (JIRA), and  communication channel (Slack)</a:t>
                      </a:r>
                      <a:endParaRPr sz="12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1200" i="0" dirty="0">
                          <a:solidFill>
                            <a:srgbClr val="2D3D4A"/>
                          </a:solidFill>
                          <a:latin typeface="Open Sans"/>
                          <a:ea typeface="Open Sans"/>
                          <a:cs typeface="Open Sans"/>
                          <a:sym typeface="Open Sans"/>
                        </a:rPr>
                        <a:t>Update ticket priority to Low in JIRA.</a:t>
                      </a:r>
                    </a:p>
                    <a:p>
                      <a:pPr marL="171450" lvl="0" indent="-171450" algn="l" rtl="0">
                        <a:lnSpc>
                          <a:spcPct val="115000"/>
                        </a:lnSpc>
                        <a:spcBef>
                          <a:spcPts val="0"/>
                        </a:spcBef>
                        <a:spcAft>
                          <a:spcPts val="0"/>
                        </a:spcAft>
                        <a:buFont typeface="Arial" panose="020B0604020202020204" pitchFamily="34" charset="0"/>
                        <a:buChar char="•"/>
                      </a:pPr>
                      <a:r>
                        <a:rPr lang="en" sz="1200" dirty="0">
                          <a:solidFill>
                            <a:schemeClr val="tx1">
                              <a:lumMod val="50000"/>
                            </a:schemeClr>
                          </a:solidFill>
                          <a:latin typeface="Open Sans"/>
                          <a:ea typeface="Open Sans"/>
                          <a:cs typeface="Open Sans"/>
                          <a:sym typeface="Open Sans"/>
                        </a:rPr>
                        <a:t>Use the feedback loop (Slack) to keep stakeholders and team informed of the priority of the issue and to communicate that it will not be fixed immediately (but in a </a:t>
                      </a:r>
                      <a:r>
                        <a:rPr lang="en-US" sz="1200" dirty="0">
                          <a:solidFill>
                            <a:schemeClr val="tx1">
                              <a:lumMod val="50000"/>
                            </a:schemeClr>
                          </a:solidFill>
                          <a:latin typeface="Open Sans"/>
                          <a:ea typeface="Open Sans"/>
                          <a:cs typeface="Open Sans"/>
                          <a:sym typeface="Open Sans"/>
                        </a:rPr>
                        <a:t>subsequent</a:t>
                      </a:r>
                      <a:r>
                        <a:rPr lang="en" sz="1200" dirty="0">
                          <a:solidFill>
                            <a:schemeClr val="tx1">
                              <a:lumMod val="50000"/>
                            </a:schemeClr>
                          </a:solidFill>
                          <a:latin typeface="Open Sans"/>
                          <a:ea typeface="Open Sans"/>
                          <a:cs typeface="Open Sans"/>
                          <a:sym typeface="Open Sans"/>
                        </a:rPr>
                        <a:t> release) and why not.</a:t>
                      </a:r>
                      <a:endParaRPr sz="12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6"/>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13</a:t>
            </a:fld>
            <a:endParaRPr>
              <a:solidFill>
                <a:srgbClr val="929292"/>
              </a:solidFill>
            </a:endParaRPr>
          </a:p>
        </p:txBody>
      </p:sp>
      <p:sp>
        <p:nvSpPr>
          <p:cNvPr id="344" name="Google Shape;344;p56"/>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graphicFrame>
        <p:nvGraphicFramePr>
          <p:cNvPr id="345" name="Google Shape;345;p56"/>
          <p:cNvGraphicFramePr/>
          <p:nvPr>
            <p:extLst>
              <p:ext uri="{D42A27DB-BD31-4B8C-83A1-F6EECF244321}">
                <p14:modId xmlns:p14="http://schemas.microsoft.com/office/powerpoint/2010/main" val="397712780"/>
              </p:ext>
            </p:extLst>
          </p:nvPr>
        </p:nvGraphicFramePr>
        <p:xfrm>
          <a:off x="131312" y="421964"/>
          <a:ext cx="8936575" cy="4715166"/>
        </p:xfrm>
        <a:graphic>
          <a:graphicData uri="http://schemas.openxmlformats.org/drawingml/2006/table">
            <a:tbl>
              <a:tblPr>
                <a:noFill/>
                <a:tableStyleId>{16132107-9968-4529-8D7F-A200421C30BD}</a:tableStyleId>
              </a:tblPr>
              <a:tblGrid>
                <a:gridCol w="1815625">
                  <a:extLst>
                    <a:ext uri="{9D8B030D-6E8A-4147-A177-3AD203B41FA5}">
                      <a16:colId xmlns:a16="http://schemas.microsoft.com/office/drawing/2014/main" val="20000"/>
                    </a:ext>
                  </a:extLst>
                </a:gridCol>
                <a:gridCol w="7120950">
                  <a:extLst>
                    <a:ext uri="{9D8B030D-6E8A-4147-A177-3AD203B41FA5}">
                      <a16:colId xmlns:a16="http://schemas.microsoft.com/office/drawing/2014/main" val="20001"/>
                    </a:ext>
                  </a:extLst>
                </a:gridCol>
              </a:tblGrid>
              <a:tr h="1061104">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Determine impact and criticality to prioritize the issue </a:t>
                      </a: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r>
                        <a:rPr lang="en" sz="1200">
                          <a:solidFill>
                            <a:srgbClr val="2D3D4A"/>
                          </a:solidFill>
                          <a:latin typeface="Open Sans"/>
                          <a:ea typeface="Open Sans"/>
                          <a:cs typeface="Open Sans"/>
                          <a:sym typeface="Open Sans"/>
                        </a:rPr>
                        <a:t>(1 - Critical; 2 - High; 3 - Normal; 4 - Low)</a:t>
                      </a:r>
                      <a:endParaRPr sz="1200" b="1">
                        <a:solidFill>
                          <a:srgbClr val="2D3D4A"/>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1200" b="0" dirty="0">
                          <a:solidFill>
                            <a:schemeClr val="tx1">
                              <a:lumMod val="50000"/>
                            </a:schemeClr>
                          </a:solidFill>
                          <a:latin typeface="Open Sans"/>
                          <a:ea typeface="Open Sans"/>
                          <a:cs typeface="Open Sans"/>
                          <a:sym typeface="Open Sans"/>
                        </a:rPr>
                        <a:t>Confirmed with QA and that the password reset request functions if the user makes the request themselves directly from the app. This means there is a workaround.</a:t>
                      </a:r>
                    </a:p>
                    <a:p>
                      <a:pPr marL="171450" lvl="0" indent="-171450" algn="l" rtl="0">
                        <a:lnSpc>
                          <a:spcPct val="115000"/>
                        </a:lnSpc>
                        <a:spcBef>
                          <a:spcPts val="0"/>
                        </a:spcBef>
                        <a:spcAft>
                          <a:spcPts val="0"/>
                        </a:spcAft>
                        <a:buFont typeface="Arial" panose="020B0604020202020204" pitchFamily="34" charset="0"/>
                        <a:buChar char="•"/>
                      </a:pPr>
                      <a:r>
                        <a:rPr lang="en" sz="1200" b="0" dirty="0">
                          <a:solidFill>
                            <a:schemeClr val="tx1">
                              <a:lumMod val="50000"/>
                            </a:schemeClr>
                          </a:solidFill>
                          <a:latin typeface="Open Sans"/>
                          <a:ea typeface="Open Sans"/>
                          <a:cs typeface="Open Sans"/>
                          <a:sym typeface="Open Sans"/>
                        </a:rPr>
                        <a:t>Confirmed with the data analyst that approximately 7% of the daily total users request a password reset and that only 20% of those reach out to customer support to help them do so.</a:t>
                      </a:r>
                    </a:p>
                    <a:p>
                      <a:pPr marL="457200" lvl="0" indent="-304800" algn="l" rtl="0">
                        <a:lnSpc>
                          <a:spcPct val="115000"/>
                        </a:lnSpc>
                        <a:spcBef>
                          <a:spcPts val="0"/>
                        </a:spcBef>
                        <a:spcAft>
                          <a:spcPts val="0"/>
                        </a:spcAft>
                        <a:buClr>
                          <a:srgbClr val="9E9E9E"/>
                        </a:buClr>
                        <a:buSzPts val="1200"/>
                        <a:buFont typeface="Open Sans"/>
                        <a:buChar char="●"/>
                      </a:pPr>
                      <a:endParaRPr sz="1200" b="0" dirty="0">
                        <a:solidFill>
                          <a:schemeClr val="tx1">
                            <a:lumMod val="50000"/>
                          </a:schemeClr>
                        </a:solidFill>
                        <a:latin typeface="Open Sans"/>
                        <a:ea typeface="Open Sans"/>
                        <a:cs typeface="Open Sans"/>
                        <a:sym typeface="Open Sans"/>
                      </a:endParaRPr>
                    </a:p>
                    <a:p>
                      <a:pPr marL="0" lvl="0" indent="0" algn="l" rtl="0">
                        <a:lnSpc>
                          <a:spcPct val="115000"/>
                        </a:lnSpc>
                        <a:spcBef>
                          <a:spcPts val="0"/>
                        </a:spcBef>
                        <a:spcAft>
                          <a:spcPts val="0"/>
                        </a:spcAft>
                        <a:buNone/>
                      </a:pPr>
                      <a:r>
                        <a:rPr lang="en" sz="1200" b="0" dirty="0">
                          <a:solidFill>
                            <a:schemeClr val="tx1">
                              <a:lumMod val="50000"/>
                            </a:schemeClr>
                          </a:solidFill>
                          <a:latin typeface="Open Sans"/>
                          <a:ea typeface="Open Sans"/>
                          <a:cs typeface="Open Sans"/>
                          <a:sym typeface="Open Sans"/>
                        </a:rPr>
                        <a:t>While we need to ensure that the support team has the tools they need to delivery quality customer service and uphold the company’s reputation, there is a workaround and the function works within the app itself, therefore the issue will be assigned medium priority.</a:t>
                      </a:r>
                      <a:endParaRPr sz="1200" b="0" dirty="0">
                        <a:solidFill>
                          <a:schemeClr val="tx1">
                            <a:lumMod val="50000"/>
                          </a:schemeClr>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329275">
                <a:tc>
                  <a:txBody>
                    <a:bodyPr/>
                    <a:lstStyle/>
                    <a:p>
                      <a:pPr marL="0" lvl="0" indent="0" algn="l" rtl="0">
                        <a:lnSpc>
                          <a:spcPct val="115000"/>
                        </a:lnSpc>
                        <a:spcBef>
                          <a:spcPts val="0"/>
                        </a:spcBef>
                        <a:spcAft>
                          <a:spcPts val="0"/>
                        </a:spcAft>
                        <a:buNone/>
                      </a:pPr>
                      <a:r>
                        <a:rPr lang="en-US" sz="1200" b="1" dirty="0">
                          <a:solidFill>
                            <a:srgbClr val="2D3D4A"/>
                          </a:solidFill>
                          <a:latin typeface="Open Sans"/>
                          <a:ea typeface="Open Sans"/>
                          <a:cs typeface="Open Sans"/>
                          <a:sym typeface="Open Sans"/>
                        </a:rPr>
                        <a:t>Next Steps </a:t>
                      </a:r>
                    </a:p>
                    <a:p>
                      <a:pPr marL="0" lvl="0" indent="0" algn="l" rtl="0">
                        <a:lnSpc>
                          <a:spcPct val="115000"/>
                        </a:lnSpc>
                        <a:spcBef>
                          <a:spcPts val="0"/>
                        </a:spcBef>
                        <a:spcAft>
                          <a:spcPts val="0"/>
                        </a:spcAft>
                        <a:buNone/>
                      </a:pPr>
                      <a:r>
                        <a:rPr lang="en-US" sz="1200" dirty="0">
                          <a:solidFill>
                            <a:srgbClr val="2D3D4A"/>
                          </a:solidFill>
                          <a:latin typeface="Open Sans"/>
                          <a:ea typeface="Open Sans"/>
                          <a:cs typeface="Open Sans"/>
                          <a:sym typeface="Open Sans"/>
                        </a:rPr>
                        <a:t>You would carry out typically using JIRA (ticketing tool), communication channel (Slack) </a:t>
                      </a:r>
                      <a:endParaRPr lang="en-US"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1200" i="0" dirty="0">
                          <a:solidFill>
                            <a:srgbClr val="2D3D4A"/>
                          </a:solidFill>
                          <a:latin typeface="Open Sans"/>
                          <a:ea typeface="Open Sans"/>
                          <a:cs typeface="Open Sans"/>
                          <a:sym typeface="Open Sans"/>
                        </a:rPr>
                        <a:t>Update ticket priority to Medium in JIRA.</a:t>
                      </a:r>
                    </a:p>
                    <a:p>
                      <a:pPr marL="171450" lvl="0" indent="-171450" algn="l" rtl="0">
                        <a:lnSpc>
                          <a:spcPct val="115000"/>
                        </a:lnSpc>
                        <a:spcBef>
                          <a:spcPts val="0"/>
                        </a:spcBef>
                        <a:spcAft>
                          <a:spcPts val="0"/>
                        </a:spcAft>
                        <a:buFont typeface="Arial" panose="020B0604020202020204" pitchFamily="34" charset="0"/>
                        <a:buChar char="•"/>
                      </a:pPr>
                      <a:r>
                        <a:rPr lang="en-US" sz="1200" i="0" dirty="0">
                          <a:solidFill>
                            <a:srgbClr val="2D3D4A"/>
                          </a:solidFill>
                          <a:latin typeface="Open Sans"/>
                          <a:ea typeface="Open Sans"/>
                          <a:cs typeface="Open Sans"/>
                          <a:sym typeface="Open Sans"/>
                        </a:rPr>
                        <a:t>Respond to Customer Service Manager’s email explaining the workaround and the reason why the issue will not be addressed immediately.</a:t>
                      </a:r>
                    </a:p>
                    <a:p>
                      <a:pPr marL="171450" lvl="0" indent="-171450" algn="l" rtl="0">
                        <a:lnSpc>
                          <a:spcPct val="115000"/>
                        </a:lnSpc>
                        <a:spcBef>
                          <a:spcPts val="0"/>
                        </a:spcBef>
                        <a:spcAft>
                          <a:spcPts val="0"/>
                        </a:spcAft>
                        <a:buFont typeface="Arial" panose="020B0604020202020204" pitchFamily="34" charset="0"/>
                        <a:buChar char="•"/>
                      </a:pPr>
                      <a:r>
                        <a:rPr lang="en-US" sz="1200" dirty="0">
                          <a:solidFill>
                            <a:schemeClr val="tx1">
                              <a:lumMod val="50000"/>
                            </a:schemeClr>
                          </a:solidFill>
                          <a:latin typeface="Open Sans"/>
                          <a:ea typeface="Open Sans"/>
                          <a:cs typeface="Open Sans"/>
                          <a:sym typeface="Open Sans"/>
                        </a:rPr>
                        <a:t>Use the feedback loop (Slack) to keep stakeholders and team informed of the priority of the issue and to communicate that it will not be fixed immediately (but in a subsequent release) and why not.</a:t>
                      </a:r>
                      <a:endParaRPr lang="en-US" sz="1200" dirty="0">
                        <a:solidFill>
                          <a:srgbClr val="2D3D4A"/>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405003">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Sample Email Response</a:t>
                      </a: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en" sz="1200" dirty="0">
                          <a:solidFill>
                            <a:schemeClr val="tx1">
                              <a:lumMod val="50000"/>
                            </a:schemeClr>
                          </a:solidFill>
                          <a:latin typeface="Open Sans"/>
                          <a:ea typeface="Open Sans"/>
                          <a:cs typeface="Open Sans"/>
                          <a:sym typeface="Open Sans"/>
                        </a:rPr>
                        <a:t>Thank you for reporting this issue. I understand how critical it is for your team to have the tools they need to supp</a:t>
                      </a:r>
                      <a:r>
                        <a:rPr lang="en-US" sz="1200" dirty="0">
                          <a:solidFill>
                            <a:schemeClr val="tx1">
                              <a:lumMod val="50000"/>
                            </a:schemeClr>
                          </a:solidFill>
                          <a:latin typeface="Open Sans"/>
                          <a:ea typeface="Open Sans"/>
                          <a:cs typeface="Open Sans"/>
                          <a:sym typeface="Open Sans"/>
                        </a:rPr>
                        <a:t>o</a:t>
                      </a:r>
                      <a:r>
                        <a:rPr lang="en" sz="1200" dirty="0">
                          <a:solidFill>
                            <a:schemeClr val="tx1">
                              <a:lumMod val="50000"/>
                            </a:schemeClr>
                          </a:solidFill>
                          <a:latin typeface="Open Sans"/>
                          <a:ea typeface="Open Sans"/>
                          <a:cs typeface="Open Sans"/>
                          <a:sym typeface="Open Sans"/>
                        </a:rPr>
                        <a:t>rt customers. </a:t>
                      </a:r>
                      <a:r>
                        <a:rPr lang="en-US" sz="1200" dirty="0">
                          <a:solidFill>
                            <a:schemeClr val="tx1">
                              <a:lumMod val="50000"/>
                            </a:schemeClr>
                          </a:solidFill>
                          <a:latin typeface="Open Sans"/>
                          <a:ea typeface="Open Sans"/>
                          <a:cs typeface="Open Sans"/>
                          <a:sym typeface="Open Sans"/>
                        </a:rPr>
                        <a:t>We have researched the issue and determined that if users make the request themselves within the app, they will receive the email immediately. I will make sure your team is provided with the steps they need to tell users to follow. Because a workaround exists, the issue has been given medium priority and the tool will be fixed soon in a future update. We will keep you appraised of its progress. Thank you again.</a:t>
                      </a:r>
                      <a:endParaRPr sz="1200" dirty="0">
                        <a:solidFill>
                          <a:schemeClr val="tx1">
                            <a:lumMod val="50000"/>
                          </a:schemeClr>
                        </a:solidFill>
                        <a:latin typeface="Open Sans"/>
                        <a:ea typeface="Open Sans"/>
                        <a:cs typeface="Open Sans"/>
                        <a:sym typeface="Open Sans"/>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bl>
          </a:graphicData>
        </a:graphic>
      </p:graphicFrame>
      <p:sp>
        <p:nvSpPr>
          <p:cNvPr id="346" name="Google Shape;346;p56"/>
          <p:cNvSpPr txBox="1"/>
          <p:nvPr/>
        </p:nvSpPr>
        <p:spPr>
          <a:xfrm>
            <a:off x="76200" y="0"/>
            <a:ext cx="9046800" cy="59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2800">
                <a:solidFill>
                  <a:srgbClr val="2D3D4A"/>
                </a:solidFill>
                <a:latin typeface="Open Sans"/>
                <a:ea typeface="Open Sans"/>
                <a:cs typeface="Open Sans"/>
                <a:sym typeface="Open Sans"/>
              </a:rPr>
              <a:t>Respond to Customer Service Manager’s Email </a:t>
            </a:r>
            <a:endParaRPr sz="2800">
              <a:solidFill>
                <a:srgbClr val="2D3D4A"/>
              </a:solidFill>
              <a:latin typeface="Open Sans"/>
              <a:ea typeface="Open Sans"/>
              <a:cs typeface="Open Sans"/>
              <a:sym typeface="Open Sans"/>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7"/>
          <p:cNvSpPr txBox="1">
            <a:spLocks noGrp="1"/>
          </p:cNvSpPr>
          <p:nvPr>
            <p:ph type="title"/>
          </p:nvPr>
        </p:nvSpPr>
        <p:spPr>
          <a:xfrm>
            <a:off x="457200" y="1295400"/>
            <a:ext cx="8229600" cy="13908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rgbClr val="FFFFFF"/>
              </a:buClr>
              <a:buFont typeface="Open Sans"/>
              <a:buNone/>
            </a:pPr>
            <a:r>
              <a:rPr lang="en"/>
              <a:t>Handle Potentially Difficult Situations</a:t>
            </a:r>
            <a:endParaRPr sz="500"/>
          </a:p>
        </p:txBody>
      </p:sp>
      <p:sp>
        <p:nvSpPr>
          <p:cNvPr id="352" name="Google Shape;352;p57"/>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353" name="Google Shape;353;p57"/>
          <p:cNvSpPr txBox="1">
            <a:spLocks noGrp="1"/>
          </p:cNvSpPr>
          <p:nvPr>
            <p:ph type="body" idx="1"/>
          </p:nvPr>
        </p:nvSpPr>
        <p:spPr>
          <a:xfrm>
            <a:off x="457200" y="2633663"/>
            <a:ext cx="8229600" cy="1390800"/>
          </a:xfrm>
          <a:prstGeom prst="rect">
            <a:avLst/>
          </a:prstGeom>
        </p:spPr>
        <p:txBody>
          <a:bodyPr spcFirstLastPara="1" wrap="square" lIns="34275" tIns="34275" rIns="34275" bIns="34275" anchor="t" anchorCtr="0">
            <a:noAutofit/>
          </a:bodyPr>
          <a:lstStyle/>
          <a:p>
            <a:pPr marL="0" lvl="0" indent="0" algn="l" rtl="0">
              <a:lnSpc>
                <a:spcPct val="115000"/>
              </a:lnSpc>
              <a:spcBef>
                <a:spcPts val="0"/>
              </a:spcBef>
              <a:spcAft>
                <a:spcPts val="0"/>
              </a:spcAft>
              <a:buNone/>
            </a:pPr>
            <a:r>
              <a:rPr lang="en" sz="1100">
                <a:solidFill>
                  <a:srgbClr val="FFFFFF"/>
                </a:solidFill>
              </a:rPr>
              <a:t>As a PM, you will be faced with many unexpected situations where you have to make a decision or push back while managing competing priorities from stakeholders and tackling issues that could potentially affect your product launch</a:t>
            </a:r>
            <a:endParaRPr>
              <a:solidFill>
                <a:srgbClr val="FFFFFF"/>
              </a:solidFill>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9"/>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368" name="Google Shape;368;p59"/>
          <p:cNvSpPr txBox="1">
            <a:spLocks noGrp="1"/>
          </p:cNvSpPr>
          <p:nvPr>
            <p:ph type="title"/>
          </p:nvPr>
        </p:nvSpPr>
        <p:spPr>
          <a:xfrm>
            <a:off x="457200" y="76200"/>
            <a:ext cx="8229600" cy="595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a:t>Respond to CEO or GM’s request via email</a:t>
            </a:r>
            <a:endParaRPr sz="2800"/>
          </a:p>
        </p:txBody>
      </p:sp>
      <p:sp>
        <p:nvSpPr>
          <p:cNvPr id="369" name="Google Shape;369;p59"/>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15</a:t>
            </a:fld>
            <a:endParaRPr>
              <a:solidFill>
                <a:srgbClr val="929292"/>
              </a:solidFill>
            </a:endParaRPr>
          </a:p>
        </p:txBody>
      </p:sp>
      <p:graphicFrame>
        <p:nvGraphicFramePr>
          <p:cNvPr id="370" name="Google Shape;370;p59"/>
          <p:cNvGraphicFramePr/>
          <p:nvPr>
            <p:extLst>
              <p:ext uri="{D42A27DB-BD31-4B8C-83A1-F6EECF244321}">
                <p14:modId xmlns:p14="http://schemas.microsoft.com/office/powerpoint/2010/main" val="933847445"/>
              </p:ext>
            </p:extLst>
          </p:nvPr>
        </p:nvGraphicFramePr>
        <p:xfrm>
          <a:off x="390075" y="671400"/>
          <a:ext cx="8450050" cy="4079850"/>
        </p:xfrm>
        <a:graphic>
          <a:graphicData uri="http://schemas.openxmlformats.org/drawingml/2006/table">
            <a:tbl>
              <a:tblPr>
                <a:noFill/>
                <a:tableStyleId>{16132107-9968-4529-8D7F-A200421C30BD}</a:tableStyleId>
              </a:tblPr>
              <a:tblGrid>
                <a:gridCol w="1847750">
                  <a:extLst>
                    <a:ext uri="{9D8B030D-6E8A-4147-A177-3AD203B41FA5}">
                      <a16:colId xmlns:a16="http://schemas.microsoft.com/office/drawing/2014/main" val="20000"/>
                    </a:ext>
                  </a:extLst>
                </a:gridCol>
                <a:gridCol w="6602300">
                  <a:extLst>
                    <a:ext uri="{9D8B030D-6E8A-4147-A177-3AD203B41FA5}">
                      <a16:colId xmlns:a16="http://schemas.microsoft.com/office/drawing/2014/main" val="20001"/>
                    </a:ext>
                  </a:extLst>
                </a:gridCol>
              </a:tblGrid>
              <a:tr h="1695175">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Assessment and result</a:t>
                      </a: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Confirmed with QA that the QA environment is too unstable to be used for a demo.</a:t>
                      </a:r>
                    </a:p>
                    <a:p>
                      <a:pPr marL="171450" lvl="0" indent="-171450" algn="l" rtl="0">
                        <a:lnSpc>
                          <a:spcPct val="115000"/>
                        </a:lnSpc>
                        <a:spcBef>
                          <a:spcPts val="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Confirmed with the Development and QA team leads that it will be possible to push stable completed features to the staging environment for a limited demo.</a:t>
                      </a:r>
                    </a:p>
                    <a:p>
                      <a:pPr marL="171450" lvl="0" indent="-171450" algn="l" rtl="0">
                        <a:lnSpc>
                          <a:spcPct val="115000"/>
                        </a:lnSpc>
                        <a:spcBef>
                          <a:spcPts val="0"/>
                        </a:spcBef>
                        <a:spcAft>
                          <a:spcPts val="0"/>
                        </a:spcAft>
                        <a:buFont typeface="Arial" panose="020B0604020202020204" pitchFamily="34" charset="0"/>
                        <a:buChar char="•"/>
                      </a:pPr>
                      <a:r>
                        <a:rPr lang="en-US" sz="1200" dirty="0">
                          <a:solidFill>
                            <a:srgbClr val="2D3D4A"/>
                          </a:solidFill>
                          <a:latin typeface="Open Sans"/>
                          <a:ea typeface="Open Sans"/>
                          <a:cs typeface="Open Sans"/>
                          <a:sym typeface="Open Sans"/>
                        </a:rPr>
                        <a:t>Discussed which features will be staged, as well as potential demo issues and pitfalls with the QA and development leads in order to be able to support the demo as a PM.</a:t>
                      </a:r>
                    </a:p>
                  </a:txBody>
                  <a:tcPr marL="91425" marR="91425" marT="91425" marB="91425"/>
                </a:tc>
                <a:extLst>
                  <a:ext uri="{0D108BD9-81ED-4DB2-BD59-A6C34878D82A}">
                    <a16:rowId xmlns:a16="http://schemas.microsoft.com/office/drawing/2014/main" val="10000"/>
                  </a:ext>
                </a:extLst>
              </a:tr>
              <a:tr h="2384675">
                <a:tc>
                  <a:txBody>
                    <a:bodyPr/>
                    <a:lstStyle/>
                    <a:p>
                      <a:pPr marL="0" lvl="0" indent="0" algn="l" rtl="0">
                        <a:lnSpc>
                          <a:spcPct val="115000"/>
                        </a:lnSpc>
                        <a:spcBef>
                          <a:spcPts val="0"/>
                        </a:spcBef>
                        <a:spcAft>
                          <a:spcPts val="0"/>
                        </a:spcAft>
                        <a:buNone/>
                      </a:pPr>
                      <a:r>
                        <a:rPr lang="en" sz="1200" b="1" dirty="0">
                          <a:solidFill>
                            <a:srgbClr val="2D3D4A"/>
                          </a:solidFill>
                          <a:latin typeface="Open Sans"/>
                          <a:ea typeface="Open Sans"/>
                          <a:cs typeface="Open Sans"/>
                          <a:sym typeface="Open Sans"/>
                        </a:rPr>
                        <a:t>Sample Email Response</a:t>
                      </a:r>
                      <a:endParaRPr sz="1200" b="1" dirty="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dirty="0">
                        <a:solidFill>
                          <a:srgbClr val="2D3D4A"/>
                        </a:solidFill>
                        <a:latin typeface="Open Sans"/>
                        <a:ea typeface="Open Sans"/>
                        <a:cs typeface="Open Sans"/>
                        <a:sym typeface="Open Sans"/>
                      </a:endParaRPr>
                    </a:p>
                  </a:txBody>
                  <a:tcPr marL="91425" marR="91425" marT="91425" marB="91425"/>
                </a:tc>
                <a:tc>
                  <a:txBody>
                    <a:bodyPr/>
                    <a:lstStyle/>
                    <a:p>
                      <a:pPr marL="0" lvl="0" indent="0" algn="l" rtl="0">
                        <a:lnSpc>
                          <a:spcPct val="115000"/>
                        </a:lnSpc>
                        <a:spcBef>
                          <a:spcPts val="0"/>
                        </a:spcBef>
                        <a:spcAft>
                          <a:spcPts val="0"/>
                        </a:spcAft>
                        <a:buNone/>
                      </a:pPr>
                      <a:r>
                        <a:rPr lang="en" sz="1200" dirty="0">
                          <a:solidFill>
                            <a:schemeClr val="tx1">
                              <a:lumMod val="50000"/>
                            </a:schemeClr>
                          </a:solidFill>
                          <a:latin typeface="Open Sans"/>
                          <a:ea typeface="Open Sans"/>
                          <a:cs typeface="Open Sans"/>
                          <a:sym typeface="Open Sans"/>
                        </a:rPr>
                        <a:t>We are pleased to have the opportunity to show you our work. We are currently 65% done with development and, unfortunately will be unable to provide a fully functioning demo in 2 days. However, we can provide you with a login to our staging environment to demonstrate the features that are working. </a:t>
                      </a:r>
                      <a:r>
                        <a:rPr lang="en-US" sz="1200" dirty="0">
                          <a:solidFill>
                            <a:schemeClr val="tx1">
                              <a:lumMod val="50000"/>
                            </a:schemeClr>
                          </a:solidFill>
                          <a:latin typeface="Open Sans"/>
                          <a:ea typeface="Open Sans"/>
                          <a:cs typeface="Open Sans"/>
                          <a:sym typeface="Open Sans"/>
                        </a:rPr>
                        <a:t>Because the demo is not fully functional, I recommend that I either walk you through it in advance or be present to assist you and to respond to any questions. Thank you.</a:t>
                      </a:r>
                      <a:endParaRPr sz="1200" dirty="0">
                        <a:solidFill>
                          <a:schemeClr val="tx1">
                            <a:lumMod val="50000"/>
                          </a:schemeClr>
                        </a:solidFill>
                        <a:latin typeface="Open Sans"/>
                        <a:ea typeface="Open Sans"/>
                        <a:cs typeface="Open Sans"/>
                        <a:sym typeface="Open Sans"/>
                      </a:endParaRPr>
                    </a:p>
                    <a:p>
                      <a:pPr marL="0" lvl="0" indent="0" algn="l" rtl="0">
                        <a:lnSpc>
                          <a:spcPct val="115000"/>
                        </a:lnSpc>
                        <a:spcBef>
                          <a:spcPts val="0"/>
                        </a:spcBef>
                        <a:spcAft>
                          <a:spcPts val="0"/>
                        </a:spcAft>
                        <a:buNone/>
                      </a:pPr>
                      <a:endParaRPr sz="1200" dirty="0">
                        <a:solidFill>
                          <a:srgbClr val="9E9E9E"/>
                        </a:solidFill>
                        <a:latin typeface="Open Sans"/>
                        <a:ea typeface="Open Sans"/>
                        <a:cs typeface="Open Sans"/>
                        <a:sym typeface="Open Sans"/>
                      </a:endParaRPr>
                    </a:p>
                    <a:p>
                      <a:pPr marL="0" lvl="0" indent="0" algn="l" rtl="0">
                        <a:lnSpc>
                          <a:spcPct val="115000"/>
                        </a:lnSpc>
                        <a:spcBef>
                          <a:spcPts val="0"/>
                        </a:spcBef>
                        <a:spcAft>
                          <a:spcPts val="0"/>
                        </a:spcAft>
                        <a:buNone/>
                      </a:pPr>
                      <a:endParaRPr sz="12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1"/>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386" name="Google Shape;386;p61"/>
          <p:cNvSpPr txBox="1">
            <a:spLocks noGrp="1"/>
          </p:cNvSpPr>
          <p:nvPr>
            <p:ph type="title"/>
          </p:nvPr>
        </p:nvSpPr>
        <p:spPr>
          <a:xfrm>
            <a:off x="172350" y="76200"/>
            <a:ext cx="8835300" cy="595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2D3D4A"/>
              </a:buClr>
              <a:buFont typeface="Open Sans"/>
              <a:buNone/>
            </a:pPr>
            <a:r>
              <a:rPr lang="en" sz="2800"/>
              <a:t>Step-in and guide the scrum team at stand up</a:t>
            </a:r>
            <a:endParaRPr sz="2800"/>
          </a:p>
        </p:txBody>
      </p:sp>
      <p:sp>
        <p:nvSpPr>
          <p:cNvPr id="387" name="Google Shape;387;p61"/>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16</a:t>
            </a:fld>
            <a:endParaRPr>
              <a:solidFill>
                <a:srgbClr val="929292"/>
              </a:solidFill>
            </a:endParaRPr>
          </a:p>
        </p:txBody>
      </p:sp>
      <p:graphicFrame>
        <p:nvGraphicFramePr>
          <p:cNvPr id="388" name="Google Shape;388;p61"/>
          <p:cNvGraphicFramePr/>
          <p:nvPr>
            <p:extLst>
              <p:ext uri="{D42A27DB-BD31-4B8C-83A1-F6EECF244321}">
                <p14:modId xmlns:p14="http://schemas.microsoft.com/office/powerpoint/2010/main" val="910029120"/>
              </p:ext>
            </p:extLst>
          </p:nvPr>
        </p:nvGraphicFramePr>
        <p:xfrm>
          <a:off x="237675" y="671400"/>
          <a:ext cx="8769975" cy="4042050"/>
        </p:xfrm>
        <a:graphic>
          <a:graphicData uri="http://schemas.openxmlformats.org/drawingml/2006/table">
            <a:tbl>
              <a:tblPr>
                <a:noFill/>
                <a:tableStyleId>{16132107-9968-4529-8D7F-A200421C30BD}</a:tableStyleId>
              </a:tblPr>
              <a:tblGrid>
                <a:gridCol w="1917700">
                  <a:extLst>
                    <a:ext uri="{9D8B030D-6E8A-4147-A177-3AD203B41FA5}">
                      <a16:colId xmlns:a16="http://schemas.microsoft.com/office/drawing/2014/main" val="20000"/>
                    </a:ext>
                  </a:extLst>
                </a:gridCol>
                <a:gridCol w="6852275">
                  <a:extLst>
                    <a:ext uri="{9D8B030D-6E8A-4147-A177-3AD203B41FA5}">
                      <a16:colId xmlns:a16="http://schemas.microsoft.com/office/drawing/2014/main" val="20001"/>
                    </a:ext>
                  </a:extLst>
                </a:gridCol>
              </a:tblGrid>
              <a:tr h="4042050">
                <a:tc>
                  <a:txBody>
                    <a:bodyPr/>
                    <a:lstStyle/>
                    <a:p>
                      <a:pPr marL="0" lvl="0" indent="0" algn="l" rtl="0">
                        <a:lnSpc>
                          <a:spcPct val="115000"/>
                        </a:lnSpc>
                        <a:spcBef>
                          <a:spcPts val="700"/>
                        </a:spcBef>
                        <a:spcAft>
                          <a:spcPts val="0"/>
                        </a:spcAft>
                        <a:buNone/>
                      </a:pPr>
                      <a:r>
                        <a:rPr lang="en" sz="1200" b="1">
                          <a:solidFill>
                            <a:srgbClr val="2D3D4A"/>
                          </a:solidFill>
                          <a:latin typeface="Open Sans"/>
                          <a:ea typeface="Open Sans"/>
                          <a:cs typeface="Open Sans"/>
                          <a:sym typeface="Open Sans"/>
                        </a:rPr>
                        <a:t>Video Response</a:t>
                      </a:r>
                      <a:endParaRPr sz="1200" b="1">
                        <a:solidFill>
                          <a:srgbClr val="2D3D4A"/>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a:solidFill>
                          <a:srgbClr val="2D3D4A"/>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b="1">
                        <a:solidFill>
                          <a:srgbClr val="2D3D4A"/>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latin typeface="Open Sans"/>
                        <a:ea typeface="Open Sans"/>
                        <a:cs typeface="Open Sans"/>
                        <a:sym typeface="Open Sans"/>
                      </a:endParaRPr>
                    </a:p>
                    <a:p>
                      <a:pPr marL="0" lvl="0" indent="0" algn="l" rtl="0">
                        <a:lnSpc>
                          <a:spcPct val="115000"/>
                        </a:lnSpc>
                        <a:spcBef>
                          <a:spcPts val="0"/>
                        </a:spcBef>
                        <a:spcAft>
                          <a:spcPts val="0"/>
                        </a:spcAft>
                        <a:buNone/>
                      </a:pPr>
                      <a:endParaRPr sz="1200" b="1">
                        <a:solidFill>
                          <a:srgbClr val="2D3D4A"/>
                        </a:solidFill>
                        <a:latin typeface="Open Sans"/>
                        <a:ea typeface="Open Sans"/>
                        <a:cs typeface="Open Sans"/>
                        <a:sym typeface="Open Sans"/>
                      </a:endParaRPr>
                    </a:p>
                  </a:txBody>
                  <a:tcPr marL="91425" marR="91425" marT="91425" marB="91425"/>
                </a:tc>
                <a:tc>
                  <a:txBody>
                    <a:bodyPr/>
                    <a:lstStyle/>
                    <a:p>
                      <a:pPr marL="0" lvl="0" indent="0" algn="l" rtl="0">
                        <a:lnSpc>
                          <a:spcPct val="115000"/>
                        </a:lnSpc>
                        <a:spcBef>
                          <a:spcPts val="0"/>
                        </a:spcBef>
                        <a:spcAft>
                          <a:spcPts val="0"/>
                        </a:spcAft>
                        <a:buNone/>
                      </a:pPr>
                      <a:r>
                        <a:rPr lang="en" sz="1200" dirty="0">
                          <a:solidFill>
                            <a:srgbClr val="2D3D4A"/>
                          </a:solidFill>
                          <a:latin typeface="Open Sans"/>
                          <a:ea typeface="Open Sans"/>
                          <a:cs typeface="Open Sans"/>
                          <a:sym typeface="Open Sans"/>
                        </a:rPr>
                        <a:t>Share the link to your video here </a:t>
                      </a:r>
                      <a:r>
                        <a:rPr lang="en-US" sz="1200" dirty="0">
                          <a:solidFill>
                            <a:srgbClr val="0097A7"/>
                          </a:solidFill>
                          <a:latin typeface="Open Sans"/>
                          <a:ea typeface="Open Sans"/>
                          <a:cs typeface="Open Sans"/>
                          <a:sym typeface="Open Sans"/>
                          <a:hlinkClick r:id="rId3"/>
                        </a:rPr>
                        <a:t>&lt;video response&gt;</a:t>
                      </a:r>
                      <a:endParaRPr sz="1200" dirty="0">
                        <a:solidFill>
                          <a:srgbClr val="0097A7"/>
                        </a:solidFill>
                        <a:latin typeface="Open Sans"/>
                        <a:ea typeface="Open Sans"/>
                        <a:cs typeface="Open Sans"/>
                        <a:sym typeface="Open Sans"/>
                      </a:endParaRPr>
                    </a:p>
                    <a:p>
                      <a:pPr marL="0" lvl="0" indent="0" algn="l" rtl="0">
                        <a:lnSpc>
                          <a:spcPct val="115000"/>
                        </a:lnSpc>
                        <a:spcBef>
                          <a:spcPts val="0"/>
                        </a:spcBef>
                        <a:spcAft>
                          <a:spcPts val="0"/>
                        </a:spcAft>
                        <a:buNone/>
                      </a:pPr>
                      <a:endParaRPr sz="12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3"/>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404" name="Google Shape;404;p63"/>
          <p:cNvSpPr txBox="1">
            <a:spLocks noGrp="1"/>
          </p:cNvSpPr>
          <p:nvPr>
            <p:ph type="title"/>
          </p:nvPr>
        </p:nvSpPr>
        <p:spPr>
          <a:xfrm>
            <a:off x="228600" y="76200"/>
            <a:ext cx="8229600" cy="457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a:t>Handling Resource Constraints</a:t>
            </a:r>
            <a:endParaRPr sz="2800"/>
          </a:p>
        </p:txBody>
      </p:sp>
      <p:sp>
        <p:nvSpPr>
          <p:cNvPr id="405" name="Google Shape;405;p63"/>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17</a:t>
            </a:fld>
            <a:endParaRPr>
              <a:solidFill>
                <a:srgbClr val="929292"/>
              </a:solidFill>
            </a:endParaRPr>
          </a:p>
        </p:txBody>
      </p:sp>
      <p:graphicFrame>
        <p:nvGraphicFramePr>
          <p:cNvPr id="406" name="Google Shape;406;p63"/>
          <p:cNvGraphicFramePr/>
          <p:nvPr>
            <p:extLst>
              <p:ext uri="{D42A27DB-BD31-4B8C-83A1-F6EECF244321}">
                <p14:modId xmlns:p14="http://schemas.microsoft.com/office/powerpoint/2010/main" val="3052566312"/>
              </p:ext>
            </p:extLst>
          </p:nvPr>
        </p:nvGraphicFramePr>
        <p:xfrm>
          <a:off x="228600" y="486276"/>
          <a:ext cx="8747325" cy="4367664"/>
        </p:xfrm>
        <a:graphic>
          <a:graphicData uri="http://schemas.openxmlformats.org/drawingml/2006/table">
            <a:tbl>
              <a:tblPr>
                <a:noFill/>
                <a:tableStyleId>{16132107-9968-4529-8D7F-A200421C30BD}</a:tableStyleId>
              </a:tblPr>
              <a:tblGrid>
                <a:gridCol w="2520975">
                  <a:extLst>
                    <a:ext uri="{9D8B030D-6E8A-4147-A177-3AD203B41FA5}">
                      <a16:colId xmlns:a16="http://schemas.microsoft.com/office/drawing/2014/main" val="20000"/>
                    </a:ext>
                  </a:extLst>
                </a:gridCol>
                <a:gridCol w="6226350">
                  <a:extLst>
                    <a:ext uri="{9D8B030D-6E8A-4147-A177-3AD203B41FA5}">
                      <a16:colId xmlns:a16="http://schemas.microsoft.com/office/drawing/2014/main" val="20001"/>
                    </a:ext>
                  </a:extLst>
                </a:gridCol>
              </a:tblGrid>
              <a:tr h="377101">
                <a:tc>
                  <a:txBody>
                    <a:bodyPr/>
                    <a:lstStyle/>
                    <a:p>
                      <a:pPr marL="0" lvl="0" indent="0" algn="l" rtl="0">
                        <a:lnSpc>
                          <a:spcPct val="115000"/>
                        </a:lnSpc>
                        <a:spcBef>
                          <a:spcPts val="0"/>
                        </a:spcBef>
                        <a:spcAft>
                          <a:spcPts val="0"/>
                        </a:spcAft>
                        <a:buNone/>
                      </a:pPr>
                      <a:r>
                        <a:rPr lang="en" sz="1000">
                          <a:solidFill>
                            <a:srgbClr val="2D3D4A"/>
                          </a:solidFill>
                          <a:latin typeface="Open Sans"/>
                          <a:ea typeface="Open Sans"/>
                          <a:cs typeface="Open Sans"/>
                          <a:sym typeface="Open Sans"/>
                        </a:rPr>
                        <a:t>List 2- 3 activities that you would carry out as a PM to unblock the scrum team immediately ?</a:t>
                      </a:r>
                      <a:endParaRPr sz="10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000" b="1">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1000" dirty="0">
                          <a:solidFill>
                            <a:srgbClr val="2D3D4A"/>
                          </a:solidFill>
                          <a:latin typeface="Open Sans"/>
                          <a:ea typeface="Open Sans"/>
                          <a:cs typeface="Open Sans"/>
                          <a:sym typeface="Open Sans"/>
                        </a:rPr>
                        <a:t> I (as PM) can step in and cover as much of the resource’s work as I can during their absence</a:t>
                      </a:r>
                    </a:p>
                    <a:p>
                      <a:pPr marL="171450" lvl="0" indent="-171450" algn="l" rtl="0">
                        <a:lnSpc>
                          <a:spcPct val="115000"/>
                        </a:lnSpc>
                        <a:spcBef>
                          <a:spcPts val="0"/>
                        </a:spcBef>
                        <a:spcAft>
                          <a:spcPts val="0"/>
                        </a:spcAft>
                        <a:buFont typeface="Arial" panose="020B0604020202020204" pitchFamily="34" charset="0"/>
                        <a:buChar char="•"/>
                      </a:pPr>
                      <a:r>
                        <a:rPr lang="en" sz="1000" dirty="0">
                          <a:solidFill>
                            <a:srgbClr val="2D3D4A"/>
                          </a:solidFill>
                          <a:latin typeface="Open Sans"/>
                          <a:ea typeface="Open Sans"/>
                          <a:cs typeface="Open Sans"/>
                          <a:sym typeface="Open Sans"/>
                        </a:rPr>
                        <a:t>See if any of the dev team members who have finished up their critical tasks might be able to assist QA</a:t>
                      </a:r>
                    </a:p>
                    <a:p>
                      <a:pPr marL="171450" lvl="0" indent="-171450" algn="l" rtl="0">
                        <a:lnSpc>
                          <a:spcPct val="115000"/>
                        </a:lnSpc>
                        <a:spcBef>
                          <a:spcPts val="0"/>
                        </a:spcBef>
                        <a:spcAft>
                          <a:spcPts val="0"/>
                        </a:spcAft>
                        <a:buFont typeface="Arial" panose="020B0604020202020204" pitchFamily="34" charset="0"/>
                        <a:buChar char="•"/>
                      </a:pPr>
                      <a:r>
                        <a:rPr lang="en" sz="1000" dirty="0">
                          <a:solidFill>
                            <a:srgbClr val="2D3D4A"/>
                          </a:solidFill>
                          <a:latin typeface="Open Sans"/>
                          <a:ea typeface="Open Sans"/>
                          <a:cs typeface="Open Sans"/>
                          <a:sym typeface="Open Sans"/>
                        </a:rPr>
                        <a:t>Contact other PMs to see if they have resources that they might be able to trade (QA or developers)</a:t>
                      </a:r>
                      <a:endParaRPr sz="1000" dirty="0">
                        <a:solidFill>
                          <a:srgbClr val="2D3D4A"/>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1124775">
                <a:tc>
                  <a:txBody>
                    <a:bodyPr/>
                    <a:lstStyle/>
                    <a:p>
                      <a:pPr marL="0" lvl="0" indent="0" algn="l" rtl="0">
                        <a:lnSpc>
                          <a:spcPct val="115000"/>
                        </a:lnSpc>
                        <a:spcBef>
                          <a:spcPts val="0"/>
                        </a:spcBef>
                        <a:spcAft>
                          <a:spcPts val="0"/>
                        </a:spcAft>
                        <a:buNone/>
                      </a:pPr>
                      <a:r>
                        <a:rPr lang="en" sz="1000">
                          <a:solidFill>
                            <a:srgbClr val="2D3D4A"/>
                          </a:solidFill>
                          <a:latin typeface="Open Sans"/>
                          <a:ea typeface="Open Sans"/>
                          <a:cs typeface="Open Sans"/>
                          <a:sym typeface="Open Sans"/>
                        </a:rPr>
                        <a:t>Since the QA team member is shared across multiple projects, how would you coordinate with other PMs to de-risk your project and raise appropriate visibility ? </a:t>
                      </a:r>
                      <a:endParaRPr sz="1000">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0"/>
                        </a:spcBef>
                        <a:spcAft>
                          <a:spcPts val="0"/>
                        </a:spcAft>
                        <a:buFont typeface="Arial" panose="020B0604020202020204" pitchFamily="34" charset="0"/>
                        <a:buChar char="•"/>
                      </a:pPr>
                      <a:r>
                        <a:rPr lang="en" sz="1000" dirty="0">
                          <a:solidFill>
                            <a:schemeClr val="tx1">
                              <a:lumMod val="50000"/>
                            </a:schemeClr>
                          </a:solidFill>
                          <a:latin typeface="Open Sans"/>
                          <a:ea typeface="Open Sans"/>
                          <a:cs typeface="Open Sans"/>
                          <a:sym typeface="Open Sans"/>
                        </a:rPr>
                        <a:t>Facilitate a meeting with QA lead and impacted PMs to see if the resource’s schedule can be prioritized to this project upon their return and/or if other resources could be shifted or shared to help. Inform and/or escalate issues arising from this meeting to the Head of Product and other key stakeholders</a:t>
                      </a:r>
                    </a:p>
                    <a:p>
                      <a:pPr marL="171450" lvl="0" indent="-171450" algn="l" rtl="0">
                        <a:lnSpc>
                          <a:spcPct val="115000"/>
                        </a:lnSpc>
                        <a:spcBef>
                          <a:spcPts val="0"/>
                        </a:spcBef>
                        <a:spcAft>
                          <a:spcPts val="0"/>
                        </a:spcAft>
                        <a:buFont typeface="Arial" panose="020B0604020202020204" pitchFamily="34" charset="0"/>
                        <a:buChar char="•"/>
                      </a:pPr>
                      <a:r>
                        <a:rPr lang="en-US" sz="1000" noProof="0" dirty="0">
                          <a:solidFill>
                            <a:schemeClr val="tx1">
                              <a:lumMod val="50000"/>
                            </a:schemeClr>
                          </a:solidFill>
                          <a:latin typeface="Open Sans"/>
                          <a:ea typeface="Open Sans"/>
                          <a:cs typeface="Open Sans"/>
                          <a:sym typeface="Open Sans"/>
                        </a:rPr>
                        <a:t>Prioritize </a:t>
                      </a:r>
                      <a:r>
                        <a:rPr lang="en" sz="1000" dirty="0">
                          <a:solidFill>
                            <a:schemeClr val="tx1">
                              <a:lumMod val="50000"/>
                            </a:schemeClr>
                          </a:solidFill>
                          <a:latin typeface="Open Sans"/>
                          <a:ea typeface="Open Sans"/>
                          <a:cs typeface="Open Sans"/>
                          <a:sym typeface="Open Sans"/>
                        </a:rPr>
                        <a:t>testing for the feature that was identified as risky (due to its lack of testing and current instability) and determine which tickets are non-critical and could be postponed so that shared  resources can work effectively.</a:t>
                      </a:r>
                    </a:p>
                  </a:txBody>
                  <a:tcPr marL="91425" marR="91425" marT="91425" marB="91425"/>
                </a:tc>
                <a:extLst>
                  <a:ext uri="{0D108BD9-81ED-4DB2-BD59-A6C34878D82A}">
                    <a16:rowId xmlns:a16="http://schemas.microsoft.com/office/drawing/2014/main" val="10001"/>
                  </a:ext>
                </a:extLst>
              </a:tr>
              <a:tr h="632767">
                <a:tc rowSpan="2">
                  <a:txBody>
                    <a:bodyPr/>
                    <a:lstStyle/>
                    <a:p>
                      <a:pPr marL="0" lvl="0" indent="0" algn="l" rtl="0">
                        <a:lnSpc>
                          <a:spcPct val="115000"/>
                        </a:lnSpc>
                        <a:spcBef>
                          <a:spcPts val="0"/>
                        </a:spcBef>
                        <a:spcAft>
                          <a:spcPts val="0"/>
                        </a:spcAft>
                        <a:buNone/>
                      </a:pPr>
                      <a:r>
                        <a:rPr lang="en" sz="1000" dirty="0">
                          <a:solidFill>
                            <a:srgbClr val="2D3D4A"/>
                          </a:solidFill>
                          <a:latin typeface="Open Sans"/>
                          <a:ea typeface="Open Sans"/>
                          <a:cs typeface="Open Sans"/>
                          <a:sym typeface="Open Sans"/>
                        </a:rPr>
                        <a:t>Since there is a potential risk, it is important to raise visibility amongst appropriate stakeholders</a:t>
                      </a:r>
                      <a:endParaRPr sz="1000" dirty="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000" dirty="0">
                        <a:solidFill>
                          <a:srgbClr val="9E9E9E"/>
                        </a:solidFill>
                        <a:latin typeface="Open Sans"/>
                        <a:ea typeface="Open Sans"/>
                        <a:cs typeface="Open Sans"/>
                        <a:sym typeface="Open Sans"/>
                      </a:endParaRPr>
                    </a:p>
                  </a:txBody>
                  <a:tcPr marL="91425" marR="91425" marT="91425" marB="91425"/>
                </a:tc>
                <a:tc>
                  <a:txBody>
                    <a:bodyPr/>
                    <a:lstStyle/>
                    <a:p>
                      <a:pPr marL="0" lvl="0" indent="0" algn="l" rtl="0">
                        <a:lnSpc>
                          <a:spcPct val="115000"/>
                        </a:lnSpc>
                        <a:spcBef>
                          <a:spcPts val="0"/>
                        </a:spcBef>
                        <a:spcAft>
                          <a:spcPts val="0"/>
                        </a:spcAft>
                        <a:buNone/>
                      </a:pPr>
                      <a:r>
                        <a:rPr lang="en-US" sz="1000" noProof="0">
                          <a:solidFill>
                            <a:srgbClr val="9E9E9E"/>
                          </a:solidFill>
                          <a:latin typeface="Open Sans"/>
                          <a:ea typeface="Open Sans"/>
                          <a:cs typeface="Open Sans"/>
                          <a:sym typeface="Open Sans"/>
                        </a:rPr>
                        <a:t>Identify the stakeholders that you would raise the visibility</a:t>
                      </a:r>
                    </a:p>
                    <a:p>
                      <a:pPr marL="171450" lvl="0" indent="-171450" algn="l" rtl="0">
                        <a:lnSpc>
                          <a:spcPct val="115000"/>
                        </a:lnSpc>
                        <a:spcBef>
                          <a:spcPts val="0"/>
                        </a:spcBef>
                        <a:spcAft>
                          <a:spcPts val="0"/>
                        </a:spcAft>
                        <a:buFont typeface="Arial" panose="020B0604020202020204" pitchFamily="34" charset="0"/>
                        <a:buChar char="•"/>
                      </a:pPr>
                      <a:r>
                        <a:rPr lang="en-US" sz="1000" noProof="0">
                          <a:solidFill>
                            <a:srgbClr val="2D3D4A"/>
                          </a:solidFill>
                          <a:latin typeface="Open Sans"/>
                          <a:ea typeface="Open Sans"/>
                          <a:cs typeface="Open Sans"/>
                          <a:sym typeface="Open Sans"/>
                        </a:rPr>
                        <a:t>Head of Product</a:t>
                      </a:r>
                    </a:p>
                    <a:p>
                      <a:pPr marL="171450" lvl="0" indent="-171450" algn="l" rtl="0">
                        <a:lnSpc>
                          <a:spcPct val="115000"/>
                        </a:lnSpc>
                        <a:spcBef>
                          <a:spcPts val="0"/>
                        </a:spcBef>
                        <a:spcAft>
                          <a:spcPts val="0"/>
                        </a:spcAft>
                        <a:buFont typeface="Arial" panose="020B0604020202020204" pitchFamily="34" charset="0"/>
                        <a:buChar char="•"/>
                      </a:pPr>
                      <a:r>
                        <a:rPr lang="en-US" sz="1000" noProof="0">
                          <a:solidFill>
                            <a:srgbClr val="2D3D4A"/>
                          </a:solidFill>
                          <a:latin typeface="Open Sans"/>
                          <a:ea typeface="Open Sans"/>
                          <a:cs typeface="Open Sans"/>
                          <a:sym typeface="Open Sans"/>
                        </a:rPr>
                        <a:t>Other key stakeholders (esp. Marketing, Sales, Customer Support)</a:t>
                      </a:r>
                    </a:p>
                  </a:txBody>
                  <a:tcPr marL="91425" marR="91425" marT="91425" marB="91425"/>
                </a:tc>
                <a:extLst>
                  <a:ext uri="{0D108BD9-81ED-4DB2-BD59-A6C34878D82A}">
                    <a16:rowId xmlns:a16="http://schemas.microsoft.com/office/drawing/2014/main" val="10002"/>
                  </a:ext>
                </a:extLst>
              </a:tr>
              <a:tr h="1358175">
                <a:tc vMerge="1">
                  <a:txBody>
                    <a:bodyPr/>
                    <a:lstStyle/>
                    <a:p>
                      <a:endParaRPr lang="en-US"/>
                    </a:p>
                  </a:txBody>
                  <a:tcPr/>
                </a:tc>
                <a:tc>
                  <a:txBody>
                    <a:bodyPr/>
                    <a:lstStyle/>
                    <a:p>
                      <a:pPr marL="0" lvl="0" indent="0" algn="l" rtl="0">
                        <a:lnSpc>
                          <a:spcPct val="115000"/>
                        </a:lnSpc>
                        <a:spcBef>
                          <a:spcPts val="0"/>
                        </a:spcBef>
                        <a:spcAft>
                          <a:spcPts val="0"/>
                        </a:spcAft>
                        <a:buNone/>
                      </a:pPr>
                      <a:r>
                        <a:rPr lang="en-US" sz="1000" noProof="0" dirty="0">
                          <a:solidFill>
                            <a:srgbClr val="9E9E9E"/>
                          </a:solidFill>
                          <a:latin typeface="Open Sans"/>
                          <a:ea typeface="Open Sans"/>
                          <a:cs typeface="Open Sans"/>
                          <a:sym typeface="Open Sans"/>
                        </a:rPr>
                        <a:t>How would your communication differ based on whether you were able to negotiate (or) not negotiate shared QA team member’s time upon return with other PMs successfully? </a:t>
                      </a:r>
                    </a:p>
                    <a:p>
                      <a:pPr marL="171450" lvl="0" indent="-171450" algn="l" rtl="0">
                        <a:lnSpc>
                          <a:spcPct val="115000"/>
                        </a:lnSpc>
                        <a:spcBef>
                          <a:spcPts val="0"/>
                        </a:spcBef>
                        <a:spcAft>
                          <a:spcPts val="0"/>
                        </a:spcAft>
                        <a:buFont typeface="Arial" panose="020B0604020202020204" pitchFamily="34" charset="0"/>
                        <a:buChar char="•"/>
                      </a:pPr>
                      <a:r>
                        <a:rPr lang="en-US" sz="1000" noProof="0" dirty="0">
                          <a:solidFill>
                            <a:schemeClr val="tx1">
                              <a:lumMod val="50000"/>
                            </a:schemeClr>
                          </a:solidFill>
                          <a:latin typeface="Open Sans"/>
                          <a:ea typeface="Open Sans"/>
                          <a:cs typeface="Open Sans"/>
                          <a:sym typeface="Open Sans"/>
                        </a:rPr>
                        <a:t>Able to negotiate: I would continue to update the team and stakeholders of the team’s progress via the normal feedback loop (i.e. Slack channels).</a:t>
                      </a:r>
                    </a:p>
                    <a:p>
                      <a:pPr marL="171450" lvl="0" indent="-171450" algn="l" rtl="0">
                        <a:lnSpc>
                          <a:spcPct val="115000"/>
                        </a:lnSpc>
                        <a:spcBef>
                          <a:spcPts val="0"/>
                        </a:spcBef>
                        <a:spcAft>
                          <a:spcPts val="0"/>
                        </a:spcAft>
                        <a:buFont typeface="Arial" panose="020B0604020202020204" pitchFamily="34" charset="0"/>
                        <a:buChar char="•"/>
                      </a:pPr>
                      <a:r>
                        <a:rPr lang="en-US" sz="1000" noProof="0" dirty="0">
                          <a:solidFill>
                            <a:schemeClr val="tx1">
                              <a:lumMod val="50000"/>
                            </a:schemeClr>
                          </a:solidFill>
                          <a:latin typeface="Open Sans"/>
                          <a:ea typeface="Open Sans"/>
                          <a:cs typeface="Open Sans"/>
                          <a:sym typeface="Open Sans"/>
                        </a:rPr>
                        <a:t>Unable to negotiate: In addition to the normal feedback loop, I would escalate the issue to </a:t>
                      </a:r>
                      <a:r>
                        <a:rPr lang="en-US" sz="1000" noProof="0">
                          <a:solidFill>
                            <a:schemeClr val="tx1">
                              <a:lumMod val="50000"/>
                            </a:schemeClr>
                          </a:solidFill>
                          <a:latin typeface="Open Sans"/>
                          <a:ea typeface="Open Sans"/>
                          <a:cs typeface="Open Sans"/>
                          <a:sym typeface="Open Sans"/>
                        </a:rPr>
                        <a:t>the Heads </a:t>
                      </a:r>
                      <a:r>
                        <a:rPr lang="en-US" sz="1000" noProof="0" dirty="0">
                          <a:solidFill>
                            <a:schemeClr val="tx1">
                              <a:lumMod val="50000"/>
                            </a:schemeClr>
                          </a:solidFill>
                          <a:latin typeface="Open Sans"/>
                          <a:ea typeface="Open Sans"/>
                          <a:cs typeface="Open Sans"/>
                          <a:sym typeface="Open Sans"/>
                        </a:rPr>
                        <a:t>of PM and QA and to any other critical stakeholders via email, and facilitate a meeting with all of them and the impacted PMs if necessary.</a:t>
                      </a: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5"/>
          <p:cNvSpPr txBox="1">
            <a:spLocks noGrp="1"/>
          </p:cNvSpPr>
          <p:nvPr>
            <p:ph type="body" idx="2"/>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a:t>9</a:t>
            </a:r>
            <a:r>
              <a:rPr lang="en" sz="700" b="0" i="0" u="none" strike="noStrike" cap="none">
                <a:solidFill>
                  <a:srgbClr val="7D97AD"/>
                </a:solidFill>
                <a:latin typeface="Open Sans"/>
                <a:ea typeface="Open Sans"/>
                <a:cs typeface="Open Sans"/>
                <a:sym typeface="Open Sans"/>
              </a:rPr>
              <a:t> Udacity.  All rights reserved.</a:t>
            </a:r>
            <a:endParaRPr sz="500"/>
          </a:p>
        </p:txBody>
      </p:sp>
      <p:sp>
        <p:nvSpPr>
          <p:cNvPr id="422" name="Google Shape;422;p65"/>
          <p:cNvSpPr txBox="1">
            <a:spLocks noGrp="1"/>
          </p:cNvSpPr>
          <p:nvPr>
            <p:ph type="title"/>
          </p:nvPr>
        </p:nvSpPr>
        <p:spPr>
          <a:xfrm>
            <a:off x="145150" y="76200"/>
            <a:ext cx="8735700" cy="471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D3D4A"/>
              </a:buClr>
              <a:buFont typeface="Open Sans"/>
              <a:buNone/>
            </a:pPr>
            <a:r>
              <a:rPr lang="en" sz="2800"/>
              <a:t>How would you handle stakeholder feedback?</a:t>
            </a:r>
            <a:endParaRPr sz="2800"/>
          </a:p>
        </p:txBody>
      </p:sp>
      <p:sp>
        <p:nvSpPr>
          <p:cNvPr id="423" name="Google Shape;423;p65"/>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rgbClr val="7D97AD"/>
              </a:buClr>
              <a:buFont typeface="Open Sans"/>
              <a:buNone/>
            </a:pPr>
            <a:fld id="{00000000-1234-1234-1234-123412341234}" type="slidenum">
              <a:rPr lang="en"/>
              <a:t>18</a:t>
            </a:fld>
            <a:endParaRPr>
              <a:solidFill>
                <a:srgbClr val="929292"/>
              </a:solidFill>
            </a:endParaRPr>
          </a:p>
        </p:txBody>
      </p:sp>
      <p:graphicFrame>
        <p:nvGraphicFramePr>
          <p:cNvPr id="424" name="Google Shape;424;p65"/>
          <p:cNvGraphicFramePr/>
          <p:nvPr>
            <p:extLst>
              <p:ext uri="{D42A27DB-BD31-4B8C-83A1-F6EECF244321}">
                <p14:modId xmlns:p14="http://schemas.microsoft.com/office/powerpoint/2010/main" val="1141347755"/>
              </p:ext>
            </p:extLst>
          </p:nvPr>
        </p:nvGraphicFramePr>
        <p:xfrm>
          <a:off x="161475" y="595200"/>
          <a:ext cx="8735700" cy="4154600"/>
        </p:xfrm>
        <a:graphic>
          <a:graphicData uri="http://schemas.openxmlformats.org/drawingml/2006/table">
            <a:tbl>
              <a:tblPr>
                <a:noFill/>
                <a:tableStyleId>{16132107-9968-4529-8D7F-A200421C30BD}</a:tableStyleId>
              </a:tblPr>
              <a:tblGrid>
                <a:gridCol w="1910200">
                  <a:extLst>
                    <a:ext uri="{9D8B030D-6E8A-4147-A177-3AD203B41FA5}">
                      <a16:colId xmlns:a16="http://schemas.microsoft.com/office/drawing/2014/main" val="20000"/>
                    </a:ext>
                  </a:extLst>
                </a:gridCol>
                <a:gridCol w="6825500">
                  <a:extLst>
                    <a:ext uri="{9D8B030D-6E8A-4147-A177-3AD203B41FA5}">
                      <a16:colId xmlns:a16="http://schemas.microsoft.com/office/drawing/2014/main" val="20001"/>
                    </a:ext>
                  </a:extLst>
                </a:gridCol>
              </a:tblGrid>
              <a:tr h="1729550">
                <a:tc>
                  <a:txBody>
                    <a:bodyPr/>
                    <a:lstStyle/>
                    <a:p>
                      <a:pPr marL="0" lvl="0" indent="0" algn="l" rtl="0">
                        <a:lnSpc>
                          <a:spcPct val="115000"/>
                        </a:lnSpc>
                        <a:spcBef>
                          <a:spcPts val="0"/>
                        </a:spcBef>
                        <a:spcAft>
                          <a:spcPts val="0"/>
                        </a:spcAft>
                        <a:buNone/>
                      </a:pPr>
                      <a:r>
                        <a:rPr lang="en" sz="1200" b="1">
                          <a:solidFill>
                            <a:srgbClr val="2D3D4A"/>
                          </a:solidFill>
                          <a:latin typeface="Open Sans"/>
                          <a:ea typeface="Open Sans"/>
                          <a:cs typeface="Open Sans"/>
                          <a:sym typeface="Open Sans"/>
                        </a:rPr>
                        <a:t>Feedback Assessment</a:t>
                      </a: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txBody>
                  <a:tcPr marL="91425" marR="91425" marT="91425" marB="91425"/>
                </a:tc>
                <a:tc>
                  <a:txBody>
                    <a:bodyPr/>
                    <a:lstStyle/>
                    <a:p>
                      <a:pPr marL="171450" lvl="0" indent="-171450" algn="l" rtl="0">
                        <a:lnSpc>
                          <a:spcPct val="115000"/>
                        </a:lnSpc>
                        <a:spcBef>
                          <a:spcPts val="700"/>
                        </a:spcBef>
                        <a:spcAft>
                          <a:spcPts val="0"/>
                        </a:spcAft>
                        <a:buFont typeface="Arial" panose="020B0604020202020204" pitchFamily="34" charset="0"/>
                        <a:buChar char="•"/>
                      </a:pPr>
                      <a:r>
                        <a:rPr lang="en" sz="1200" dirty="0">
                          <a:solidFill>
                            <a:schemeClr val="tx1">
                              <a:lumMod val="50000"/>
                            </a:schemeClr>
                          </a:solidFill>
                          <a:latin typeface="Open Sans"/>
                          <a:ea typeface="Open Sans"/>
                          <a:cs typeface="Open Sans"/>
                          <a:sym typeface="Open Sans"/>
                        </a:rPr>
                        <a:t>We’ve previously all agreed on the scope for our MVP launch. What harm do you envision will occur if we launch without the daily push notification?</a:t>
                      </a:r>
                    </a:p>
                    <a:p>
                      <a:pPr marL="171450" lvl="0" indent="-171450" algn="l" rtl="0">
                        <a:lnSpc>
                          <a:spcPct val="115000"/>
                        </a:lnSpc>
                        <a:spcBef>
                          <a:spcPts val="700"/>
                        </a:spcBef>
                        <a:spcAft>
                          <a:spcPts val="0"/>
                        </a:spcAft>
                        <a:buFont typeface="Arial" panose="020B0604020202020204" pitchFamily="34" charset="0"/>
                        <a:buChar char="•"/>
                      </a:pPr>
                      <a:r>
                        <a:rPr lang="en" sz="1200" dirty="0">
                          <a:solidFill>
                            <a:schemeClr val="tx1">
                              <a:lumMod val="50000"/>
                            </a:schemeClr>
                          </a:solidFill>
                          <a:latin typeface="Open Sans"/>
                          <a:ea typeface="Open Sans"/>
                          <a:cs typeface="Open Sans"/>
                          <a:sym typeface="Open Sans"/>
                        </a:rPr>
                        <a:t>How do you envision that the push notification should be triggered?</a:t>
                      </a:r>
                    </a:p>
                    <a:p>
                      <a:pPr marL="171450" lvl="0" indent="-171450" algn="l" rtl="0">
                        <a:lnSpc>
                          <a:spcPct val="115000"/>
                        </a:lnSpc>
                        <a:spcBef>
                          <a:spcPts val="700"/>
                        </a:spcBef>
                        <a:spcAft>
                          <a:spcPts val="0"/>
                        </a:spcAft>
                        <a:buFont typeface="Arial" panose="020B0604020202020204" pitchFamily="34" charset="0"/>
                        <a:buChar char="•"/>
                      </a:pPr>
                      <a:r>
                        <a:rPr lang="en" sz="1200" dirty="0">
                          <a:solidFill>
                            <a:schemeClr val="tx1">
                              <a:lumMod val="50000"/>
                            </a:schemeClr>
                          </a:solidFill>
                          <a:latin typeface="Open Sans"/>
                          <a:ea typeface="Open Sans"/>
                          <a:cs typeface="Open Sans"/>
                          <a:sym typeface="Open Sans"/>
                        </a:rPr>
                        <a:t>Do you think it might be helpful to </a:t>
                      </a:r>
                      <a:r>
                        <a:rPr lang="en-US" sz="1200" dirty="0">
                          <a:solidFill>
                            <a:schemeClr val="tx1">
                              <a:lumMod val="50000"/>
                            </a:schemeClr>
                          </a:solidFill>
                          <a:latin typeface="Open Sans"/>
                          <a:ea typeface="Open Sans"/>
                          <a:cs typeface="Open Sans"/>
                          <a:sym typeface="Open Sans"/>
                        </a:rPr>
                        <a:t>understand</a:t>
                      </a:r>
                      <a:r>
                        <a:rPr lang="en" sz="1200" dirty="0">
                          <a:solidFill>
                            <a:schemeClr val="tx1">
                              <a:lumMod val="50000"/>
                            </a:schemeClr>
                          </a:solidFill>
                          <a:latin typeface="Open Sans"/>
                          <a:ea typeface="Open Sans"/>
                          <a:cs typeface="Open Sans"/>
                          <a:sym typeface="Open Sans"/>
                        </a:rPr>
                        <a:t> the user journey within the product via post-launch metrics before we assign a trigger to activate this feature right away? </a:t>
                      </a:r>
                      <a:endParaRPr sz="1200" dirty="0">
                        <a:solidFill>
                          <a:schemeClr val="tx1">
                            <a:lumMod val="50000"/>
                          </a:schemeClr>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2425050">
                <a:tc>
                  <a:txBody>
                    <a:bodyPr/>
                    <a:lstStyle/>
                    <a:p>
                      <a:pPr marL="0" lvl="0" indent="0" algn="l" rtl="0">
                        <a:lnSpc>
                          <a:spcPct val="115000"/>
                        </a:lnSpc>
                        <a:spcBef>
                          <a:spcPts val="700"/>
                        </a:spcBef>
                        <a:spcAft>
                          <a:spcPts val="0"/>
                        </a:spcAft>
                        <a:buNone/>
                      </a:pPr>
                      <a:r>
                        <a:rPr lang="en" sz="1200" b="1">
                          <a:solidFill>
                            <a:srgbClr val="2D3D4A"/>
                          </a:solidFill>
                          <a:latin typeface="Open Sans"/>
                          <a:ea typeface="Open Sans"/>
                          <a:cs typeface="Open Sans"/>
                          <a:sym typeface="Open Sans"/>
                        </a:rPr>
                        <a:t>Video Response </a:t>
                      </a:r>
                      <a:endParaRPr sz="1200" b="1">
                        <a:solidFill>
                          <a:srgbClr val="2D3D4A"/>
                        </a:solidFill>
                        <a:latin typeface="Open Sans"/>
                        <a:ea typeface="Open Sans"/>
                        <a:cs typeface="Open Sans"/>
                        <a:sym typeface="Open Sans"/>
                      </a:endParaRPr>
                    </a:p>
                    <a:p>
                      <a:pPr marL="114300" lvl="0" indent="0" algn="l" rtl="0">
                        <a:lnSpc>
                          <a:spcPct val="115000"/>
                        </a:lnSpc>
                        <a:spcBef>
                          <a:spcPts val="700"/>
                        </a:spcBef>
                        <a:spcAft>
                          <a:spcPts val="0"/>
                        </a:spcAft>
                        <a:buNone/>
                      </a:pPr>
                      <a:endParaRPr sz="1200">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b="1">
                        <a:solidFill>
                          <a:srgbClr val="2D3D4A"/>
                        </a:solidFill>
                        <a:latin typeface="Open Sans"/>
                        <a:ea typeface="Open Sans"/>
                        <a:cs typeface="Open Sans"/>
                        <a:sym typeface="Open Sans"/>
                      </a:endParaRPr>
                    </a:p>
                    <a:p>
                      <a:pPr marL="0" lvl="0" indent="0" algn="l" rtl="0">
                        <a:lnSpc>
                          <a:spcPct val="115000"/>
                        </a:lnSpc>
                        <a:spcBef>
                          <a:spcPts val="0"/>
                        </a:spcBef>
                        <a:spcAft>
                          <a:spcPts val="0"/>
                        </a:spcAft>
                        <a:buNone/>
                      </a:pPr>
                      <a:endParaRPr sz="1200">
                        <a:solidFill>
                          <a:srgbClr val="2D3D4A"/>
                        </a:solidFill>
                        <a:latin typeface="Open Sans"/>
                        <a:ea typeface="Open Sans"/>
                        <a:cs typeface="Open Sans"/>
                        <a:sym typeface="Open Sans"/>
                      </a:endParaRPr>
                    </a:p>
                  </a:txBody>
                  <a:tcPr marL="91425" marR="91425" marT="91425" marB="91425"/>
                </a:tc>
                <a:tc>
                  <a:txBody>
                    <a:bodyPr/>
                    <a:lstStyle/>
                    <a:p>
                      <a:pPr marL="0" lvl="0" indent="0" algn="l" rtl="0">
                        <a:lnSpc>
                          <a:spcPct val="115000"/>
                        </a:lnSpc>
                        <a:spcBef>
                          <a:spcPts val="0"/>
                        </a:spcBef>
                        <a:spcAft>
                          <a:spcPts val="0"/>
                        </a:spcAft>
                        <a:buNone/>
                      </a:pPr>
                      <a:r>
                        <a:rPr lang="en" sz="1200" dirty="0">
                          <a:solidFill>
                            <a:srgbClr val="2D3D4A"/>
                          </a:solidFill>
                          <a:latin typeface="Open Sans"/>
                          <a:ea typeface="Open Sans"/>
                          <a:cs typeface="Open Sans"/>
                          <a:sym typeface="Open Sans"/>
                        </a:rPr>
                        <a:t>Share the link to your video here </a:t>
                      </a:r>
                      <a:r>
                        <a:rPr lang="en-US" sz="1200" dirty="0">
                          <a:solidFill>
                            <a:srgbClr val="0097A7"/>
                          </a:solidFill>
                          <a:latin typeface="Open Sans"/>
                          <a:ea typeface="Open Sans"/>
                          <a:cs typeface="Open Sans"/>
                          <a:sym typeface="Open Sans"/>
                          <a:hlinkClick r:id="rId3"/>
                        </a:rPr>
                        <a:t>&lt;video response&gt;</a:t>
                      </a:r>
                      <a:endParaRPr sz="1200" dirty="0">
                        <a:solidFill>
                          <a:srgbClr val="0097A7"/>
                        </a:solidFill>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transition>
    <p:fade thruBlk="1"/>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dacity Template 16x9">
  <a:themeElements>
    <a:clrScheme name="White">
      <a:dk1>
        <a:srgbClr val="2E3D49"/>
      </a:dk1>
      <a:lt1>
        <a:srgbClr val="7D97AD"/>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8827</TotalTime>
  <Words>3684</Words>
  <Application>Microsoft Macintosh PowerPoint</Application>
  <PresentationFormat>On-screen Show (16:9)</PresentationFormat>
  <Paragraphs>194</Paragraphs>
  <Slides>18</Slides>
  <Notes>18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Open Sans</vt:lpstr>
      <vt:lpstr>Open Sans Light</vt:lpstr>
      <vt:lpstr>Arial</vt:lpstr>
      <vt:lpstr>Cabin</vt:lpstr>
      <vt:lpstr>Simple Light</vt:lpstr>
      <vt:lpstr>Udacity Template 16x9</vt:lpstr>
      <vt:lpstr>KPDailyCheckup</vt:lpstr>
      <vt:lpstr>Create Project Blueprint</vt:lpstr>
      <vt:lpstr>Create a coordination activities map</vt:lpstr>
      <vt:lpstr> Plan for Sprint Meeting</vt:lpstr>
      <vt:lpstr>Sprint Planning Meeting Preparation</vt:lpstr>
      <vt:lpstr>User Story 1</vt:lpstr>
      <vt:lpstr>User Story 2</vt:lpstr>
      <vt:lpstr>Decoding API Documentation</vt:lpstr>
      <vt:lpstr>KPDailyCheckup Project </vt:lpstr>
      <vt:lpstr>Re-prioritize Sprint Backlog</vt:lpstr>
      <vt:lpstr>Issue 1: Landing Page loading too slow</vt:lpstr>
      <vt:lpstr>PowerPoint Presentation</vt:lpstr>
      <vt:lpstr>PowerPoint Presentation</vt:lpstr>
      <vt:lpstr>Handle Potentially Difficult Situations</vt:lpstr>
      <vt:lpstr>Respond to CEO or GM’s request via email</vt:lpstr>
      <vt:lpstr>Step-in and guide the scrum team at stand up</vt:lpstr>
      <vt:lpstr>Handling Resource Constraints</vt:lpstr>
      <vt:lpstr>How would you handle stakeholder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cp:lastModifiedBy>Maleina Bidek</cp:lastModifiedBy>
  <cp:revision>105</cp:revision>
  <dcterms:modified xsi:type="dcterms:W3CDTF">2020-05-31T21:12:39Z</dcterms:modified>
</cp:coreProperties>
</file>