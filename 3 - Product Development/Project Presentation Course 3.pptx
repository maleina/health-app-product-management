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 id="2147483676" r:id="rId2"/>
  </p:sldMasterIdLst>
  <p:notesMasterIdLst>
    <p:notesMasterId r:id="rId31"/>
  </p:notesMasterIdLst>
  <p:sldIdLst>
    <p:sldId id="256" r:id="rId3"/>
    <p:sldId id="258" r:id="rId4"/>
    <p:sldId id="260" r:id="rId5"/>
    <p:sldId id="262" r:id="rId6"/>
    <p:sldId id="263" r:id="rId7"/>
    <p:sldId id="265" r:id="rId8"/>
    <p:sldId id="268" r:id="rId9"/>
    <p:sldId id="267" r:id="rId10"/>
    <p:sldId id="269" r:id="rId11"/>
    <p:sldId id="270" r:id="rId12"/>
    <p:sldId id="271" r:id="rId13"/>
    <p:sldId id="275" r:id="rId14"/>
    <p:sldId id="276" r:id="rId15"/>
    <p:sldId id="277" r:id="rId16"/>
    <p:sldId id="278" r:id="rId17"/>
    <p:sldId id="279" r:id="rId18"/>
    <p:sldId id="280" r:id="rId19"/>
    <p:sldId id="281" r:id="rId20"/>
    <p:sldId id="282" r:id="rId21"/>
    <p:sldId id="283" r:id="rId22"/>
    <p:sldId id="284" r:id="rId23"/>
    <p:sldId id="285" r:id="rId24"/>
    <p:sldId id="286" r:id="rId25"/>
    <p:sldId id="287" r:id="rId26"/>
    <p:sldId id="288" r:id="rId27"/>
    <p:sldId id="289" r:id="rId28"/>
    <p:sldId id="290" r:id="rId29"/>
    <p:sldId id="291" r:id="rId30"/>
  </p:sldIdLst>
  <p:sldSz cx="9144000" cy="5143500" type="screen16x9"/>
  <p:notesSz cx="6858000" cy="9144000"/>
  <p:embeddedFontLst>
    <p:embeddedFont>
      <p:font typeface="Open Sans" panose="020B0606030504020204" pitchFamily="34" charset="0"/>
      <p:regular r:id="rId32"/>
      <p:bold r:id="rId33"/>
      <p:italic r:id="rId34"/>
      <p:boldItalic r:id="rId35"/>
    </p:embeddedFont>
    <p:embeddedFont>
      <p:font typeface="Open Sans Light" panose="020B0606030504020204" pitchFamily="34"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6132107-9968-4529-8D7F-A200421C30BD}">
  <a:tblStyle styleId="{16132107-9968-4529-8D7F-A200421C30B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95018"/>
  </p:normalViewPr>
  <p:slideViewPr>
    <p:cSldViewPr snapToGrid="0">
      <p:cViewPr varScale="1">
        <p:scale>
          <a:sx n="121" d="100"/>
          <a:sy n="121" d="100"/>
        </p:scale>
        <p:origin x="824" y="1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8.fntdata"/><Relationship Id="rId21" Type="http://schemas.openxmlformats.org/officeDocument/2006/relationships/slide" Target="slides/slide19.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5.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57515110cb_1_4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g57515110cb_1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3c535a6a2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3c535a6a2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63c535a6a2_0_5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[ALL PARTICIPATION]</a:t>
            </a:r>
            <a:endParaRPr/>
          </a:p>
        </p:txBody>
      </p:sp>
      <p:sp>
        <p:nvSpPr>
          <p:cNvPr id="157" name="Google Shape;157;g63c535a6a2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63c535a6a2_0_7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172" name="Google Shape;172;g63c535a6a2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63c535a6a2_0_36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[ALL PARTICIPATION]</a:t>
            </a:r>
            <a:endParaRPr/>
          </a:p>
        </p:txBody>
      </p:sp>
      <p:sp>
        <p:nvSpPr>
          <p:cNvPr id="182" name="Google Shape;182;g63c535a6a2_0_3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62a7771621_0_24: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199" name="Google Shape;199;g62a7771621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63c535a6a2_0_3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24" name="Google Shape;224;g63c535a6a2_0_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6473e69d8f_0_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16" name="Google Shape;216;g6473e69d8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639711a67d_1_1268: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[ALL PARTICIPATION]</a:t>
            </a:r>
            <a:endParaRPr/>
          </a:p>
        </p:txBody>
      </p:sp>
      <p:sp>
        <p:nvSpPr>
          <p:cNvPr id="232" name="Google Shape;232;g639711a67d_1_12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6463c6be41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6463c6be4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639711a67d_1_12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639711a67d_1_12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6463c6be41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6463c6be41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62a7771621_0_3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[ALL PARTICIPATION]</a:t>
            </a:r>
            <a:endParaRPr/>
          </a:p>
        </p:txBody>
      </p:sp>
      <p:sp>
        <p:nvSpPr>
          <p:cNvPr id="291" name="Google Shape;291;g62a7771621_0_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63c535a6a2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63c535a6a2_0_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61265ad5f5_0_9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g61265ad5f5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63c535a6a2_0_3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63c535a6a2_0_3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g639711a67d_1_124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g639711a67d_1_1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63c535a6a2_0_3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63c535a6a2_0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639711a67d_1_125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g639711a67d_1_1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62a7771621_0_7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[ALL PARTICIPATION]</a:t>
            </a:r>
            <a:endParaRPr/>
          </a:p>
        </p:txBody>
      </p:sp>
      <p:sp>
        <p:nvSpPr>
          <p:cNvPr id="349" name="Google Shape;349;g62a7771621_0_7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63c535a6a2_0_3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63c535a6a2_0_3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63c535a6a2_0_388: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65" name="Google Shape;365;g63c535a6a2_0_3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g62a7771621_0_9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73" name="Google Shape;373;g62a7771621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645f63b28d_0_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83" name="Google Shape;383;g645f63b28d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2a7771621_0_10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91" name="Google Shape;391;g62a7771621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645f63b28d_0_14: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401" name="Google Shape;401;g645f63b28d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62a7771621_0_8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409" name="Google Shape;409;g62a7771621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645f63b28d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419" name="Google Shape;419;g645f63b28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54"/>
        <p:cNvGrpSpPr/>
        <p:nvPr/>
      </p:nvGrpSpPr>
      <p:grpSpPr>
        <a:xfrm>
          <a:off x="0" y="0"/>
          <a:ext cx="0" cy="0"/>
          <a:chOff x="0" y="0"/>
          <a:chExt cx="0" cy="0"/>
        </a:xfrm>
      </p:grpSpPr>
      <p:pic>
        <p:nvPicPr>
          <p:cNvPr id="55" name="Google Shape;55;p14"/>
          <p:cNvPicPr preferRelativeResize="0"/>
          <p:nvPr/>
        </p:nvPicPr>
        <p:blipFill rotWithShape="1">
          <a:blip r:embed="rId2">
            <a:alphaModFix/>
          </a:blip>
          <a:srcRect r="7800" b="7535"/>
          <a:stretch/>
        </p:blipFill>
        <p:spPr>
          <a:xfrm>
            <a:off x="6579650" y="2571750"/>
            <a:ext cx="2564400" cy="2571900"/>
          </a:xfrm>
          <a:prstGeom prst="rect">
            <a:avLst/>
          </a:prstGeom>
          <a:noFill/>
          <a:ln>
            <a:noFill/>
          </a:ln>
        </p:spPr>
      </p:pic>
      <p:sp>
        <p:nvSpPr>
          <p:cNvPr id="56" name="Google Shape;56;p14"/>
          <p:cNvSpPr txBox="1">
            <a:spLocks noGrp="1"/>
          </p:cNvSpPr>
          <p:nvPr>
            <p:ph type="title"/>
          </p:nvPr>
        </p:nvSpPr>
        <p:spPr>
          <a:xfrm>
            <a:off x="457200" y="834727"/>
            <a:ext cx="8229600" cy="1389300"/>
          </a:xfrm>
          <a:prstGeom prst="rect">
            <a:avLst/>
          </a:prstGeom>
          <a:noFill/>
          <a:ln>
            <a:noFill/>
          </a:ln>
        </p:spPr>
        <p:txBody>
          <a:bodyPr spcFirstLastPara="1" wrap="square" lIns="34275" tIns="34275" rIns="34275" bIns="34275" anchor="b" anchorCtr="0">
            <a:noAutofit/>
          </a:bodyPr>
          <a:lstStyle>
            <a:lvl1pPr marL="0" marR="0" lvl="0" indent="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57" name="Google Shape;57;p14"/>
          <p:cNvSpPr txBox="1">
            <a:spLocks noGrp="1"/>
          </p:cNvSpPr>
          <p:nvPr>
            <p:ph type="body" idx="1"/>
          </p:nvPr>
        </p:nvSpPr>
        <p:spPr>
          <a:xfrm>
            <a:off x="457200" y="2195513"/>
            <a:ext cx="5038800" cy="10035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1pPr>
            <a:lvl2pPr marL="914400" marR="0" lvl="1"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2pPr>
            <a:lvl3pPr marL="1371600" marR="0" lvl="2"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3pPr>
            <a:lvl4pPr marL="1828800" marR="0" lvl="3"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4pPr>
            <a:lvl5pPr marL="2286000" marR="0" lvl="4"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9pPr>
          </a:lstStyle>
          <a:p>
            <a:endParaRPr/>
          </a:p>
        </p:txBody>
      </p:sp>
      <p:sp>
        <p:nvSpPr>
          <p:cNvPr id="58" name="Google Shape;58;p14"/>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gue" type="tx">
  <p:cSld name="TITLE_AND_BODY">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457200" y="1295400"/>
            <a:ext cx="8229600" cy="1390800"/>
          </a:xfrm>
          <a:prstGeom prst="rect">
            <a:avLst/>
          </a:prstGeom>
          <a:noFill/>
          <a:ln>
            <a:noFill/>
          </a:ln>
        </p:spPr>
        <p:txBody>
          <a:bodyPr spcFirstLastPara="1" wrap="square" lIns="34275" tIns="34275" rIns="34275" bIns="34275" anchor="b" anchorCtr="0">
            <a:noAutofit/>
          </a:bodyPr>
          <a:lstStyle>
            <a:lvl1pPr marL="0" marR="0" lvl="0" indent="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61" name="Google Shape;61;p15"/>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p:cSld name="Title">
    <p:bg>
      <p:bgPr>
        <a:solidFill>
          <a:srgbClr val="FFFFFF"/>
        </a:solidFill>
        <a:effectLst/>
      </p:bgPr>
    </p:bg>
    <p:spTree>
      <p:nvGrpSpPr>
        <p:cNvPr id="1" name="Shape 62"/>
        <p:cNvGrpSpPr/>
        <p:nvPr/>
      </p:nvGrpSpPr>
      <p:grpSpPr>
        <a:xfrm>
          <a:off x="0" y="0"/>
          <a:ext cx="0" cy="0"/>
          <a:chOff x="0" y="0"/>
          <a:chExt cx="0" cy="0"/>
        </a:xfrm>
      </p:grpSpPr>
      <p:sp>
        <p:nvSpPr>
          <p:cNvPr id="63" name="Google Shape;63;p16"/>
          <p:cNvSpPr txBox="1">
            <a:spLocks noGrp="1"/>
          </p:cNvSpPr>
          <p:nvPr>
            <p:ph type="body" idx="1"/>
          </p:nvPr>
        </p:nvSpPr>
        <p:spPr>
          <a:xfrm>
            <a:off x="457200" y="914251"/>
            <a:ext cx="8229600" cy="3096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64" name="Google Shape;64;p16"/>
          <p:cNvSpPr txBox="1">
            <a:spLocks noGrp="1"/>
          </p:cNvSpPr>
          <p:nvPr>
            <p:ph type="body" idx="2"/>
          </p:nvPr>
        </p:nvSpPr>
        <p:spPr>
          <a:xfrm>
            <a:off x="457200" y="4914900"/>
            <a:ext cx="3957600" cy="1143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0"/>
              </a:spcBef>
              <a:spcAft>
                <a:spcPts val="0"/>
              </a:spcAft>
              <a:buClr>
                <a:srgbClr val="7D97AD"/>
              </a:buClr>
              <a:buSzPts val="500"/>
              <a:buFont typeface="Open Sans"/>
              <a:buNone/>
              <a:defRPr sz="700" b="0" i="0" u="none" strike="noStrike" cap="none">
                <a:solidFill>
                  <a:srgbClr val="7D97AD"/>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65" name="Google Shape;65;p16"/>
          <p:cNvSpPr txBox="1">
            <a:spLocks noGrp="1"/>
          </p:cNvSpPr>
          <p:nvPr>
            <p:ph type="title"/>
          </p:nvPr>
        </p:nvSpPr>
        <p:spPr>
          <a:xfrm>
            <a:off x="457200" y="304800"/>
            <a:ext cx="8229600" cy="595200"/>
          </a:xfrm>
          <a:prstGeom prst="rect">
            <a:avLst/>
          </a:prstGeom>
          <a:noFill/>
          <a:ln>
            <a:noFill/>
          </a:ln>
        </p:spPr>
        <p:txBody>
          <a:bodyPr spcFirstLastPara="1" wrap="square" lIns="34275" tIns="34275" rIns="34275" bIns="34275" anchor="t" anchorCtr="0">
            <a:noAutofit/>
          </a:bodyPr>
          <a:lstStyle>
            <a:lvl1pPr marL="0" marR="0" lvl="0" indent="0" algn="l" rtl="0">
              <a:lnSpc>
                <a:spcPct val="100000"/>
              </a:lnSpc>
              <a:spcBef>
                <a:spcPts val="0"/>
              </a:spcBef>
              <a:spcAft>
                <a:spcPts val="0"/>
              </a:spcAft>
              <a:buClr>
                <a:srgbClr val="2D3D4A"/>
              </a:buClr>
              <a:buSzPts val="500"/>
              <a:buFont typeface="Open Sans"/>
              <a:buNone/>
              <a:defRPr sz="3600" b="0" i="0" u="none" strike="noStrike" cap="none">
                <a:solidFill>
                  <a:srgbClr val="2D3D4A"/>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66" name="Google Shape;66;p16"/>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lvl1pPr marL="0" marR="0" lvl="0"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1pPr>
            <a:lvl2pPr marL="0" marR="0" lvl="1"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2pPr>
            <a:lvl3pPr marL="0" marR="0" lvl="2"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3pPr>
            <a:lvl4pPr marL="0" marR="0" lvl="3"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4pPr>
            <a:lvl5pPr marL="0" marR="0" lvl="4"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5pPr>
            <a:lvl6pPr marL="0" marR="0" lvl="5"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6pPr>
            <a:lvl7pPr marL="0" marR="0" lvl="6"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7pPr>
            <a:lvl8pPr marL="0" marR="0" lvl="7"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8pPr>
            <a:lvl9pPr marL="0" marR="0" lvl="8"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solidFill>
                <a:srgbClr val="929292"/>
              </a:solidFill>
            </a:endParaRPr>
          </a:p>
        </p:txBody>
      </p:sp>
      <p:sp>
        <p:nvSpPr>
          <p:cNvPr id="67" name="Google Shape;67;p16"/>
          <p:cNvSpPr txBox="1">
            <a:spLocks noGrp="1"/>
          </p:cNvSpPr>
          <p:nvPr>
            <p:ph type="body" idx="3"/>
          </p:nvPr>
        </p:nvSpPr>
        <p:spPr>
          <a:xfrm>
            <a:off x="457200" y="1715877"/>
            <a:ext cx="8229600" cy="2857800"/>
          </a:xfrm>
          <a:prstGeom prst="rect">
            <a:avLst/>
          </a:prstGeom>
          <a:noFill/>
          <a:ln>
            <a:noFill/>
          </a:ln>
        </p:spPr>
        <p:txBody>
          <a:bodyPr spcFirstLastPara="1" wrap="square" lIns="34275" tIns="34275" rIns="34275" bIns="34275" anchor="ctr" anchorCtr="0">
            <a:noAutofit/>
          </a:bodyPr>
          <a:lstStyle>
            <a:lvl1pPr marL="457200" marR="0" lvl="0"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gue with Subtitle">
  <p:cSld name="Segue with Subtitle">
    <p:spTree>
      <p:nvGrpSpPr>
        <p:cNvPr id="1" name="Shape 68"/>
        <p:cNvGrpSpPr/>
        <p:nvPr/>
      </p:nvGrpSpPr>
      <p:grpSpPr>
        <a:xfrm>
          <a:off x="0" y="0"/>
          <a:ext cx="0" cy="0"/>
          <a:chOff x="0" y="0"/>
          <a:chExt cx="0" cy="0"/>
        </a:xfrm>
      </p:grpSpPr>
      <p:sp>
        <p:nvSpPr>
          <p:cNvPr id="69" name="Google Shape;69;p17"/>
          <p:cNvSpPr txBox="1">
            <a:spLocks noGrp="1"/>
          </p:cNvSpPr>
          <p:nvPr>
            <p:ph type="title"/>
          </p:nvPr>
        </p:nvSpPr>
        <p:spPr>
          <a:xfrm>
            <a:off x="457200" y="1295400"/>
            <a:ext cx="8229600" cy="1390800"/>
          </a:xfrm>
          <a:prstGeom prst="rect">
            <a:avLst/>
          </a:prstGeom>
          <a:noFill/>
          <a:ln>
            <a:noFill/>
          </a:ln>
        </p:spPr>
        <p:txBody>
          <a:bodyPr spcFirstLastPara="1" wrap="square" lIns="34275" tIns="34275" rIns="34275" bIns="34275" anchor="b" anchorCtr="0">
            <a:noAutofit/>
          </a:bodyPr>
          <a:lstStyle>
            <a:lvl1pPr marL="0" marR="0" lvl="0" indent="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70" name="Google Shape;70;p17"/>
          <p:cNvSpPr txBox="1">
            <a:spLocks noGrp="1"/>
          </p:cNvSpPr>
          <p:nvPr>
            <p:ph type="body" idx="1"/>
          </p:nvPr>
        </p:nvSpPr>
        <p:spPr>
          <a:xfrm>
            <a:off x="457200" y="2633663"/>
            <a:ext cx="8229600" cy="13908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1pPr>
            <a:lvl2pPr marL="914400" marR="0" lvl="1"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2pPr>
            <a:lvl3pPr marL="1371600" marR="0" lvl="2"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3pPr>
            <a:lvl4pPr marL="1828800" marR="0" lvl="3"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4pPr>
            <a:lvl5pPr marL="2286000" marR="0" lvl="4" indent="-228600" algn="l" rtl="0">
              <a:lnSpc>
                <a:spcPct val="131250"/>
              </a:lnSpc>
              <a:spcBef>
                <a:spcPts val="0"/>
              </a:spcBef>
              <a:spcAft>
                <a:spcPts val="0"/>
              </a:spcAft>
              <a:buClr>
                <a:srgbClr val="9CBDD8"/>
              </a:buClr>
              <a:buSzPts val="500"/>
              <a:buFont typeface="Open Sans"/>
              <a:buNone/>
              <a:defRPr sz="2400" b="0" i="0" u="none" strike="noStrike" cap="none">
                <a:solidFill>
                  <a:srgbClr val="9CBDD8"/>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71" name="Google Shape;71;p17"/>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gue with Subtitle Light">
  <p:cSld name="Segue with Subtitle Light">
    <p:bg>
      <p:bgPr>
        <a:solidFill>
          <a:srgbClr val="02B3E4"/>
        </a:solidFill>
        <a:effectLst/>
      </p:bgPr>
    </p:bg>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457200" y="1295400"/>
            <a:ext cx="8229600" cy="1390800"/>
          </a:xfrm>
          <a:prstGeom prst="rect">
            <a:avLst/>
          </a:prstGeom>
          <a:noFill/>
          <a:ln>
            <a:noFill/>
          </a:ln>
        </p:spPr>
        <p:txBody>
          <a:bodyPr spcFirstLastPara="1" wrap="square" lIns="34275" tIns="34275" rIns="34275" bIns="34275" anchor="b" anchorCtr="0">
            <a:noAutofit/>
          </a:bodyPr>
          <a:lstStyle>
            <a:lvl1pPr marL="0" marR="0" lvl="0" indent="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74" name="Google Shape;74;p18"/>
          <p:cNvSpPr txBox="1">
            <a:spLocks noGrp="1"/>
          </p:cNvSpPr>
          <p:nvPr>
            <p:ph type="body" idx="1"/>
          </p:nvPr>
        </p:nvSpPr>
        <p:spPr>
          <a:xfrm>
            <a:off x="457200" y="2633663"/>
            <a:ext cx="8229600" cy="13908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31250"/>
              </a:lnSpc>
              <a:spcBef>
                <a:spcPts val="0"/>
              </a:spcBef>
              <a:spcAft>
                <a:spcPts val="0"/>
              </a:spcAft>
              <a:buClr>
                <a:srgbClr val="FAFBFC"/>
              </a:buClr>
              <a:buSzPts val="500"/>
              <a:buFont typeface="Open Sans"/>
              <a:buNone/>
              <a:defRPr sz="2400" b="0" i="0" u="none" strike="noStrike" cap="none">
                <a:solidFill>
                  <a:srgbClr val="FAFBFC"/>
                </a:solidFill>
                <a:latin typeface="Open Sans"/>
                <a:ea typeface="Open Sans"/>
                <a:cs typeface="Open Sans"/>
                <a:sym typeface="Open Sans"/>
              </a:defRPr>
            </a:lvl1pPr>
            <a:lvl2pPr marL="914400" marR="0" lvl="1" indent="-228600" algn="l" rtl="0">
              <a:lnSpc>
                <a:spcPct val="131250"/>
              </a:lnSpc>
              <a:spcBef>
                <a:spcPts val="0"/>
              </a:spcBef>
              <a:spcAft>
                <a:spcPts val="0"/>
              </a:spcAft>
              <a:buClr>
                <a:srgbClr val="FAFBFC"/>
              </a:buClr>
              <a:buSzPts val="500"/>
              <a:buFont typeface="Open Sans"/>
              <a:buNone/>
              <a:defRPr sz="2400" b="0" i="0" u="none" strike="noStrike" cap="none">
                <a:solidFill>
                  <a:srgbClr val="FAFBFC"/>
                </a:solidFill>
                <a:latin typeface="Open Sans"/>
                <a:ea typeface="Open Sans"/>
                <a:cs typeface="Open Sans"/>
                <a:sym typeface="Open Sans"/>
              </a:defRPr>
            </a:lvl2pPr>
            <a:lvl3pPr marL="1371600" marR="0" lvl="2" indent="-228600" algn="l" rtl="0">
              <a:lnSpc>
                <a:spcPct val="131250"/>
              </a:lnSpc>
              <a:spcBef>
                <a:spcPts val="0"/>
              </a:spcBef>
              <a:spcAft>
                <a:spcPts val="0"/>
              </a:spcAft>
              <a:buClr>
                <a:srgbClr val="FAFBFC"/>
              </a:buClr>
              <a:buSzPts val="500"/>
              <a:buFont typeface="Open Sans"/>
              <a:buNone/>
              <a:defRPr sz="2400" b="0" i="0" u="none" strike="noStrike" cap="none">
                <a:solidFill>
                  <a:srgbClr val="FAFBFC"/>
                </a:solidFill>
                <a:latin typeface="Open Sans"/>
                <a:ea typeface="Open Sans"/>
                <a:cs typeface="Open Sans"/>
                <a:sym typeface="Open Sans"/>
              </a:defRPr>
            </a:lvl3pPr>
            <a:lvl4pPr marL="1828800" marR="0" lvl="3" indent="-228600" algn="l" rtl="0">
              <a:lnSpc>
                <a:spcPct val="131250"/>
              </a:lnSpc>
              <a:spcBef>
                <a:spcPts val="0"/>
              </a:spcBef>
              <a:spcAft>
                <a:spcPts val="0"/>
              </a:spcAft>
              <a:buClr>
                <a:srgbClr val="FAFBFC"/>
              </a:buClr>
              <a:buSzPts val="500"/>
              <a:buFont typeface="Open Sans"/>
              <a:buNone/>
              <a:defRPr sz="2400" b="0" i="0" u="none" strike="noStrike" cap="none">
                <a:solidFill>
                  <a:srgbClr val="FAFBFC"/>
                </a:solidFill>
                <a:latin typeface="Open Sans"/>
                <a:ea typeface="Open Sans"/>
                <a:cs typeface="Open Sans"/>
                <a:sym typeface="Open Sans"/>
              </a:defRPr>
            </a:lvl4pPr>
            <a:lvl5pPr marL="2286000" marR="0" lvl="4" indent="-228600" algn="l" rtl="0">
              <a:lnSpc>
                <a:spcPct val="131250"/>
              </a:lnSpc>
              <a:spcBef>
                <a:spcPts val="0"/>
              </a:spcBef>
              <a:spcAft>
                <a:spcPts val="0"/>
              </a:spcAft>
              <a:buClr>
                <a:srgbClr val="FAFBFC"/>
              </a:buClr>
              <a:buSzPts val="500"/>
              <a:buFont typeface="Open Sans"/>
              <a:buNone/>
              <a:defRPr sz="2400" b="0" i="0" u="none" strike="noStrike" cap="none">
                <a:solidFill>
                  <a:srgbClr val="FAFBFC"/>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75" name="Google Shape;75;p18"/>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gue Light">
  <p:cSld name="Segue Light">
    <p:bg>
      <p:bgPr>
        <a:solidFill>
          <a:srgbClr val="02B3E4"/>
        </a:solidFill>
        <a:effectLst/>
      </p:bgPr>
    </p:bg>
    <p:spTree>
      <p:nvGrpSpPr>
        <p:cNvPr id="1" name="Shape 76"/>
        <p:cNvGrpSpPr/>
        <p:nvPr/>
      </p:nvGrpSpPr>
      <p:grpSpPr>
        <a:xfrm>
          <a:off x="0" y="0"/>
          <a:ext cx="0" cy="0"/>
          <a:chOff x="0" y="0"/>
          <a:chExt cx="0" cy="0"/>
        </a:xfrm>
      </p:grpSpPr>
      <p:sp>
        <p:nvSpPr>
          <p:cNvPr id="77" name="Google Shape;77;p19"/>
          <p:cNvSpPr txBox="1">
            <a:spLocks noGrp="1"/>
          </p:cNvSpPr>
          <p:nvPr>
            <p:ph type="title"/>
          </p:nvPr>
        </p:nvSpPr>
        <p:spPr>
          <a:xfrm>
            <a:off x="457200" y="1295400"/>
            <a:ext cx="8229600" cy="1390800"/>
          </a:xfrm>
          <a:prstGeom prst="rect">
            <a:avLst/>
          </a:prstGeom>
          <a:noFill/>
          <a:ln>
            <a:noFill/>
          </a:ln>
        </p:spPr>
        <p:txBody>
          <a:bodyPr spcFirstLastPara="1" wrap="square" lIns="34275" tIns="34275" rIns="34275" bIns="34275" anchor="b" anchorCtr="0">
            <a:noAutofit/>
          </a:bodyPr>
          <a:lstStyle>
            <a:lvl1pPr marL="0" marR="0" lvl="0" indent="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78" name="Google Shape;78;p19"/>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Quote">
  <p:cSld name="Quote">
    <p:bg>
      <p:bgPr>
        <a:solidFill>
          <a:srgbClr val="FFFFFF"/>
        </a:solidFill>
        <a:effectLst/>
      </p:bgPr>
    </p:bg>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457200" y="667978"/>
            <a:ext cx="8229600" cy="2665800"/>
          </a:xfrm>
          <a:prstGeom prst="rect">
            <a:avLst/>
          </a:prstGeom>
          <a:noFill/>
          <a:ln>
            <a:noFill/>
          </a:ln>
        </p:spPr>
        <p:txBody>
          <a:bodyPr spcFirstLastPara="1" wrap="square" lIns="34275" tIns="34275" rIns="34275" bIns="34275" anchor="b" anchorCtr="0">
            <a:noAutofit/>
          </a:bodyPr>
          <a:lstStyle>
            <a:lvl1pPr marL="152400" marR="0" lvl="0" indent="-152400" algn="l" rtl="0">
              <a:lnSpc>
                <a:spcPct val="100000"/>
              </a:lnSpc>
              <a:spcBef>
                <a:spcPts val="0"/>
              </a:spcBef>
              <a:spcAft>
                <a:spcPts val="0"/>
              </a:spcAft>
              <a:buClr>
                <a:srgbClr val="2D3D4A"/>
              </a:buClr>
              <a:buSzPts val="500"/>
              <a:buFont typeface="Open Sans"/>
              <a:buNone/>
              <a:defRPr sz="3600" b="0" i="1" u="none" strike="noStrike" cap="none">
                <a:solidFill>
                  <a:srgbClr val="2D3D4A"/>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81" name="Google Shape;81;p20"/>
          <p:cNvSpPr txBox="1">
            <a:spLocks noGrp="1"/>
          </p:cNvSpPr>
          <p:nvPr>
            <p:ph type="body" idx="1"/>
          </p:nvPr>
        </p:nvSpPr>
        <p:spPr>
          <a:xfrm>
            <a:off x="609600" y="3419475"/>
            <a:ext cx="8077200" cy="7449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35416"/>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1pPr>
            <a:lvl2pPr marL="914400" marR="0" lvl="1" indent="-228600" algn="l" rtl="0">
              <a:lnSpc>
                <a:spcPct val="135416"/>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2pPr>
            <a:lvl3pPr marL="1371600" marR="0" lvl="2" indent="-228600" algn="l" rtl="0">
              <a:lnSpc>
                <a:spcPct val="135416"/>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3pPr>
            <a:lvl4pPr marL="1828800" marR="0" lvl="3" indent="-228600" algn="l" rtl="0">
              <a:lnSpc>
                <a:spcPct val="135416"/>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4pPr>
            <a:lvl5pPr marL="2286000" marR="0" lvl="4" indent="-228600" algn="l" rtl="0">
              <a:lnSpc>
                <a:spcPct val="135416"/>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82" name="Google Shape;82;p20"/>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with Content">
  <p:cSld name="Title with Content">
    <p:bg>
      <p:bgPr>
        <a:solidFill>
          <a:srgbClr val="FFFFFF"/>
        </a:solidFill>
        <a:effectLst/>
      </p:bgPr>
    </p:bg>
    <p:spTree>
      <p:nvGrpSpPr>
        <p:cNvPr id="1" name="Shape 83"/>
        <p:cNvGrpSpPr/>
        <p:nvPr/>
      </p:nvGrpSpPr>
      <p:grpSpPr>
        <a:xfrm>
          <a:off x="0" y="0"/>
          <a:ext cx="0" cy="0"/>
          <a:chOff x="0" y="0"/>
          <a:chExt cx="0" cy="0"/>
        </a:xfrm>
      </p:grpSpPr>
      <p:sp>
        <p:nvSpPr>
          <p:cNvPr id="84" name="Google Shape;84;p21"/>
          <p:cNvSpPr txBox="1">
            <a:spLocks noGrp="1"/>
          </p:cNvSpPr>
          <p:nvPr>
            <p:ph type="body" idx="1"/>
          </p:nvPr>
        </p:nvSpPr>
        <p:spPr>
          <a:xfrm>
            <a:off x="457200" y="914251"/>
            <a:ext cx="8229600" cy="3096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85" name="Google Shape;85;p21"/>
          <p:cNvSpPr txBox="1">
            <a:spLocks noGrp="1"/>
          </p:cNvSpPr>
          <p:nvPr>
            <p:ph type="body" idx="2"/>
          </p:nvPr>
        </p:nvSpPr>
        <p:spPr>
          <a:xfrm>
            <a:off x="457200" y="4914900"/>
            <a:ext cx="3957600" cy="1143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0"/>
              </a:spcBef>
              <a:spcAft>
                <a:spcPts val="0"/>
              </a:spcAft>
              <a:buClr>
                <a:srgbClr val="7D97AD"/>
              </a:buClr>
              <a:buSzPts val="500"/>
              <a:buFont typeface="Open Sans"/>
              <a:buNone/>
              <a:defRPr sz="700" b="0" i="0" u="none" strike="noStrike" cap="none">
                <a:solidFill>
                  <a:srgbClr val="7D97AD"/>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86" name="Google Shape;86;p21"/>
          <p:cNvSpPr txBox="1">
            <a:spLocks noGrp="1"/>
          </p:cNvSpPr>
          <p:nvPr>
            <p:ph type="title"/>
          </p:nvPr>
        </p:nvSpPr>
        <p:spPr>
          <a:xfrm>
            <a:off x="457200" y="304800"/>
            <a:ext cx="8229600" cy="595200"/>
          </a:xfrm>
          <a:prstGeom prst="rect">
            <a:avLst/>
          </a:prstGeom>
          <a:noFill/>
          <a:ln>
            <a:noFill/>
          </a:ln>
        </p:spPr>
        <p:txBody>
          <a:bodyPr spcFirstLastPara="1" wrap="square" lIns="34275" tIns="34275" rIns="34275" bIns="34275" anchor="t" anchorCtr="0">
            <a:noAutofit/>
          </a:bodyPr>
          <a:lstStyle>
            <a:lvl1pPr marL="0" marR="0" lvl="0" indent="0" algn="l" rtl="0">
              <a:lnSpc>
                <a:spcPct val="100000"/>
              </a:lnSpc>
              <a:spcBef>
                <a:spcPts val="0"/>
              </a:spcBef>
              <a:spcAft>
                <a:spcPts val="0"/>
              </a:spcAft>
              <a:buClr>
                <a:srgbClr val="2D3D4A"/>
              </a:buClr>
              <a:buSzPts val="500"/>
              <a:buFont typeface="Open Sans"/>
              <a:buNone/>
              <a:defRPr sz="3600" b="0" i="0" u="none" strike="noStrike" cap="none">
                <a:solidFill>
                  <a:srgbClr val="2D3D4A"/>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87" name="Google Shape;87;p21"/>
          <p:cNvSpPr txBox="1">
            <a:spLocks noGrp="1"/>
          </p:cNvSpPr>
          <p:nvPr>
            <p:ph type="body" idx="3"/>
          </p:nvPr>
        </p:nvSpPr>
        <p:spPr>
          <a:xfrm>
            <a:off x="457200" y="1714500"/>
            <a:ext cx="8229600" cy="28575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700"/>
              </a:spcBef>
              <a:spcAft>
                <a:spcPts val="0"/>
              </a:spcAft>
              <a:buClr>
                <a:srgbClr val="2D3D4A"/>
              </a:buClr>
              <a:buSzPts val="1400"/>
              <a:buFont typeface="Cabin"/>
              <a:buChar char="•"/>
              <a:defRPr sz="1800" b="0" i="0" u="none" strike="noStrike" cap="none">
                <a:solidFill>
                  <a:srgbClr val="2D3D4A"/>
                </a:solidFill>
                <a:latin typeface="Open Sans"/>
                <a:ea typeface="Open Sans"/>
                <a:cs typeface="Open Sans"/>
                <a:sym typeface="Open Sans"/>
              </a:defRPr>
            </a:lvl1pPr>
            <a:lvl2pPr marL="914400" marR="0" lvl="1" indent="-311150" algn="l" rtl="0">
              <a:lnSpc>
                <a:spcPct val="100000"/>
              </a:lnSpc>
              <a:spcBef>
                <a:spcPts val="700"/>
              </a:spcBef>
              <a:spcAft>
                <a:spcPts val="0"/>
              </a:spcAft>
              <a:buClr>
                <a:srgbClr val="2D3D4A"/>
              </a:buClr>
              <a:buSzPts val="1300"/>
              <a:buFont typeface="Open Sans"/>
              <a:buChar char="–"/>
              <a:defRPr sz="1600" b="0" i="0" u="none" strike="noStrike" cap="none">
                <a:solidFill>
                  <a:srgbClr val="2D3D4A"/>
                </a:solidFill>
                <a:latin typeface="Open Sans"/>
                <a:ea typeface="Open Sans"/>
                <a:cs typeface="Open Sans"/>
                <a:sym typeface="Open Sans"/>
              </a:defRPr>
            </a:lvl2pPr>
            <a:lvl3pPr marL="1371600" marR="0" lvl="2" indent="-298450" algn="l" rtl="0">
              <a:lnSpc>
                <a:spcPct val="100000"/>
              </a:lnSpc>
              <a:spcBef>
                <a:spcPts val="700"/>
              </a:spcBef>
              <a:spcAft>
                <a:spcPts val="0"/>
              </a:spcAft>
              <a:buClr>
                <a:srgbClr val="2D3D4A"/>
              </a:buClr>
              <a:buSzPts val="1100"/>
              <a:buFont typeface="Open Sans"/>
              <a:buChar char="–"/>
              <a:defRPr sz="1400" b="0" i="0" u="none" strike="noStrike" cap="none">
                <a:solidFill>
                  <a:srgbClr val="2D3D4A"/>
                </a:solidFill>
                <a:latin typeface="Open Sans"/>
                <a:ea typeface="Open Sans"/>
                <a:cs typeface="Open Sans"/>
                <a:sym typeface="Open Sans"/>
              </a:defRPr>
            </a:lvl3pPr>
            <a:lvl4pPr marL="1828800" marR="0" lvl="3" indent="-298450" algn="l" rtl="0">
              <a:lnSpc>
                <a:spcPct val="100000"/>
              </a:lnSpc>
              <a:spcBef>
                <a:spcPts val="700"/>
              </a:spcBef>
              <a:spcAft>
                <a:spcPts val="0"/>
              </a:spcAft>
              <a:buClr>
                <a:srgbClr val="2D3D4A"/>
              </a:buClr>
              <a:buSzPts val="1100"/>
              <a:buFont typeface="Open Sans"/>
              <a:buChar char="–"/>
              <a:defRPr sz="1400" b="0" i="0" u="none" strike="noStrike" cap="none">
                <a:solidFill>
                  <a:srgbClr val="2D3D4A"/>
                </a:solidFill>
                <a:latin typeface="Open Sans"/>
                <a:ea typeface="Open Sans"/>
                <a:cs typeface="Open Sans"/>
                <a:sym typeface="Open Sans"/>
              </a:defRPr>
            </a:lvl4pPr>
            <a:lvl5pPr marL="2286000" marR="0" lvl="4" indent="-298450" algn="l" rtl="0">
              <a:lnSpc>
                <a:spcPct val="100000"/>
              </a:lnSpc>
              <a:spcBef>
                <a:spcPts val="700"/>
              </a:spcBef>
              <a:spcAft>
                <a:spcPts val="0"/>
              </a:spcAft>
              <a:buClr>
                <a:srgbClr val="2D3D4A"/>
              </a:buClr>
              <a:buSzPts val="1100"/>
              <a:buFont typeface="Open Sans"/>
              <a:buChar char="–"/>
              <a:defRPr sz="14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88" name="Google Shape;88;p21"/>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lvl1pPr marL="0" marR="0" lvl="0"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1pPr>
            <a:lvl2pPr marL="0" marR="0" lvl="1"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2pPr>
            <a:lvl3pPr marL="0" marR="0" lvl="2"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3pPr>
            <a:lvl4pPr marL="0" marR="0" lvl="3"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4pPr>
            <a:lvl5pPr marL="0" marR="0" lvl="4"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5pPr>
            <a:lvl6pPr marL="0" marR="0" lvl="5"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6pPr>
            <a:lvl7pPr marL="0" marR="0" lvl="6"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7pPr>
            <a:lvl8pPr marL="0" marR="0" lvl="7"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8pPr>
            <a:lvl9pPr marL="0" marR="0" lvl="8"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solidFill>
                <a:srgbClr val="929292"/>
              </a:solidFil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with Content &amp; Image">
  <p:cSld name="Title with Content &amp; Image">
    <p:bg>
      <p:bgPr>
        <a:solidFill>
          <a:srgbClr val="FFFFFF"/>
        </a:solidFill>
        <a:effectLst/>
      </p:bgPr>
    </p:bg>
    <p:spTree>
      <p:nvGrpSpPr>
        <p:cNvPr id="1" name="Shape 89"/>
        <p:cNvGrpSpPr/>
        <p:nvPr/>
      </p:nvGrpSpPr>
      <p:grpSpPr>
        <a:xfrm>
          <a:off x="0" y="0"/>
          <a:ext cx="0" cy="0"/>
          <a:chOff x="0" y="0"/>
          <a:chExt cx="0" cy="0"/>
        </a:xfrm>
      </p:grpSpPr>
      <p:sp>
        <p:nvSpPr>
          <p:cNvPr id="90" name="Google Shape;90;p22"/>
          <p:cNvSpPr txBox="1">
            <a:spLocks noGrp="1"/>
          </p:cNvSpPr>
          <p:nvPr>
            <p:ph type="body" idx="1"/>
          </p:nvPr>
        </p:nvSpPr>
        <p:spPr>
          <a:xfrm>
            <a:off x="457200" y="912875"/>
            <a:ext cx="8229600" cy="3096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0"/>
              </a:spcBef>
              <a:spcAft>
                <a:spcPts val="0"/>
              </a:spcAft>
              <a:buClr>
                <a:srgbClr val="02B3E4"/>
              </a:buClr>
              <a:buSzPts val="500"/>
              <a:buFont typeface="Open Sans"/>
              <a:buNone/>
              <a:defRPr sz="1800" b="0" i="0" u="none" strike="noStrike" cap="none">
                <a:solidFill>
                  <a:srgbClr val="02B3E4"/>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91" name="Google Shape;91;p22"/>
          <p:cNvSpPr txBox="1">
            <a:spLocks noGrp="1"/>
          </p:cNvSpPr>
          <p:nvPr>
            <p:ph type="body" idx="2"/>
          </p:nvPr>
        </p:nvSpPr>
        <p:spPr>
          <a:xfrm>
            <a:off x="457200" y="4914900"/>
            <a:ext cx="3957600" cy="1143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0"/>
              </a:spcBef>
              <a:spcAft>
                <a:spcPts val="0"/>
              </a:spcAft>
              <a:buClr>
                <a:srgbClr val="7D97AD"/>
              </a:buClr>
              <a:buSzPts val="500"/>
              <a:buFont typeface="Open Sans"/>
              <a:buNone/>
              <a:defRPr sz="700" b="0" i="0" u="none" strike="noStrike" cap="none">
                <a:solidFill>
                  <a:srgbClr val="7D97AD"/>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92" name="Google Shape;92;p22"/>
          <p:cNvSpPr txBox="1">
            <a:spLocks noGrp="1"/>
          </p:cNvSpPr>
          <p:nvPr>
            <p:ph type="title"/>
          </p:nvPr>
        </p:nvSpPr>
        <p:spPr>
          <a:xfrm>
            <a:off x="457200" y="304800"/>
            <a:ext cx="8229600" cy="593700"/>
          </a:xfrm>
          <a:prstGeom prst="rect">
            <a:avLst/>
          </a:prstGeom>
          <a:noFill/>
          <a:ln>
            <a:noFill/>
          </a:ln>
        </p:spPr>
        <p:txBody>
          <a:bodyPr spcFirstLastPara="1" wrap="square" lIns="34275" tIns="34275" rIns="34275" bIns="34275" anchor="t" anchorCtr="0">
            <a:noAutofit/>
          </a:bodyPr>
          <a:lstStyle>
            <a:lvl1pPr marL="0" marR="0" lvl="0" indent="0" algn="l" rtl="0">
              <a:lnSpc>
                <a:spcPct val="100000"/>
              </a:lnSpc>
              <a:spcBef>
                <a:spcPts val="0"/>
              </a:spcBef>
              <a:spcAft>
                <a:spcPts val="0"/>
              </a:spcAft>
              <a:buClr>
                <a:srgbClr val="2D3D4A"/>
              </a:buClr>
              <a:buSzPts val="500"/>
              <a:buFont typeface="Open Sans"/>
              <a:buNone/>
              <a:defRPr sz="3600" b="0" i="0" u="none" strike="noStrike" cap="none">
                <a:solidFill>
                  <a:srgbClr val="2D3D4A"/>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93" name="Google Shape;93;p22"/>
          <p:cNvSpPr txBox="1">
            <a:spLocks noGrp="1"/>
          </p:cNvSpPr>
          <p:nvPr>
            <p:ph type="body" idx="3"/>
          </p:nvPr>
        </p:nvSpPr>
        <p:spPr>
          <a:xfrm>
            <a:off x="457200" y="1714500"/>
            <a:ext cx="4025100" cy="28575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700"/>
              </a:spcBef>
              <a:spcAft>
                <a:spcPts val="0"/>
              </a:spcAft>
              <a:buClr>
                <a:srgbClr val="2D3D4A"/>
              </a:buClr>
              <a:buSzPts val="1400"/>
              <a:buFont typeface="Open Sans"/>
              <a:buChar char="•"/>
              <a:defRPr sz="1800" b="0" i="0" u="none" strike="noStrike" cap="none">
                <a:solidFill>
                  <a:srgbClr val="2D3D4A"/>
                </a:solidFill>
                <a:latin typeface="Open Sans"/>
                <a:ea typeface="Open Sans"/>
                <a:cs typeface="Open Sans"/>
                <a:sym typeface="Open Sans"/>
              </a:defRPr>
            </a:lvl1pPr>
            <a:lvl2pPr marL="914400" marR="0" lvl="1" indent="-311150" algn="l" rtl="0">
              <a:lnSpc>
                <a:spcPct val="100000"/>
              </a:lnSpc>
              <a:spcBef>
                <a:spcPts val="700"/>
              </a:spcBef>
              <a:spcAft>
                <a:spcPts val="0"/>
              </a:spcAft>
              <a:buClr>
                <a:srgbClr val="2D3D4A"/>
              </a:buClr>
              <a:buSzPts val="1300"/>
              <a:buFont typeface="Open Sans"/>
              <a:buChar char="–"/>
              <a:defRPr sz="1600" b="0" i="0" u="none" strike="noStrike" cap="none">
                <a:solidFill>
                  <a:srgbClr val="2D3D4A"/>
                </a:solidFill>
                <a:latin typeface="Open Sans"/>
                <a:ea typeface="Open Sans"/>
                <a:cs typeface="Open Sans"/>
                <a:sym typeface="Open Sans"/>
              </a:defRPr>
            </a:lvl2pPr>
            <a:lvl3pPr marL="1371600" marR="0" lvl="2" indent="-298450" algn="l" rtl="0">
              <a:lnSpc>
                <a:spcPct val="100000"/>
              </a:lnSpc>
              <a:spcBef>
                <a:spcPts val="700"/>
              </a:spcBef>
              <a:spcAft>
                <a:spcPts val="0"/>
              </a:spcAft>
              <a:buClr>
                <a:srgbClr val="2D3D4A"/>
              </a:buClr>
              <a:buSzPts val="1100"/>
              <a:buFont typeface="Open Sans"/>
              <a:buChar char="–"/>
              <a:defRPr sz="1400" b="0" i="0" u="none" strike="noStrike" cap="none">
                <a:solidFill>
                  <a:srgbClr val="2D3D4A"/>
                </a:solidFill>
                <a:latin typeface="Open Sans"/>
                <a:ea typeface="Open Sans"/>
                <a:cs typeface="Open Sans"/>
                <a:sym typeface="Open Sans"/>
              </a:defRPr>
            </a:lvl3pPr>
            <a:lvl4pPr marL="1828800" marR="0" lvl="3" indent="-298450" algn="l" rtl="0">
              <a:lnSpc>
                <a:spcPct val="100000"/>
              </a:lnSpc>
              <a:spcBef>
                <a:spcPts val="700"/>
              </a:spcBef>
              <a:spcAft>
                <a:spcPts val="0"/>
              </a:spcAft>
              <a:buClr>
                <a:srgbClr val="2D3D4A"/>
              </a:buClr>
              <a:buSzPts val="1100"/>
              <a:buFont typeface="Open Sans"/>
              <a:buChar char="–"/>
              <a:defRPr sz="1400" b="0" i="0" u="none" strike="noStrike" cap="none">
                <a:solidFill>
                  <a:srgbClr val="2D3D4A"/>
                </a:solidFill>
                <a:latin typeface="Open Sans"/>
                <a:ea typeface="Open Sans"/>
                <a:cs typeface="Open Sans"/>
                <a:sym typeface="Open Sans"/>
              </a:defRPr>
            </a:lvl4pPr>
            <a:lvl5pPr marL="2286000" marR="0" lvl="4" indent="-298450" algn="l" rtl="0">
              <a:lnSpc>
                <a:spcPct val="100000"/>
              </a:lnSpc>
              <a:spcBef>
                <a:spcPts val="700"/>
              </a:spcBef>
              <a:spcAft>
                <a:spcPts val="0"/>
              </a:spcAft>
              <a:buClr>
                <a:srgbClr val="2D3D4A"/>
              </a:buClr>
              <a:buSzPts val="1100"/>
              <a:buFont typeface="Open Sans"/>
              <a:buChar char="–"/>
              <a:defRPr sz="14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94" name="Google Shape;94;p22"/>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lvl1pPr marL="0" marR="0" lvl="0"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1pPr>
            <a:lvl2pPr marL="0" marR="0" lvl="1"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2pPr>
            <a:lvl3pPr marL="0" marR="0" lvl="2"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3pPr>
            <a:lvl4pPr marL="0" marR="0" lvl="3"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4pPr>
            <a:lvl5pPr marL="0" marR="0" lvl="4"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5pPr>
            <a:lvl6pPr marL="0" marR="0" lvl="5"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6pPr>
            <a:lvl7pPr marL="0" marR="0" lvl="6"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7pPr>
            <a:lvl8pPr marL="0" marR="0" lvl="7"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8pPr>
            <a:lvl9pPr marL="0" marR="0" lvl="8" indent="0" algn="ctr" rtl="0">
              <a:lnSpc>
                <a:spcPct val="100000"/>
              </a:lnSpc>
              <a:spcBef>
                <a:spcPts val="0"/>
              </a:spcBef>
              <a:spcAft>
                <a:spcPts val="0"/>
              </a:spcAft>
              <a:buClr>
                <a:srgbClr val="7D97AD"/>
              </a:buClr>
              <a:buFont typeface="Open Sans"/>
              <a:buNone/>
              <a:defRPr sz="700" b="0" i="0" u="none" strike="noStrike" cap="none">
                <a:solidFill>
                  <a:srgbClr val="7D97AD"/>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solidFill>
                <a:srgbClr val="929292"/>
              </a:solidFill>
            </a:endParaRPr>
          </a:p>
        </p:txBody>
      </p:sp>
      <p:sp>
        <p:nvSpPr>
          <p:cNvPr id="95" name="Google Shape;95;p22"/>
          <p:cNvSpPr>
            <a:spLocks noGrp="1"/>
          </p:cNvSpPr>
          <p:nvPr>
            <p:ph type="pic" idx="4"/>
          </p:nvPr>
        </p:nvSpPr>
        <p:spPr>
          <a:xfrm>
            <a:off x="4662488" y="1714500"/>
            <a:ext cx="4024200" cy="2857500"/>
          </a:xfrm>
          <a:prstGeom prst="rect">
            <a:avLst/>
          </a:prstGeom>
          <a:noFill/>
          <a:ln>
            <a:noFill/>
          </a:ln>
        </p:spPr>
        <p:txBody>
          <a:bodyPr spcFirstLastPara="1" wrap="square" lIns="34275" tIns="34275" rIns="34275" bIns="34275" anchor="t" anchorCtr="0">
            <a:noAutofit/>
          </a:bodyPr>
          <a:lstStyle>
            <a:lvl1pPr marL="0" marR="0" lvl="0"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1pPr>
            <a:lvl2pPr marL="0" marR="0" lvl="1"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0" marR="0" lvl="2"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0" marR="0" lvl="3"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0" marR="0" lvl="4"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0" marR="0" lvl="5" indent="5334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0" marR="0" lvl="6" indent="7112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0" marR="0" lvl="7" indent="8890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0" marR="0" lvl="8" indent="10668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
  <p:cSld name="Image">
    <p:bg>
      <p:bgPr>
        <a:solidFill>
          <a:srgbClr val="2D3D4A"/>
        </a:solidFill>
        <a:effectLst/>
      </p:bgPr>
    </p:bg>
    <p:spTree>
      <p:nvGrpSpPr>
        <p:cNvPr id="1" name="Shape 96"/>
        <p:cNvGrpSpPr/>
        <p:nvPr/>
      </p:nvGrpSpPr>
      <p:grpSpPr>
        <a:xfrm>
          <a:off x="0" y="0"/>
          <a:ext cx="0" cy="0"/>
          <a:chOff x="0" y="0"/>
          <a:chExt cx="0" cy="0"/>
        </a:xfrm>
      </p:grpSpPr>
      <p:sp>
        <p:nvSpPr>
          <p:cNvPr id="97" name="Google Shape;97;p23"/>
          <p:cNvSpPr>
            <a:spLocks noGrp="1"/>
          </p:cNvSpPr>
          <p:nvPr>
            <p:ph type="pic" idx="2"/>
          </p:nvPr>
        </p:nvSpPr>
        <p:spPr>
          <a:xfrm>
            <a:off x="0" y="0"/>
            <a:ext cx="9144000" cy="5143500"/>
          </a:xfrm>
          <a:prstGeom prst="rect">
            <a:avLst/>
          </a:prstGeom>
          <a:noFill/>
          <a:ln>
            <a:noFill/>
          </a:ln>
        </p:spPr>
        <p:txBody>
          <a:bodyPr spcFirstLastPara="1" wrap="square" lIns="34275" tIns="34275" rIns="34275" bIns="34275" anchor="t" anchorCtr="0">
            <a:noAutofit/>
          </a:bodyPr>
          <a:lstStyle>
            <a:lvl1pPr marL="0" marR="0" lvl="0"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1pPr>
            <a:lvl2pPr marL="0" marR="0" lvl="1"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0" marR="0" lvl="2"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0" marR="0" lvl="3"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0" marR="0" lvl="4" indent="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0" marR="0" lvl="5" indent="5334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0" marR="0" lvl="6" indent="7112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0" marR="0" lvl="7" indent="8890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0" marR="0" lvl="8" indent="10668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98" name="Google Shape;98;p23"/>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Demo">
  <p:cSld name="Demo">
    <p:spTree>
      <p:nvGrpSpPr>
        <p:cNvPr id="1" name="Shape 99"/>
        <p:cNvGrpSpPr/>
        <p:nvPr/>
      </p:nvGrpSpPr>
      <p:grpSpPr>
        <a:xfrm>
          <a:off x="0" y="0"/>
          <a:ext cx="0" cy="0"/>
          <a:chOff x="0" y="0"/>
          <a:chExt cx="0" cy="0"/>
        </a:xfrm>
      </p:grpSpPr>
      <p:pic>
        <p:nvPicPr>
          <p:cNvPr id="100" name="Google Shape;100;p24"/>
          <p:cNvPicPr preferRelativeResize="0"/>
          <p:nvPr/>
        </p:nvPicPr>
        <p:blipFill rotWithShape="1">
          <a:blip r:embed="rId2">
            <a:alphaModFix/>
          </a:blip>
          <a:srcRect r="7800" b="7535"/>
          <a:stretch/>
        </p:blipFill>
        <p:spPr>
          <a:xfrm>
            <a:off x="6579650" y="2571750"/>
            <a:ext cx="2564400" cy="2571900"/>
          </a:xfrm>
          <a:prstGeom prst="rect">
            <a:avLst/>
          </a:prstGeom>
          <a:noFill/>
          <a:ln>
            <a:noFill/>
          </a:ln>
        </p:spPr>
      </p:pic>
      <p:sp>
        <p:nvSpPr>
          <p:cNvPr id="101" name="Google Shape;101;p24"/>
          <p:cNvSpPr txBox="1">
            <a:spLocks noGrp="1"/>
          </p:cNvSpPr>
          <p:nvPr>
            <p:ph type="body" idx="1"/>
          </p:nvPr>
        </p:nvSpPr>
        <p:spPr>
          <a:xfrm>
            <a:off x="457200" y="1295400"/>
            <a:ext cx="8229600" cy="1390800"/>
          </a:xfrm>
          <a:prstGeom prst="rect">
            <a:avLst/>
          </a:prstGeom>
          <a:noFill/>
          <a:ln>
            <a:noFill/>
          </a:ln>
        </p:spPr>
        <p:txBody>
          <a:bodyPr spcFirstLastPara="1" wrap="square" lIns="34275" tIns="34275" rIns="34275" bIns="34275" anchor="b" anchorCtr="0">
            <a:noAutofit/>
          </a:bodyPr>
          <a:lstStyle>
            <a:lvl1pPr marL="457200" marR="0" lvl="0" indent="-2286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2D3D4A"/>
              </a:buClr>
              <a:buSzPts val="500"/>
              <a:buFont typeface="Open Sans"/>
              <a:buNone/>
              <a:defRPr sz="1800" b="0" i="0" u="none" strike="noStrike" cap="none">
                <a:solidFill>
                  <a:srgbClr val="2D3D4A"/>
                </a:solidFill>
                <a:latin typeface="Open Sans"/>
                <a:ea typeface="Open Sans"/>
                <a:cs typeface="Open Sans"/>
                <a:sym typeface="Open Sans"/>
              </a:defRPr>
            </a:lvl9pPr>
          </a:lstStyle>
          <a:p>
            <a:endParaRPr/>
          </a:p>
        </p:txBody>
      </p:sp>
      <p:sp>
        <p:nvSpPr>
          <p:cNvPr id="102" name="Google Shape;102;p24"/>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Logo A Dark">
  <p:cSld name="Logo A Dark">
    <p:spTree>
      <p:nvGrpSpPr>
        <p:cNvPr id="1" name="Shape 103"/>
        <p:cNvGrpSpPr/>
        <p:nvPr/>
      </p:nvGrpSpPr>
      <p:grpSpPr>
        <a:xfrm>
          <a:off x="0" y="0"/>
          <a:ext cx="0" cy="0"/>
          <a:chOff x="0" y="0"/>
          <a:chExt cx="0" cy="0"/>
        </a:xfrm>
      </p:grpSpPr>
      <p:sp>
        <p:nvSpPr>
          <p:cNvPr id="104" name="Google Shape;104;p25"/>
          <p:cNvSpPr/>
          <p:nvPr/>
        </p:nvSpPr>
        <p:spPr>
          <a:xfrm>
            <a:off x="489756" y="4800600"/>
            <a:ext cx="8164500" cy="152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2016 Udacity. All rights reserved.</a:t>
            </a:r>
            <a:endParaRPr sz="500"/>
          </a:p>
        </p:txBody>
      </p:sp>
      <p:sp>
        <p:nvSpPr>
          <p:cNvPr id="105" name="Google Shape;105;p25"/>
          <p:cNvSpPr/>
          <p:nvPr/>
        </p:nvSpPr>
        <p:spPr>
          <a:xfrm>
            <a:off x="3796401" y="3514398"/>
            <a:ext cx="1551300" cy="347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Font typeface="Open Sans"/>
              <a:buNone/>
            </a:pPr>
            <a:r>
              <a:rPr lang="en" sz="1800" b="0" i="0" u="none" strike="noStrike" cap="none">
                <a:solidFill>
                  <a:srgbClr val="FFFFFF"/>
                </a:solidFill>
                <a:latin typeface="Open Sans"/>
                <a:ea typeface="Open Sans"/>
                <a:cs typeface="Open Sans"/>
                <a:sym typeface="Open Sans"/>
              </a:rPr>
              <a:t>Be in Demand</a:t>
            </a:r>
            <a:endParaRPr sz="500"/>
          </a:p>
        </p:txBody>
      </p:sp>
      <p:pic>
        <p:nvPicPr>
          <p:cNvPr id="106" name="Google Shape;106;p25"/>
          <p:cNvPicPr preferRelativeResize="0"/>
          <p:nvPr/>
        </p:nvPicPr>
        <p:blipFill rotWithShape="1">
          <a:blip r:embed="rId2">
            <a:alphaModFix/>
          </a:blip>
          <a:srcRect/>
          <a:stretch/>
        </p:blipFill>
        <p:spPr>
          <a:xfrm>
            <a:off x="3485828" y="1370725"/>
            <a:ext cx="2172300" cy="1941000"/>
          </a:xfrm>
          <a:prstGeom prst="rect">
            <a:avLst/>
          </a:prstGeom>
          <a:noFill/>
          <a:ln>
            <a:noFill/>
          </a:ln>
        </p:spPr>
      </p:pic>
      <p:sp>
        <p:nvSpPr>
          <p:cNvPr id="107" name="Google Shape;107;p25"/>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Logo A Light">
  <p:cSld name="Logo A Light">
    <p:bg>
      <p:bgPr>
        <a:solidFill>
          <a:srgbClr val="02B3E4"/>
        </a:solidFill>
        <a:effectLst/>
      </p:bgPr>
    </p:bg>
    <p:spTree>
      <p:nvGrpSpPr>
        <p:cNvPr id="1" name="Shape 108"/>
        <p:cNvGrpSpPr/>
        <p:nvPr/>
      </p:nvGrpSpPr>
      <p:grpSpPr>
        <a:xfrm>
          <a:off x="0" y="0"/>
          <a:ext cx="0" cy="0"/>
          <a:chOff x="0" y="0"/>
          <a:chExt cx="0" cy="0"/>
        </a:xfrm>
      </p:grpSpPr>
      <p:sp>
        <p:nvSpPr>
          <p:cNvPr id="109" name="Google Shape;109;p26"/>
          <p:cNvSpPr/>
          <p:nvPr/>
        </p:nvSpPr>
        <p:spPr>
          <a:xfrm>
            <a:off x="489756" y="4800600"/>
            <a:ext cx="8164500" cy="152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FAFBFC"/>
              </a:buClr>
              <a:buFont typeface="Open Sans"/>
              <a:buNone/>
            </a:pPr>
            <a:r>
              <a:rPr lang="en" sz="700" b="0" i="0" u="none" strike="noStrike" cap="none">
                <a:solidFill>
                  <a:srgbClr val="FAFBFC"/>
                </a:solidFill>
                <a:latin typeface="Open Sans"/>
                <a:ea typeface="Open Sans"/>
                <a:cs typeface="Open Sans"/>
                <a:sym typeface="Open Sans"/>
              </a:rPr>
              <a:t>© 2016 Udacity. All rights reserved.</a:t>
            </a:r>
            <a:endParaRPr sz="500"/>
          </a:p>
        </p:txBody>
      </p:sp>
      <p:sp>
        <p:nvSpPr>
          <p:cNvPr id="110" name="Google Shape;110;p26"/>
          <p:cNvSpPr/>
          <p:nvPr/>
        </p:nvSpPr>
        <p:spPr>
          <a:xfrm>
            <a:off x="3796401" y="3514725"/>
            <a:ext cx="1551300" cy="347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AFBFC"/>
              </a:buClr>
              <a:buFont typeface="Open Sans"/>
              <a:buNone/>
            </a:pPr>
            <a:r>
              <a:rPr lang="en" sz="1800" b="0" i="0" u="none" strike="noStrike" cap="none">
                <a:solidFill>
                  <a:srgbClr val="FAFBFC"/>
                </a:solidFill>
                <a:latin typeface="Open Sans"/>
                <a:ea typeface="Open Sans"/>
                <a:cs typeface="Open Sans"/>
                <a:sym typeface="Open Sans"/>
              </a:rPr>
              <a:t>Be in Demand</a:t>
            </a:r>
            <a:endParaRPr sz="500"/>
          </a:p>
        </p:txBody>
      </p:sp>
      <p:pic>
        <p:nvPicPr>
          <p:cNvPr id="111" name="Google Shape;111;p26"/>
          <p:cNvPicPr preferRelativeResize="0"/>
          <p:nvPr/>
        </p:nvPicPr>
        <p:blipFill rotWithShape="1">
          <a:blip r:embed="rId2">
            <a:alphaModFix/>
          </a:blip>
          <a:srcRect/>
          <a:stretch/>
        </p:blipFill>
        <p:spPr>
          <a:xfrm>
            <a:off x="3485828" y="1370725"/>
            <a:ext cx="2172300" cy="1941000"/>
          </a:xfrm>
          <a:prstGeom prst="rect">
            <a:avLst/>
          </a:prstGeom>
          <a:noFill/>
          <a:ln>
            <a:noFill/>
          </a:ln>
        </p:spPr>
      </p:pic>
      <p:sp>
        <p:nvSpPr>
          <p:cNvPr id="112" name="Google Shape;112;p26"/>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Logo B Dark">
  <p:cSld name="Logo B Dark">
    <p:spTree>
      <p:nvGrpSpPr>
        <p:cNvPr id="1" name="Shape 113"/>
        <p:cNvGrpSpPr/>
        <p:nvPr/>
      </p:nvGrpSpPr>
      <p:grpSpPr>
        <a:xfrm>
          <a:off x="0" y="0"/>
          <a:ext cx="0" cy="0"/>
          <a:chOff x="0" y="0"/>
          <a:chExt cx="0" cy="0"/>
        </a:xfrm>
      </p:grpSpPr>
      <p:sp>
        <p:nvSpPr>
          <p:cNvPr id="114" name="Google Shape;114;p27"/>
          <p:cNvSpPr/>
          <p:nvPr/>
        </p:nvSpPr>
        <p:spPr>
          <a:xfrm>
            <a:off x="489756" y="4800600"/>
            <a:ext cx="8164500" cy="152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2016 Udacity. All rights reserved.</a:t>
            </a:r>
            <a:endParaRPr sz="500"/>
          </a:p>
        </p:txBody>
      </p:sp>
      <p:sp>
        <p:nvSpPr>
          <p:cNvPr id="115" name="Google Shape;115;p27"/>
          <p:cNvSpPr/>
          <p:nvPr/>
        </p:nvSpPr>
        <p:spPr>
          <a:xfrm>
            <a:off x="3796401" y="3048793"/>
            <a:ext cx="1551300" cy="347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Font typeface="Open Sans"/>
              <a:buNone/>
            </a:pPr>
            <a:r>
              <a:rPr lang="en" sz="1800" b="0" i="0" u="none" strike="noStrike" cap="none">
                <a:solidFill>
                  <a:srgbClr val="FFFFFF"/>
                </a:solidFill>
                <a:latin typeface="Open Sans"/>
                <a:ea typeface="Open Sans"/>
                <a:cs typeface="Open Sans"/>
                <a:sym typeface="Open Sans"/>
              </a:rPr>
              <a:t>Be in Demand</a:t>
            </a:r>
            <a:endParaRPr sz="500"/>
          </a:p>
        </p:txBody>
      </p:sp>
      <p:pic>
        <p:nvPicPr>
          <p:cNvPr id="116" name="Google Shape;116;p27"/>
          <p:cNvPicPr preferRelativeResize="0"/>
          <p:nvPr/>
        </p:nvPicPr>
        <p:blipFill rotWithShape="1">
          <a:blip r:embed="rId2">
            <a:alphaModFix/>
          </a:blip>
          <a:srcRect/>
          <a:stretch/>
        </p:blipFill>
        <p:spPr>
          <a:xfrm>
            <a:off x="2500679" y="2221260"/>
            <a:ext cx="4143300" cy="720000"/>
          </a:xfrm>
          <a:prstGeom prst="rect">
            <a:avLst/>
          </a:prstGeom>
          <a:noFill/>
          <a:ln>
            <a:noFill/>
          </a:ln>
        </p:spPr>
      </p:pic>
      <p:sp>
        <p:nvSpPr>
          <p:cNvPr id="117" name="Google Shape;117;p27"/>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Logo B Light">
  <p:cSld name="Logo B Light">
    <p:bg>
      <p:bgPr>
        <a:solidFill>
          <a:srgbClr val="02B3E4"/>
        </a:solidFill>
        <a:effectLst/>
      </p:bgPr>
    </p:bg>
    <p:spTree>
      <p:nvGrpSpPr>
        <p:cNvPr id="1" name="Shape 118"/>
        <p:cNvGrpSpPr/>
        <p:nvPr/>
      </p:nvGrpSpPr>
      <p:grpSpPr>
        <a:xfrm>
          <a:off x="0" y="0"/>
          <a:ext cx="0" cy="0"/>
          <a:chOff x="0" y="0"/>
          <a:chExt cx="0" cy="0"/>
        </a:xfrm>
      </p:grpSpPr>
      <p:sp>
        <p:nvSpPr>
          <p:cNvPr id="119" name="Google Shape;119;p28"/>
          <p:cNvSpPr/>
          <p:nvPr/>
        </p:nvSpPr>
        <p:spPr>
          <a:xfrm>
            <a:off x="489756" y="4800600"/>
            <a:ext cx="8164500" cy="152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FAFBFC"/>
              </a:buClr>
              <a:buFont typeface="Open Sans"/>
              <a:buNone/>
            </a:pPr>
            <a:r>
              <a:rPr lang="en" sz="700" b="0" i="0" u="none" strike="noStrike" cap="none">
                <a:solidFill>
                  <a:srgbClr val="FAFBFC"/>
                </a:solidFill>
                <a:latin typeface="Open Sans"/>
                <a:ea typeface="Open Sans"/>
                <a:cs typeface="Open Sans"/>
                <a:sym typeface="Open Sans"/>
              </a:rPr>
              <a:t>© 2016 Udacity. All rights reserved.</a:t>
            </a:r>
            <a:endParaRPr sz="500"/>
          </a:p>
        </p:txBody>
      </p:sp>
      <p:sp>
        <p:nvSpPr>
          <p:cNvPr id="120" name="Google Shape;120;p28"/>
          <p:cNvSpPr/>
          <p:nvPr/>
        </p:nvSpPr>
        <p:spPr>
          <a:xfrm>
            <a:off x="3796401" y="3048793"/>
            <a:ext cx="1551300" cy="347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AFBFC"/>
              </a:buClr>
              <a:buFont typeface="Open Sans"/>
              <a:buNone/>
            </a:pPr>
            <a:r>
              <a:rPr lang="en" sz="1800" b="0" i="0" u="none" strike="noStrike" cap="none">
                <a:solidFill>
                  <a:srgbClr val="FAFBFC"/>
                </a:solidFill>
                <a:latin typeface="Open Sans"/>
                <a:ea typeface="Open Sans"/>
                <a:cs typeface="Open Sans"/>
                <a:sym typeface="Open Sans"/>
              </a:rPr>
              <a:t>Be in Demand</a:t>
            </a:r>
            <a:endParaRPr sz="500"/>
          </a:p>
        </p:txBody>
      </p:sp>
      <p:pic>
        <p:nvPicPr>
          <p:cNvPr id="121" name="Google Shape;121;p28"/>
          <p:cNvPicPr preferRelativeResize="0"/>
          <p:nvPr/>
        </p:nvPicPr>
        <p:blipFill rotWithShape="1">
          <a:blip r:embed="rId2">
            <a:alphaModFix/>
          </a:blip>
          <a:srcRect/>
          <a:stretch/>
        </p:blipFill>
        <p:spPr>
          <a:xfrm>
            <a:off x="2500313" y="2221260"/>
            <a:ext cx="4143300" cy="720000"/>
          </a:xfrm>
          <a:prstGeom prst="rect">
            <a:avLst/>
          </a:prstGeom>
          <a:noFill/>
          <a:ln>
            <a:noFill/>
          </a:ln>
        </p:spPr>
      </p:pic>
      <p:sp>
        <p:nvSpPr>
          <p:cNvPr id="122" name="Google Shape;122;p28"/>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p:cSld name="Blank">
    <p:bg>
      <p:bgPr>
        <a:solidFill>
          <a:srgbClr val="FFFFFF"/>
        </a:solidFill>
        <a:effectLst/>
      </p:bgPr>
    </p:bg>
    <p:spTree>
      <p:nvGrpSpPr>
        <p:cNvPr id="1" name="Shape 123"/>
        <p:cNvGrpSpPr/>
        <p:nvPr/>
      </p:nvGrpSpPr>
      <p:grpSpPr>
        <a:xfrm>
          <a:off x="0" y="0"/>
          <a:ext cx="0" cy="0"/>
          <a:chOff x="0" y="0"/>
          <a:chExt cx="0" cy="0"/>
        </a:xfrm>
      </p:grpSpPr>
      <p:sp>
        <p:nvSpPr>
          <p:cNvPr id="124" name="Google Shape;124;p29"/>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theme" Target="../theme/theme2.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2E3D49"/>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1295400"/>
            <a:ext cx="8229600" cy="1390800"/>
          </a:xfrm>
          <a:prstGeom prst="rect">
            <a:avLst/>
          </a:prstGeom>
          <a:noFill/>
          <a:ln>
            <a:noFill/>
          </a:ln>
        </p:spPr>
        <p:txBody>
          <a:bodyPr spcFirstLastPara="1" wrap="square" lIns="34275" tIns="34275" rIns="34275" bIns="34275" anchor="b" anchorCtr="0">
            <a:noAutofit/>
          </a:bodyPr>
          <a:lstStyle>
            <a:lvl1pPr marL="0" marR="0" lvl="0" indent="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1pPr>
            <a:lvl2pPr marL="0" marR="0" lvl="1" indent="88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2pPr>
            <a:lvl3pPr marL="0" marR="0" lvl="2" indent="177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3pPr>
            <a:lvl4pPr marL="0" marR="0" lvl="3" indent="2540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4pPr>
            <a:lvl5pPr marL="0" marR="0" lvl="4" indent="342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5pPr>
            <a:lvl6pPr marL="0" marR="0" lvl="5" indent="431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6pPr>
            <a:lvl7pPr marL="0" marR="0" lvl="6" indent="5207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7pPr>
            <a:lvl8pPr marL="0" marR="0" lvl="7" indent="5969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8pPr>
            <a:lvl9pPr marL="0" marR="0" lvl="8" indent="685800" algn="l" rtl="0">
              <a:lnSpc>
                <a:spcPct val="120000"/>
              </a:lnSpc>
              <a:spcBef>
                <a:spcPts val="0"/>
              </a:spcBef>
              <a:spcAft>
                <a:spcPts val="0"/>
              </a:spcAft>
              <a:buClr>
                <a:srgbClr val="FFFFFF"/>
              </a:buClr>
              <a:buSzPts val="500"/>
              <a:buFont typeface="Open Sans"/>
              <a:buNone/>
              <a:defRPr sz="4500" b="0" i="0" u="none" strike="noStrike" cap="none">
                <a:solidFill>
                  <a:srgbClr val="FFFFFF"/>
                </a:solidFill>
                <a:latin typeface="Open Sans"/>
                <a:ea typeface="Open Sans"/>
                <a:cs typeface="Open Sans"/>
                <a:sym typeface="Open Sans"/>
              </a:defRPr>
            </a:lvl9pPr>
          </a:lstStyle>
          <a:p>
            <a:endParaRPr/>
          </a:p>
        </p:txBody>
      </p:sp>
      <p:sp>
        <p:nvSpPr>
          <p:cNvPr id="52" name="Google Shape;52;p13"/>
          <p:cNvSpPr txBox="1">
            <a:spLocks noGrp="1"/>
          </p:cNvSpPr>
          <p:nvPr>
            <p:ph type="body" idx="1"/>
          </p:nvPr>
        </p:nvSpPr>
        <p:spPr>
          <a:xfrm>
            <a:off x="614363" y="2662238"/>
            <a:ext cx="7915200" cy="1390800"/>
          </a:xfrm>
          <a:prstGeom prst="rect">
            <a:avLst/>
          </a:prstGeom>
          <a:noFill/>
          <a:ln>
            <a:noFill/>
          </a:ln>
        </p:spPr>
        <p:txBody>
          <a:bodyPr spcFirstLastPara="1" wrap="square" lIns="34275" tIns="34275" rIns="34275" bIns="34275" anchor="t" anchorCtr="0">
            <a:noAutofit/>
          </a:bodyPr>
          <a:lstStyle>
            <a:lvl1pPr marL="457200" marR="0" lvl="0"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1pPr>
            <a:lvl2pPr marL="914400" marR="0" lvl="1"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2pPr>
            <a:lvl3pPr marL="1371600" marR="0" lvl="2"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3pPr>
            <a:lvl4pPr marL="1828800" marR="0" lvl="3"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4pPr>
            <a:lvl5pPr marL="2286000" marR="0" lvl="4"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5pPr>
            <a:lvl6pPr marL="2743200" marR="0" lvl="5"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6pPr>
            <a:lvl7pPr marL="3200400" marR="0" lvl="6"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7pPr>
            <a:lvl8pPr marL="3657600" marR="0" lvl="7"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8pPr>
            <a:lvl9pPr marL="4114800" marR="0" lvl="8" indent="-228600" algn="l" rtl="0">
              <a:lnSpc>
                <a:spcPct val="100000"/>
              </a:lnSpc>
              <a:spcBef>
                <a:spcPts val="700"/>
              </a:spcBef>
              <a:spcAft>
                <a:spcPts val="0"/>
              </a:spcAft>
              <a:buClr>
                <a:srgbClr val="9CBDD8"/>
              </a:buClr>
              <a:buSzPts val="500"/>
              <a:buFont typeface="Open Sans"/>
              <a:buNone/>
              <a:defRPr sz="1800" b="0" i="0" u="none" strike="noStrike" cap="none">
                <a:solidFill>
                  <a:srgbClr val="9CBDD8"/>
                </a:solidFill>
                <a:latin typeface="Open Sans"/>
                <a:ea typeface="Open Sans"/>
                <a:cs typeface="Open Sans"/>
                <a:sym typeface="Open Sans"/>
              </a:defRPr>
            </a:lvl9pPr>
          </a:lstStyle>
          <a:p>
            <a:endParaRPr/>
          </a:p>
        </p:txBody>
      </p:sp>
      <p:sp>
        <p:nvSpPr>
          <p:cNvPr id="53" name="Google Shape;53;p13"/>
          <p:cNvSpPr txBox="1">
            <a:spLocks noGrp="1"/>
          </p:cNvSpPr>
          <p:nvPr>
            <p:ph type="sldNum" idx="12"/>
          </p:nvPr>
        </p:nvSpPr>
        <p:spPr>
          <a:xfrm>
            <a:off x="8892578" y="4953000"/>
            <a:ext cx="141000" cy="152400"/>
          </a:xfrm>
          <a:prstGeom prst="rect">
            <a:avLst/>
          </a:prstGeom>
          <a:noFill/>
          <a:ln>
            <a:noFill/>
          </a:ln>
        </p:spPr>
        <p:txBody>
          <a:bodyPr spcFirstLastPara="1" wrap="square" lIns="19050" tIns="19050" rIns="19050" bIns="19050" anchor="t" anchorCtr="0">
            <a:noAutofit/>
          </a:bodyPr>
          <a:lstStyle>
            <a:lvl1pPr marL="0" marR="0" lvl="0"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1pPr>
            <a:lvl2pPr marL="0" marR="0" lvl="1"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2pPr>
            <a:lvl3pPr marL="0" marR="0" lvl="2"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3pPr>
            <a:lvl4pPr marL="0" marR="0" lvl="3"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4pPr>
            <a:lvl5pPr marL="0" marR="0" lvl="4"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5pPr>
            <a:lvl6pPr marL="0" marR="0" lvl="5"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6pPr>
            <a:lvl7pPr marL="0" marR="0" lvl="6"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7pPr>
            <a:lvl8pPr marL="0" marR="0" lvl="7"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8pPr>
            <a:lvl9pPr marL="0" marR="0" lvl="8" indent="0" algn="ctr" rtl="0">
              <a:lnSpc>
                <a:spcPct val="100000"/>
              </a:lnSpc>
              <a:spcBef>
                <a:spcPts val="0"/>
              </a:spcBef>
              <a:spcAft>
                <a:spcPts val="0"/>
              </a:spcAft>
              <a:buClr>
                <a:srgbClr val="929292"/>
              </a:buClr>
              <a:buFont typeface="Open Sans"/>
              <a:buNone/>
              <a:defRPr sz="700" b="0" i="0" u="none" strike="noStrike" cap="none">
                <a:solidFill>
                  <a:srgbClr val="929292"/>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hyperlink" Target="https://docs.google.com/spreadsheets/d/1RpNM7-2ux8Pbs-NCK19tKV0sq-xNLb_4pI0aWimcR5s/edit?usp=sharing" TargetMode="External"/><Relationship Id="rId2" Type="http://schemas.openxmlformats.org/officeDocument/2006/relationships/notesSlide" Target="../notesSlides/notesSlide4.xml"/><Relationship Id="rId1" Type="http://schemas.openxmlformats.org/officeDocument/2006/relationships/slideLayout" Target="../slideLayouts/slideLayout19.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hyperlink" Target="https://drive.google.com/open?id=1mWVlcW0F2hpAO4b_g-8ZD6UWbsHAUOap" TargetMode="External"/><Relationship Id="rId2" Type="http://schemas.openxmlformats.org/officeDocument/2006/relationships/notesSlide" Target="../notesSlides/notesSlide7.xml"/><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hyperlink" Target="https://drive.google.com/open?id=1OGNNRV6qEI-yKJY19guh3AxhHL8FzFNf" TargetMode="External"/><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 Target="slide12.xml"/><Relationship Id="rId7" Type="http://schemas.openxmlformats.org/officeDocument/2006/relationships/hyperlink" Target="https://docs.validic.com/docs/summary" TargetMode="External"/><Relationship Id="rId2" Type="http://schemas.openxmlformats.org/officeDocument/2006/relationships/notesSlide" Target="../notesSlides/notesSlide11.xml"/><Relationship Id="rId1" Type="http://schemas.openxmlformats.org/officeDocument/2006/relationships/slideLayout" Target="../slideLayouts/slideLayout19.xml"/><Relationship Id="rId6" Type="http://schemas.openxmlformats.org/officeDocument/2006/relationships/hyperlink" Target="https://support.validic.com/customer/en/portal/articles/2112631-connected-apps-and-devices" TargetMode="External"/><Relationship Id="rId5" Type="http://schemas.openxmlformats.org/officeDocument/2006/relationships/hyperlink" Target="https://support.validic.com/customer/en/portal/articles/2103982-app-marketplace-syncing-process" TargetMode="External"/><Relationship Id="rId4" Type="http://schemas.openxmlformats.org/officeDocument/2006/relationships/hyperlink" Target="https://support.validic.com/customer/en/portal/articles/1648986-rendering-the-web-marketplace-in-an-html-iframe-tag"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3" Type="http://schemas.openxmlformats.org/officeDocument/2006/relationships/hyperlink" Target="https://www.appcues.com/blog/in-app-notifications" TargetMode="External"/><Relationship Id="rId2" Type="http://schemas.openxmlformats.org/officeDocument/2006/relationships/notesSlide" Target="../notesSlides/notesSlide27.xml"/><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30"/>
          <p:cNvSpPr txBox="1">
            <a:spLocks noGrp="1"/>
          </p:cNvSpPr>
          <p:nvPr>
            <p:ph type="title"/>
          </p:nvPr>
        </p:nvSpPr>
        <p:spPr>
          <a:xfrm>
            <a:off x="457200" y="834727"/>
            <a:ext cx="8229600" cy="1389300"/>
          </a:xfrm>
          <a:prstGeom prst="rect">
            <a:avLst/>
          </a:prstGeom>
          <a:noFill/>
          <a:ln>
            <a:noFill/>
          </a:ln>
        </p:spPr>
        <p:txBody>
          <a:bodyPr spcFirstLastPara="1" wrap="square" lIns="0" tIns="0" rIns="0" bIns="0" anchor="b" anchorCtr="0">
            <a:noAutofit/>
          </a:bodyPr>
          <a:lstStyle/>
          <a:p>
            <a:pPr marL="0" marR="0" lvl="0" indent="0" algn="l" rtl="0">
              <a:lnSpc>
                <a:spcPct val="120000"/>
              </a:lnSpc>
              <a:spcBef>
                <a:spcPts val="0"/>
              </a:spcBef>
              <a:spcAft>
                <a:spcPts val="0"/>
              </a:spcAft>
              <a:buClr>
                <a:srgbClr val="FFFFFF"/>
              </a:buClr>
              <a:buFont typeface="Open Sans"/>
              <a:buNone/>
            </a:pPr>
            <a:r>
              <a:rPr lang="en" sz="4200" dirty="0" err="1"/>
              <a:t>KPDailyCheckup</a:t>
            </a:r>
            <a:endParaRPr sz="4200" dirty="0"/>
          </a:p>
        </p:txBody>
      </p:sp>
      <p:sp>
        <p:nvSpPr>
          <p:cNvPr id="130" name="Google Shape;130;p30"/>
          <p:cNvSpPr txBox="1">
            <a:spLocks noGrp="1"/>
          </p:cNvSpPr>
          <p:nvPr>
            <p:ph type="body" idx="1"/>
          </p:nvPr>
        </p:nvSpPr>
        <p:spPr>
          <a:xfrm>
            <a:off x="457200" y="2195525"/>
            <a:ext cx="5900700" cy="1003500"/>
          </a:xfrm>
          <a:prstGeom prst="rect">
            <a:avLst/>
          </a:prstGeom>
          <a:noFill/>
          <a:ln>
            <a:noFill/>
          </a:ln>
        </p:spPr>
        <p:txBody>
          <a:bodyPr spcFirstLastPara="1" wrap="square" lIns="0" tIns="0" rIns="0" bIns="0" anchor="t" anchorCtr="0">
            <a:noAutofit/>
          </a:bodyPr>
          <a:lstStyle/>
          <a:p>
            <a:pPr marL="0" marR="0" lvl="0" indent="0" algn="l" rtl="0">
              <a:lnSpc>
                <a:spcPct val="131250"/>
              </a:lnSpc>
              <a:spcBef>
                <a:spcPts val="0"/>
              </a:spcBef>
              <a:spcAft>
                <a:spcPts val="0"/>
              </a:spcAft>
              <a:buClr>
                <a:srgbClr val="9CBDD8"/>
              </a:buClr>
              <a:buFont typeface="Open Sans"/>
              <a:buNone/>
            </a:pPr>
            <a:r>
              <a:rPr lang="en" dirty="0"/>
              <a:t>Developing the product</a:t>
            </a:r>
            <a:endParaRPr b="1" dirty="0"/>
          </a:p>
          <a:p>
            <a:pPr marL="0" marR="0" lvl="0" indent="0" algn="l" rtl="0">
              <a:lnSpc>
                <a:spcPct val="131250"/>
              </a:lnSpc>
              <a:spcBef>
                <a:spcPts val="0"/>
              </a:spcBef>
              <a:spcAft>
                <a:spcPts val="0"/>
              </a:spcAft>
              <a:buClr>
                <a:srgbClr val="9CBDD8"/>
              </a:buClr>
              <a:buFont typeface="Open Sans"/>
              <a:buNone/>
            </a:pPr>
            <a:endParaRPr b="1" dirty="0"/>
          </a:p>
          <a:p>
            <a:pPr marL="0" marR="0" lvl="0" indent="0" algn="l" rtl="0">
              <a:lnSpc>
                <a:spcPct val="131250"/>
              </a:lnSpc>
              <a:spcBef>
                <a:spcPts val="0"/>
              </a:spcBef>
              <a:spcAft>
                <a:spcPts val="0"/>
              </a:spcAft>
              <a:buClr>
                <a:srgbClr val="9CBDD8"/>
              </a:buClr>
              <a:buFont typeface="Open Sans"/>
              <a:buNone/>
            </a:pPr>
            <a:r>
              <a:rPr lang="en" b="1" dirty="0"/>
              <a:t>Product Owner: </a:t>
            </a:r>
            <a:r>
              <a:rPr lang="en-US" b="1" dirty="0" err="1"/>
              <a:t>Maleina</a:t>
            </a:r>
            <a:r>
              <a:rPr lang="en-US" b="1" dirty="0"/>
              <a:t> </a:t>
            </a:r>
            <a:r>
              <a:rPr lang="en-US" b="1" dirty="0" err="1"/>
              <a:t>Bidek</a:t>
            </a:r>
            <a:endParaRPr b="1" dirty="0"/>
          </a:p>
          <a:p>
            <a:pPr marL="0" marR="0" lvl="0" indent="0" algn="l" rtl="0">
              <a:lnSpc>
                <a:spcPct val="131250"/>
              </a:lnSpc>
              <a:spcBef>
                <a:spcPts val="0"/>
              </a:spcBef>
              <a:spcAft>
                <a:spcPts val="0"/>
              </a:spcAft>
              <a:buClr>
                <a:srgbClr val="9CBDD8"/>
              </a:buClr>
              <a:buFont typeface="Open Sans"/>
              <a:buNone/>
            </a:pPr>
            <a:endParaRPr sz="500" dirty="0"/>
          </a:p>
        </p:txBody>
      </p:sp>
      <p:sp>
        <p:nvSpPr>
          <p:cNvPr id="131" name="Google Shape;131;p30"/>
          <p:cNvSpPr txBox="1">
            <a:spLocks noGrp="1"/>
          </p:cNvSpPr>
          <p:nvPr>
            <p:ph type="body" idx="4294967295"/>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2019 Udacity.  All rights reserved.</a:t>
            </a:r>
            <a:endParaRPr sz="500"/>
          </a:p>
        </p:txBody>
      </p:sp>
    </p:spTree>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2"/>
          <p:cNvSpPr txBox="1">
            <a:spLocks noGrp="1"/>
          </p:cNvSpPr>
          <p:nvPr>
            <p:ph type="title"/>
          </p:nvPr>
        </p:nvSpPr>
        <p:spPr>
          <a:xfrm>
            <a:off x="457200" y="1295400"/>
            <a:ext cx="8229600" cy="1390800"/>
          </a:xfrm>
          <a:prstGeom prst="rect">
            <a:avLst/>
          </a:prstGeom>
        </p:spPr>
        <p:txBody>
          <a:bodyPr spcFirstLastPara="1" wrap="square" lIns="34275" tIns="34275" rIns="34275" bIns="34275" anchor="b" anchorCtr="0">
            <a:noAutofit/>
          </a:bodyPr>
          <a:lstStyle/>
          <a:p>
            <a:pPr marL="0" lvl="0" indent="0" algn="l" rtl="0">
              <a:spcBef>
                <a:spcPts val="0"/>
              </a:spcBef>
              <a:spcAft>
                <a:spcPts val="0"/>
              </a:spcAft>
              <a:buNone/>
            </a:pPr>
            <a:r>
              <a:rPr lang="en" sz="4200"/>
              <a:t>Getting Started</a:t>
            </a:r>
            <a:endParaRPr sz="4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4"/>
          <p:cNvSpPr txBox="1">
            <a:spLocks noGrp="1"/>
          </p:cNvSpPr>
          <p:nvPr>
            <p:ph type="title"/>
          </p:nvPr>
        </p:nvSpPr>
        <p:spPr>
          <a:xfrm>
            <a:off x="457200" y="1219200"/>
            <a:ext cx="8229600" cy="1390800"/>
          </a:xfrm>
          <a:prstGeom prst="rect">
            <a:avLst/>
          </a:prstGeom>
          <a:noFill/>
          <a:ln>
            <a:noFill/>
          </a:ln>
        </p:spPr>
        <p:txBody>
          <a:bodyPr spcFirstLastPara="1" wrap="square" lIns="0" tIns="0" rIns="0" bIns="0" anchor="b" anchorCtr="0">
            <a:noAutofit/>
          </a:bodyPr>
          <a:lstStyle/>
          <a:p>
            <a:pPr marL="0" marR="0" lvl="0" indent="0" algn="l" rtl="0">
              <a:lnSpc>
                <a:spcPct val="115000"/>
              </a:lnSpc>
              <a:spcBef>
                <a:spcPts val="0"/>
              </a:spcBef>
              <a:spcAft>
                <a:spcPts val="0"/>
              </a:spcAft>
              <a:buClr>
                <a:srgbClr val="FFFFFF"/>
              </a:buClr>
              <a:buFont typeface="Open Sans"/>
              <a:buNone/>
            </a:pPr>
            <a:r>
              <a:rPr lang="en" sz="4200"/>
              <a:t>Create Project Blueprint</a:t>
            </a:r>
            <a:endParaRPr sz="4200"/>
          </a:p>
        </p:txBody>
      </p:sp>
      <p:sp>
        <p:nvSpPr>
          <p:cNvPr id="160" name="Google Shape;160;p34"/>
          <p:cNvSpPr txBox="1">
            <a:spLocks noGrp="1"/>
          </p:cNvSpPr>
          <p:nvPr>
            <p:ph type="body" idx="4294967295"/>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161" name="Google Shape;161;p34"/>
          <p:cNvSpPr txBox="1">
            <a:spLocks noGrp="1"/>
          </p:cNvSpPr>
          <p:nvPr>
            <p:ph type="body" idx="1"/>
          </p:nvPr>
        </p:nvSpPr>
        <p:spPr>
          <a:xfrm>
            <a:off x="457200" y="2557475"/>
            <a:ext cx="8421900" cy="7680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solidFill>
                  <a:srgbClr val="FFFFFF"/>
                </a:solidFill>
              </a:rPr>
              <a:t> A product launch is not just about deploying a beautifully designed,built and thoroughly tested feature. Your company needs to be equally prepared if not more to support every possible customer interaction associated with the product (e.g landing on your company website to learn more about the new feature)</a:t>
            </a:r>
            <a:endParaRPr sz="1200">
              <a:solidFill>
                <a:srgbClr val="FFFFFF"/>
              </a:solidFill>
            </a:endParaRPr>
          </a:p>
        </p:txBody>
      </p:sp>
    </p:spTree>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6"/>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175" name="Google Shape;175;p36"/>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4</a:t>
            </a:fld>
            <a:endParaRPr>
              <a:solidFill>
                <a:srgbClr val="929292"/>
              </a:solidFill>
            </a:endParaRPr>
          </a:p>
        </p:txBody>
      </p:sp>
      <p:sp>
        <p:nvSpPr>
          <p:cNvPr id="176" name="Google Shape;176;p36"/>
          <p:cNvSpPr txBox="1">
            <a:spLocks noGrp="1"/>
          </p:cNvSpPr>
          <p:nvPr>
            <p:ph type="body" idx="1"/>
          </p:nvPr>
        </p:nvSpPr>
        <p:spPr>
          <a:xfrm>
            <a:off x="475050" y="463111"/>
            <a:ext cx="8440800" cy="2832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1200" dirty="0">
                <a:highlight>
                  <a:srgbClr val="FFFFFF"/>
                </a:highlight>
                <a:latin typeface="Open Sans Light"/>
                <a:ea typeface="Open Sans Light"/>
                <a:cs typeface="Open Sans Light"/>
                <a:sym typeface="Open Sans Light"/>
              </a:rPr>
              <a:t>Please view my coordination activities map here</a:t>
            </a:r>
            <a:r>
              <a:rPr lang="en" sz="1200" dirty="0">
                <a:solidFill>
                  <a:srgbClr val="0097A7"/>
                </a:solidFill>
                <a:highlight>
                  <a:srgbClr val="FFFFFF"/>
                </a:highlight>
                <a:latin typeface="Open Sans Light"/>
                <a:ea typeface="Open Sans Light"/>
                <a:cs typeface="Open Sans Light"/>
                <a:sym typeface="Open Sans Light"/>
              </a:rPr>
              <a:t> </a:t>
            </a:r>
            <a:r>
              <a:rPr lang="en" sz="1200" dirty="0">
                <a:solidFill>
                  <a:srgbClr val="0097A7"/>
                </a:solidFill>
                <a:highlight>
                  <a:srgbClr val="FFFFFF"/>
                </a:highlight>
                <a:latin typeface="Open Sans Light"/>
                <a:ea typeface="Open Sans Light"/>
                <a:cs typeface="Open Sans Light"/>
                <a:sym typeface="Open Sans Light"/>
                <a:hlinkClick r:id="rId3"/>
              </a:rPr>
              <a:t>here</a:t>
            </a:r>
            <a:r>
              <a:rPr lang="en" sz="1200" dirty="0">
                <a:solidFill>
                  <a:srgbClr val="0097A7"/>
                </a:solidFill>
                <a:highlight>
                  <a:srgbClr val="FFFFFF"/>
                </a:highlight>
                <a:latin typeface="Open Sans Light"/>
                <a:ea typeface="Open Sans Light"/>
                <a:cs typeface="Open Sans Light"/>
                <a:sym typeface="Open Sans Light"/>
              </a:rPr>
              <a:t> </a:t>
            </a:r>
            <a:r>
              <a:rPr lang="en" sz="1200" dirty="0">
                <a:solidFill>
                  <a:srgbClr val="02B3E4"/>
                </a:solidFill>
                <a:highlight>
                  <a:srgbClr val="FFFFFF"/>
                </a:highlight>
                <a:latin typeface="Open Sans Light"/>
                <a:ea typeface="Open Sans Light"/>
                <a:cs typeface="Open Sans Light"/>
                <a:sym typeface="Open Sans Light"/>
              </a:rPr>
              <a:t>if you have trouble viewing the screenshot</a:t>
            </a:r>
            <a:r>
              <a:rPr lang="en" sz="1200" dirty="0">
                <a:highlight>
                  <a:srgbClr val="FFFFFF"/>
                </a:highlight>
                <a:latin typeface="Open Sans Light"/>
                <a:ea typeface="Open Sans Light"/>
                <a:cs typeface="Open Sans Light"/>
                <a:sym typeface="Open Sans Light"/>
              </a:rPr>
              <a:t> below.</a:t>
            </a:r>
            <a:endParaRPr sz="1200" dirty="0">
              <a:solidFill>
                <a:srgbClr val="02B3E4"/>
              </a:solidFill>
            </a:endParaRPr>
          </a:p>
        </p:txBody>
      </p:sp>
      <p:sp>
        <p:nvSpPr>
          <p:cNvPr id="177" name="Google Shape;177;p36"/>
          <p:cNvSpPr txBox="1">
            <a:spLocks noGrp="1"/>
          </p:cNvSpPr>
          <p:nvPr>
            <p:ph type="title"/>
          </p:nvPr>
        </p:nvSpPr>
        <p:spPr>
          <a:xfrm>
            <a:off x="457200" y="76200"/>
            <a:ext cx="8229600" cy="4788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2800" dirty="0"/>
              <a:t>Create a coordination activities map</a:t>
            </a:r>
            <a:endParaRPr sz="2800" dirty="0"/>
          </a:p>
        </p:txBody>
      </p:sp>
      <p:pic>
        <p:nvPicPr>
          <p:cNvPr id="3" name="Picture 2" descr="A close up of a piece of paper&#10;&#10;Description automatically generated">
            <a:extLst>
              <a:ext uri="{FF2B5EF4-FFF2-40B4-BE49-F238E27FC236}">
                <a16:creationId xmlns:a16="http://schemas.microsoft.com/office/drawing/2014/main" id="{CEDD9284-B0A8-BC4B-8441-372BE2238D76}"/>
              </a:ext>
            </a:extLst>
          </p:cNvPr>
          <p:cNvPicPr>
            <a:picLocks noChangeAspect="1"/>
          </p:cNvPicPr>
          <p:nvPr/>
        </p:nvPicPr>
        <p:blipFill>
          <a:blip r:embed="rId4"/>
          <a:stretch>
            <a:fillRect/>
          </a:stretch>
        </p:blipFill>
        <p:spPr>
          <a:xfrm>
            <a:off x="1731668" y="717675"/>
            <a:ext cx="5373325" cy="4183997"/>
          </a:xfrm>
          <a:prstGeom prst="rect">
            <a:avLst/>
          </a:prstGeom>
        </p:spPr>
      </p:pic>
    </p:spTree>
  </p:cSld>
  <p:clrMapOvr>
    <a:masterClrMapping/>
  </p:clrMapOvr>
  <p:transition>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a:spLocks noGrp="1"/>
          </p:cNvSpPr>
          <p:nvPr>
            <p:ph type="title"/>
          </p:nvPr>
        </p:nvSpPr>
        <p:spPr>
          <a:xfrm>
            <a:off x="533400" y="1295400"/>
            <a:ext cx="8229600" cy="1390800"/>
          </a:xfrm>
          <a:prstGeom prst="rect">
            <a:avLst/>
          </a:prstGeom>
          <a:noFill/>
          <a:ln>
            <a:noFill/>
          </a:ln>
        </p:spPr>
        <p:txBody>
          <a:bodyPr spcFirstLastPara="1" wrap="square" lIns="0" tIns="0" rIns="0" bIns="0" anchor="b" anchorCtr="0">
            <a:noAutofit/>
          </a:bodyPr>
          <a:lstStyle/>
          <a:p>
            <a:pPr marL="0" marR="0" lvl="0" indent="0" algn="l" rtl="0">
              <a:lnSpc>
                <a:spcPct val="115000"/>
              </a:lnSpc>
              <a:spcBef>
                <a:spcPts val="0"/>
              </a:spcBef>
              <a:spcAft>
                <a:spcPts val="0"/>
              </a:spcAft>
              <a:buClr>
                <a:srgbClr val="FFFFFF"/>
              </a:buClr>
              <a:buFont typeface="Open Sans"/>
              <a:buNone/>
            </a:pPr>
            <a:r>
              <a:rPr lang="en" sz="4200"/>
              <a:t> Plan for Sprint Meeting</a:t>
            </a:r>
            <a:endParaRPr sz="4200"/>
          </a:p>
        </p:txBody>
      </p:sp>
      <p:sp>
        <p:nvSpPr>
          <p:cNvPr id="185" name="Google Shape;185;p37"/>
          <p:cNvSpPr txBox="1">
            <a:spLocks noGrp="1"/>
          </p:cNvSpPr>
          <p:nvPr>
            <p:ph type="body" idx="4294967295"/>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186" name="Google Shape;186;p37"/>
          <p:cNvSpPr txBox="1"/>
          <p:nvPr/>
        </p:nvSpPr>
        <p:spPr>
          <a:xfrm>
            <a:off x="685800" y="2644075"/>
            <a:ext cx="7916700" cy="719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200">
                <a:solidFill>
                  <a:srgbClr val="FFFFFF"/>
                </a:solidFill>
                <a:latin typeface="Open Sans"/>
                <a:ea typeface="Open Sans"/>
                <a:cs typeface="Open Sans"/>
                <a:sym typeface="Open Sans"/>
              </a:rPr>
              <a:t>As a PM, it is important to stay ahead of your scrum team and be prepared for every upcoming sprint by having a target goal defined with prioritized backlog for team to start costing and breaking down the tasks</a:t>
            </a:r>
            <a:endParaRPr sz="1200">
              <a:latin typeface="Open Sans"/>
              <a:ea typeface="Open Sans"/>
              <a:cs typeface="Open Sans"/>
              <a:sym typeface="Open Sans"/>
            </a:endParaRPr>
          </a:p>
        </p:txBody>
      </p:sp>
    </p:spTree>
  </p:cSld>
  <p:clrMapOvr>
    <a:masterClrMapping/>
  </p:clrMapOvr>
  <p:transition>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39"/>
          <p:cNvSpPr txBox="1">
            <a:spLocks noGrp="1"/>
          </p:cNvSpPr>
          <p:nvPr>
            <p:ph type="body" idx="2"/>
          </p:nvPr>
        </p:nvSpPr>
        <p:spPr>
          <a:xfrm>
            <a:off x="457200" y="4998981"/>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dirty="0">
                <a:solidFill>
                  <a:srgbClr val="7D97AD"/>
                </a:solidFill>
                <a:latin typeface="Open Sans"/>
                <a:ea typeface="Open Sans"/>
                <a:cs typeface="Open Sans"/>
                <a:sym typeface="Open Sans"/>
              </a:rPr>
              <a:t>© 201</a:t>
            </a:r>
            <a:r>
              <a:rPr lang="en" dirty="0"/>
              <a:t>9</a:t>
            </a:r>
            <a:r>
              <a:rPr lang="en" sz="700" b="0" i="0" u="none" strike="noStrike" cap="none" dirty="0">
                <a:solidFill>
                  <a:srgbClr val="7D97AD"/>
                </a:solidFill>
                <a:latin typeface="Open Sans"/>
                <a:ea typeface="Open Sans"/>
                <a:cs typeface="Open Sans"/>
                <a:sym typeface="Open Sans"/>
              </a:rPr>
              <a:t> Udacity.  All rights reserved.</a:t>
            </a:r>
            <a:endParaRPr sz="500" dirty="0"/>
          </a:p>
        </p:txBody>
      </p:sp>
      <p:sp>
        <p:nvSpPr>
          <p:cNvPr id="202" name="Google Shape;202;p39"/>
          <p:cNvSpPr txBox="1">
            <a:spLocks noGrp="1"/>
          </p:cNvSpPr>
          <p:nvPr>
            <p:ph type="title"/>
          </p:nvPr>
        </p:nvSpPr>
        <p:spPr>
          <a:xfrm>
            <a:off x="381000" y="34160"/>
            <a:ext cx="8229600" cy="59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dirty="0"/>
              <a:t>Sprint Planning Meeting Preparation</a:t>
            </a:r>
            <a:endParaRPr sz="2800" dirty="0"/>
          </a:p>
        </p:txBody>
      </p:sp>
      <p:sp>
        <p:nvSpPr>
          <p:cNvPr id="203" name="Google Shape;203;p39"/>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6</a:t>
            </a:fld>
            <a:endParaRPr>
              <a:solidFill>
                <a:srgbClr val="929292"/>
              </a:solidFill>
            </a:endParaRPr>
          </a:p>
        </p:txBody>
      </p:sp>
      <p:graphicFrame>
        <p:nvGraphicFramePr>
          <p:cNvPr id="204" name="Google Shape;204;p39"/>
          <p:cNvGraphicFramePr/>
          <p:nvPr>
            <p:extLst>
              <p:ext uri="{D42A27DB-BD31-4B8C-83A1-F6EECF244321}">
                <p14:modId xmlns:p14="http://schemas.microsoft.com/office/powerpoint/2010/main" val="678118949"/>
              </p:ext>
            </p:extLst>
          </p:nvPr>
        </p:nvGraphicFramePr>
        <p:xfrm>
          <a:off x="468306" y="444268"/>
          <a:ext cx="8102003" cy="4611863"/>
        </p:xfrm>
        <a:graphic>
          <a:graphicData uri="http://schemas.openxmlformats.org/drawingml/2006/table">
            <a:tbl>
              <a:tblPr>
                <a:noFill/>
                <a:tableStyleId>{16132107-9968-4529-8D7F-A200421C30BD}</a:tableStyleId>
              </a:tblPr>
              <a:tblGrid>
                <a:gridCol w="376914">
                  <a:extLst>
                    <a:ext uri="{9D8B030D-6E8A-4147-A177-3AD203B41FA5}">
                      <a16:colId xmlns:a16="http://schemas.microsoft.com/office/drawing/2014/main" val="20000"/>
                    </a:ext>
                  </a:extLst>
                </a:gridCol>
                <a:gridCol w="7725089">
                  <a:extLst>
                    <a:ext uri="{9D8B030D-6E8A-4147-A177-3AD203B41FA5}">
                      <a16:colId xmlns:a16="http://schemas.microsoft.com/office/drawing/2014/main" val="20001"/>
                    </a:ext>
                  </a:extLst>
                </a:gridCol>
              </a:tblGrid>
              <a:tr h="325633">
                <a:tc gridSpan="2">
                  <a:txBody>
                    <a:bodyPr/>
                    <a:lstStyle/>
                    <a:p>
                      <a:pPr marL="0" lvl="0" indent="0" algn="l" rtl="0">
                        <a:lnSpc>
                          <a:spcPct val="115000"/>
                        </a:lnSpc>
                        <a:spcBef>
                          <a:spcPts val="0"/>
                        </a:spcBef>
                        <a:spcAft>
                          <a:spcPts val="0"/>
                        </a:spcAft>
                        <a:buNone/>
                      </a:pPr>
                      <a:r>
                        <a:rPr lang="en" sz="900" b="1" dirty="0">
                          <a:solidFill>
                            <a:srgbClr val="2D3D4A"/>
                          </a:solidFill>
                          <a:latin typeface="Open Sans"/>
                          <a:ea typeface="Open Sans"/>
                          <a:cs typeface="Open Sans"/>
                          <a:sym typeface="Open Sans"/>
                        </a:rPr>
                        <a:t>Sprint Goal</a:t>
                      </a:r>
                      <a:endParaRPr sz="900" dirty="0">
                        <a:solidFill>
                          <a:srgbClr val="9E9E9E"/>
                        </a:solidFill>
                        <a:latin typeface="Open Sans"/>
                        <a:ea typeface="Open Sans"/>
                        <a:cs typeface="Open Sans"/>
                        <a:sym typeface="Open Sans"/>
                      </a:endParaRPr>
                    </a:p>
                  </a:txBody>
                  <a:tcPr marL="91425" marR="91425" marT="91425" marB="91425"/>
                </a:tc>
                <a:tc hMerge="1">
                  <a:txBody>
                    <a:bodyPr/>
                    <a:lstStyle/>
                    <a:p>
                      <a:endParaRPr lang="en-US"/>
                    </a:p>
                  </a:txBody>
                  <a:tcPr/>
                </a:tc>
                <a:extLst>
                  <a:ext uri="{0D108BD9-81ED-4DB2-BD59-A6C34878D82A}">
                    <a16:rowId xmlns:a16="http://schemas.microsoft.com/office/drawing/2014/main" val="10000"/>
                  </a:ext>
                </a:extLst>
              </a:tr>
              <a:tr h="343122">
                <a:tc gridSpan="2">
                  <a:txBody>
                    <a:bodyPr/>
                    <a:lstStyle/>
                    <a:p>
                      <a:pPr marL="0" lvl="0" indent="0" algn="l" rtl="0">
                        <a:lnSpc>
                          <a:spcPct val="115000"/>
                        </a:lnSpc>
                        <a:spcBef>
                          <a:spcPts val="0"/>
                        </a:spcBef>
                        <a:spcAft>
                          <a:spcPts val="0"/>
                        </a:spcAft>
                        <a:buNone/>
                      </a:pPr>
                      <a:r>
                        <a:rPr lang="en" sz="900" dirty="0">
                          <a:solidFill>
                            <a:schemeClr val="tx1">
                              <a:lumMod val="50000"/>
                            </a:schemeClr>
                          </a:solidFill>
                          <a:latin typeface="Open Sans"/>
                          <a:ea typeface="Open Sans"/>
                          <a:cs typeface="Open Sans"/>
                          <a:sym typeface="Open Sans"/>
                        </a:rPr>
                        <a:t>Implement basic authentication via member login and basic weight management via an action plan based upon the user’s weight goal and activity/food logging to track progress towards that goal.</a:t>
                      </a:r>
                      <a:endParaRPr sz="900" dirty="0">
                        <a:solidFill>
                          <a:schemeClr val="tx1">
                            <a:lumMod val="50000"/>
                          </a:schemeClr>
                        </a:solidFill>
                        <a:latin typeface="Open Sans"/>
                        <a:ea typeface="Open Sans"/>
                        <a:cs typeface="Open Sans"/>
                        <a:sym typeface="Open Sans"/>
                      </a:endParaRPr>
                    </a:p>
                  </a:txBody>
                  <a:tcPr marL="91425" marR="91425" marT="91425" marB="91425"/>
                </a:tc>
                <a:tc hMerge="1">
                  <a:txBody>
                    <a:bodyPr/>
                    <a:lstStyle/>
                    <a:p>
                      <a:endParaRPr lang="en-US"/>
                    </a:p>
                  </a:txBody>
                  <a:tcPr/>
                </a:tc>
                <a:extLst>
                  <a:ext uri="{0D108BD9-81ED-4DB2-BD59-A6C34878D82A}">
                    <a16:rowId xmlns:a16="http://schemas.microsoft.com/office/drawing/2014/main" val="10001"/>
                  </a:ext>
                </a:extLst>
              </a:tr>
              <a:tr h="343122">
                <a:tc gridSpan="2">
                  <a:txBody>
                    <a:bodyPr/>
                    <a:lstStyle/>
                    <a:p>
                      <a:pPr marL="0" lvl="0" indent="0" algn="l" rtl="0">
                        <a:lnSpc>
                          <a:spcPct val="115000"/>
                        </a:lnSpc>
                        <a:spcBef>
                          <a:spcPts val="700"/>
                        </a:spcBef>
                        <a:spcAft>
                          <a:spcPts val="0"/>
                        </a:spcAft>
                        <a:buNone/>
                      </a:pPr>
                      <a:r>
                        <a:rPr lang="en" sz="900" b="1" dirty="0">
                          <a:solidFill>
                            <a:srgbClr val="2D3D4A"/>
                          </a:solidFill>
                          <a:latin typeface="Open Sans"/>
                          <a:ea typeface="Open Sans"/>
                          <a:cs typeface="Open Sans"/>
                          <a:sym typeface="Open Sans"/>
                        </a:rPr>
                        <a:t>Sprint Backlog</a:t>
                      </a:r>
                      <a:endParaRPr sz="900" dirty="0">
                        <a:latin typeface="Open Sans"/>
                        <a:ea typeface="Open Sans"/>
                        <a:cs typeface="Open Sans"/>
                        <a:sym typeface="Open Sans"/>
                      </a:endParaRPr>
                    </a:p>
                  </a:txBody>
                  <a:tcPr marL="91425" marR="91425" marT="91425" marB="91425"/>
                </a:tc>
                <a:tc hMerge="1">
                  <a:txBody>
                    <a:bodyPr/>
                    <a:lstStyle/>
                    <a:p>
                      <a:endParaRPr lang="en-US"/>
                    </a:p>
                  </a:txBody>
                  <a:tcPr/>
                </a:tc>
                <a:extLst>
                  <a:ext uri="{0D108BD9-81ED-4DB2-BD59-A6C34878D82A}">
                    <a16:rowId xmlns:a16="http://schemas.microsoft.com/office/drawing/2014/main" val="10002"/>
                  </a:ext>
                </a:extLst>
              </a:tr>
              <a:tr h="457541">
                <a:tc>
                  <a:txBody>
                    <a:bodyPr/>
                    <a:lstStyle/>
                    <a:p>
                      <a:pPr marL="0" lvl="0" indent="0" algn="l" rtl="0">
                        <a:spcBef>
                          <a:spcPts val="0"/>
                        </a:spcBef>
                        <a:spcAft>
                          <a:spcPts val="0"/>
                        </a:spcAft>
                        <a:buNone/>
                      </a:pPr>
                      <a:r>
                        <a:rPr lang="en" sz="900">
                          <a:latin typeface="Open Sans"/>
                          <a:ea typeface="Open Sans"/>
                          <a:cs typeface="Open Sans"/>
                          <a:sym typeface="Open Sans"/>
                        </a:rPr>
                        <a:t>1</a:t>
                      </a:r>
                      <a:endParaRPr sz="900">
                        <a:latin typeface="Open Sans"/>
                        <a:ea typeface="Open Sans"/>
                        <a:cs typeface="Open Sans"/>
                        <a:sym typeface="Open Sans"/>
                      </a:endParaRPr>
                    </a:p>
                  </a:txBody>
                  <a:tcPr marL="91425" marR="91425" marT="91425" marB="91425"/>
                </a:tc>
                <a:tc>
                  <a:txBody>
                    <a:bodyPr/>
                    <a:lstStyle/>
                    <a:p>
                      <a:pPr marL="0" lvl="0" indent="0" algn="l" rtl="0">
                        <a:spcBef>
                          <a:spcPts val="0"/>
                        </a:spcBef>
                        <a:spcAft>
                          <a:spcPts val="0"/>
                        </a:spcAft>
                        <a:buNone/>
                      </a:pPr>
                      <a:r>
                        <a:rPr lang="en-US" sz="900" noProof="0" dirty="0">
                          <a:solidFill>
                            <a:srgbClr val="2D3D4A"/>
                          </a:solidFill>
                          <a:latin typeface="Open Sans"/>
                          <a:ea typeface="Open Sans"/>
                          <a:cs typeface="Open Sans"/>
                          <a:sym typeface="Open Sans"/>
                        </a:rPr>
                        <a:t>As a Kaiser </a:t>
                      </a:r>
                      <a:r>
                        <a:rPr lang="en-US" sz="900" noProof="0" dirty="0" err="1">
                          <a:solidFill>
                            <a:srgbClr val="2D3D4A"/>
                          </a:solidFill>
                          <a:latin typeface="Open Sans"/>
                          <a:ea typeface="Open Sans"/>
                          <a:cs typeface="Open Sans"/>
                          <a:sym typeface="Open Sans"/>
                        </a:rPr>
                        <a:t>Permanaente</a:t>
                      </a:r>
                      <a:r>
                        <a:rPr lang="en-US" sz="900" noProof="0" dirty="0">
                          <a:solidFill>
                            <a:srgbClr val="2D3D4A"/>
                          </a:solidFill>
                          <a:latin typeface="Open Sans"/>
                          <a:ea typeface="Open Sans"/>
                          <a:cs typeface="Open Sans"/>
                          <a:sym typeface="Open Sans"/>
                        </a:rPr>
                        <a:t> member, I want to be able to create an account with my member ID, so that I can log into and use the app.</a:t>
                      </a:r>
                    </a:p>
                  </a:txBody>
                  <a:tcPr marL="91425" marR="91425" marT="91425" marB="91425"/>
                </a:tc>
                <a:extLst>
                  <a:ext uri="{0D108BD9-81ED-4DB2-BD59-A6C34878D82A}">
                    <a16:rowId xmlns:a16="http://schemas.microsoft.com/office/drawing/2014/main" val="10003"/>
                  </a:ext>
                </a:extLst>
              </a:tr>
              <a:tr h="457541">
                <a:tc>
                  <a:txBody>
                    <a:bodyPr/>
                    <a:lstStyle/>
                    <a:p>
                      <a:pPr marL="0" lvl="0" indent="0" algn="l" rtl="0">
                        <a:spcBef>
                          <a:spcPts val="0"/>
                        </a:spcBef>
                        <a:spcAft>
                          <a:spcPts val="0"/>
                        </a:spcAft>
                        <a:buNone/>
                      </a:pPr>
                      <a:r>
                        <a:rPr lang="en" sz="900">
                          <a:latin typeface="Open Sans"/>
                          <a:ea typeface="Open Sans"/>
                          <a:cs typeface="Open Sans"/>
                          <a:sym typeface="Open Sans"/>
                        </a:rPr>
                        <a:t>2</a:t>
                      </a:r>
                      <a:endParaRPr sz="900">
                        <a:latin typeface="Open Sans"/>
                        <a:ea typeface="Open Sans"/>
                        <a:cs typeface="Open Sans"/>
                        <a:sym typeface="Open Sans"/>
                      </a:endParaRPr>
                    </a:p>
                  </a:txBody>
                  <a:tcPr marL="91425" marR="91425" marT="91425" marB="91425"/>
                </a:tc>
                <a:tc>
                  <a:txBody>
                    <a:bodyPr/>
                    <a:lstStyle/>
                    <a:p>
                      <a:pPr marL="0" lvl="0" indent="0" algn="l" rtl="0">
                        <a:spcBef>
                          <a:spcPts val="0"/>
                        </a:spcBef>
                        <a:spcAft>
                          <a:spcPts val="0"/>
                        </a:spcAft>
                        <a:buNone/>
                      </a:pPr>
                      <a:r>
                        <a:rPr lang="en-US" sz="900" dirty="0">
                          <a:solidFill>
                            <a:srgbClr val="2D3D4A"/>
                          </a:solidFill>
                          <a:latin typeface="Open Sans"/>
                          <a:ea typeface="Open Sans"/>
                          <a:cs typeface="Open Sans"/>
                          <a:sym typeface="Open Sans"/>
                        </a:rPr>
                        <a:t>As a user, I want to be able to enter my current weight and target weight so that the app can recommend an action plan.</a:t>
                      </a:r>
                      <a:endParaRPr sz="900" dirty="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4"/>
                  </a:ext>
                </a:extLst>
              </a:tr>
              <a:tr h="457541">
                <a:tc>
                  <a:txBody>
                    <a:bodyPr/>
                    <a:lstStyle/>
                    <a:p>
                      <a:pPr marL="0" lvl="0" indent="0" algn="l" rtl="0">
                        <a:spcBef>
                          <a:spcPts val="0"/>
                        </a:spcBef>
                        <a:spcAft>
                          <a:spcPts val="0"/>
                        </a:spcAft>
                        <a:buNone/>
                      </a:pPr>
                      <a:r>
                        <a:rPr lang="en" sz="900">
                          <a:latin typeface="Open Sans"/>
                          <a:ea typeface="Open Sans"/>
                          <a:cs typeface="Open Sans"/>
                          <a:sym typeface="Open Sans"/>
                        </a:rPr>
                        <a:t>3</a:t>
                      </a:r>
                      <a:endParaRPr sz="900">
                        <a:latin typeface="Open Sans"/>
                        <a:ea typeface="Open Sans"/>
                        <a:cs typeface="Open Sans"/>
                        <a:sym typeface="Open Sans"/>
                      </a:endParaRPr>
                    </a:p>
                  </a:txBody>
                  <a:tcPr marL="91425" marR="91425" marT="91425" marB="91425"/>
                </a:tc>
                <a:tc>
                  <a:txBody>
                    <a:bodyPr/>
                    <a:lstStyle/>
                    <a:p>
                      <a:pPr marL="0" lvl="0" indent="0" algn="l" rtl="0">
                        <a:spcBef>
                          <a:spcPts val="0"/>
                        </a:spcBef>
                        <a:spcAft>
                          <a:spcPts val="0"/>
                        </a:spcAft>
                        <a:buNone/>
                      </a:pPr>
                      <a:r>
                        <a:rPr lang="en-US" sz="900" dirty="0">
                          <a:solidFill>
                            <a:srgbClr val="2D3D4A"/>
                          </a:solidFill>
                          <a:latin typeface="Open Sans"/>
                          <a:ea typeface="Open Sans"/>
                          <a:cs typeface="Open Sans"/>
                          <a:sym typeface="Open Sans"/>
                        </a:rPr>
                        <a:t>As a user, I want to be able to enter in the type and amount of physical activity that I’ve done, so that the app can calculate how many calories I have burned and count it towards my daily goal.</a:t>
                      </a:r>
                      <a:endParaRPr sz="900" dirty="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5"/>
                  </a:ext>
                </a:extLst>
              </a:tr>
              <a:tr h="457541">
                <a:tc>
                  <a:txBody>
                    <a:bodyPr/>
                    <a:lstStyle/>
                    <a:p>
                      <a:pPr marL="0" lvl="0" indent="0" algn="l" rtl="0">
                        <a:spcBef>
                          <a:spcPts val="0"/>
                        </a:spcBef>
                        <a:spcAft>
                          <a:spcPts val="0"/>
                        </a:spcAft>
                        <a:buNone/>
                      </a:pPr>
                      <a:r>
                        <a:rPr lang="en" sz="900">
                          <a:latin typeface="Open Sans"/>
                          <a:ea typeface="Open Sans"/>
                          <a:cs typeface="Open Sans"/>
                          <a:sym typeface="Open Sans"/>
                        </a:rPr>
                        <a:t>4</a:t>
                      </a:r>
                      <a:endParaRPr sz="900">
                        <a:latin typeface="Open Sans"/>
                        <a:ea typeface="Open Sans"/>
                        <a:cs typeface="Open Sans"/>
                        <a:sym typeface="Open Sans"/>
                      </a:endParaRPr>
                    </a:p>
                  </a:txBody>
                  <a:tcPr marL="91425" marR="91425" marT="91425" marB="91425"/>
                </a:tc>
                <a:tc>
                  <a:txBody>
                    <a:bodyPr/>
                    <a:lstStyle/>
                    <a:p>
                      <a:pPr marL="0" lvl="0" indent="0" algn="l" rtl="0">
                        <a:spcBef>
                          <a:spcPts val="0"/>
                        </a:spcBef>
                        <a:spcAft>
                          <a:spcPts val="0"/>
                        </a:spcAft>
                        <a:buNone/>
                      </a:pPr>
                      <a:r>
                        <a:rPr lang="en-US" sz="900" dirty="0">
                          <a:solidFill>
                            <a:srgbClr val="2D3D4A"/>
                          </a:solidFill>
                          <a:latin typeface="Open Sans"/>
                          <a:ea typeface="Open Sans"/>
                          <a:cs typeface="Open Sans"/>
                          <a:sym typeface="Open Sans"/>
                        </a:rPr>
                        <a:t>As a user, I want to be able to enter in the foods that I have eaten, so that the app can calculate how many calories I have consumed and count it towards my daily goal.</a:t>
                      </a:r>
                      <a:endParaRPr sz="900" dirty="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6"/>
                  </a:ext>
                </a:extLst>
              </a:tr>
              <a:tr h="457541">
                <a:tc>
                  <a:txBody>
                    <a:bodyPr/>
                    <a:lstStyle/>
                    <a:p>
                      <a:pPr marL="0" lvl="0" indent="0" algn="l" rtl="0">
                        <a:spcBef>
                          <a:spcPts val="0"/>
                        </a:spcBef>
                        <a:spcAft>
                          <a:spcPts val="0"/>
                        </a:spcAft>
                        <a:buNone/>
                      </a:pPr>
                      <a:r>
                        <a:rPr lang="en" sz="900">
                          <a:latin typeface="Open Sans"/>
                          <a:ea typeface="Open Sans"/>
                          <a:cs typeface="Open Sans"/>
                          <a:sym typeface="Open Sans"/>
                        </a:rPr>
                        <a:t>5</a:t>
                      </a:r>
                      <a:endParaRPr sz="900">
                        <a:latin typeface="Open Sans"/>
                        <a:ea typeface="Open Sans"/>
                        <a:cs typeface="Open Sans"/>
                        <a:sym typeface="Open Sans"/>
                      </a:endParaRPr>
                    </a:p>
                  </a:txBody>
                  <a:tcPr marL="91425" marR="91425" marT="91425" marB="91425"/>
                </a:tc>
                <a:tc>
                  <a:txBody>
                    <a:bodyPr/>
                    <a:lstStyle/>
                    <a:p>
                      <a:pPr marL="0" lvl="0" indent="0" algn="l" rtl="0">
                        <a:spcBef>
                          <a:spcPts val="0"/>
                        </a:spcBef>
                        <a:spcAft>
                          <a:spcPts val="0"/>
                        </a:spcAft>
                        <a:buNone/>
                      </a:pPr>
                      <a:r>
                        <a:rPr lang="en-US" sz="900" dirty="0">
                          <a:solidFill>
                            <a:srgbClr val="2D3D4A"/>
                          </a:solidFill>
                          <a:latin typeface="Open Sans"/>
                          <a:ea typeface="Open Sans"/>
                          <a:cs typeface="Open Sans"/>
                          <a:sym typeface="Open Sans"/>
                        </a:rPr>
                        <a:t>As a user, I want to be able to view the meals and activity that I’ve logged and their corresponding calories, so that I can see how I am advancing towards my goal.</a:t>
                      </a:r>
                      <a:endParaRPr sz="900" dirty="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7"/>
                  </a:ext>
                </a:extLst>
              </a:tr>
              <a:tr h="343122">
                <a:tc gridSpan="2">
                  <a:txBody>
                    <a:bodyPr/>
                    <a:lstStyle/>
                    <a:p>
                      <a:pPr marL="0" lvl="0" indent="0" algn="l" rtl="0">
                        <a:lnSpc>
                          <a:spcPct val="115000"/>
                        </a:lnSpc>
                        <a:spcBef>
                          <a:spcPts val="700"/>
                        </a:spcBef>
                        <a:spcAft>
                          <a:spcPts val="0"/>
                        </a:spcAft>
                        <a:buNone/>
                      </a:pPr>
                      <a:r>
                        <a:rPr lang="en" sz="900" b="1">
                          <a:solidFill>
                            <a:srgbClr val="2D3D4A"/>
                          </a:solidFill>
                          <a:latin typeface="Open Sans"/>
                          <a:ea typeface="Open Sans"/>
                          <a:cs typeface="Open Sans"/>
                          <a:sym typeface="Open Sans"/>
                        </a:rPr>
                        <a:t>Sprint Prioritization Logic</a:t>
                      </a:r>
                      <a:endParaRPr sz="900">
                        <a:latin typeface="Open Sans"/>
                        <a:ea typeface="Open Sans"/>
                        <a:cs typeface="Open Sans"/>
                        <a:sym typeface="Open Sans"/>
                      </a:endParaRPr>
                    </a:p>
                  </a:txBody>
                  <a:tcPr marL="91425" marR="91425" marT="91425" marB="91425"/>
                </a:tc>
                <a:tc hMerge="1">
                  <a:txBody>
                    <a:bodyPr/>
                    <a:lstStyle/>
                    <a:p>
                      <a:endParaRPr lang="en-US"/>
                    </a:p>
                  </a:txBody>
                  <a:tcPr/>
                </a:tc>
                <a:extLst>
                  <a:ext uri="{0D108BD9-81ED-4DB2-BD59-A6C34878D82A}">
                    <a16:rowId xmlns:a16="http://schemas.microsoft.com/office/drawing/2014/main" val="10008"/>
                  </a:ext>
                </a:extLst>
              </a:tr>
              <a:tr h="818950">
                <a:tc gridSpan="2">
                  <a:txBody>
                    <a:bodyPr/>
                    <a:lstStyle/>
                    <a:p>
                      <a:pPr marL="171450" lvl="0" indent="-171450" algn="l" rtl="0">
                        <a:lnSpc>
                          <a:spcPct val="115000"/>
                        </a:lnSpc>
                        <a:spcBef>
                          <a:spcPts val="0"/>
                        </a:spcBef>
                        <a:spcAft>
                          <a:spcPts val="0"/>
                        </a:spcAft>
                        <a:buFont typeface="Arial" panose="020B0604020202020204" pitchFamily="34" charset="0"/>
                        <a:buChar char="•"/>
                      </a:pPr>
                      <a:r>
                        <a:rPr lang="en" sz="900" dirty="0">
                          <a:solidFill>
                            <a:schemeClr val="tx1">
                              <a:lumMod val="50000"/>
                            </a:schemeClr>
                          </a:solidFill>
                          <a:latin typeface="Open Sans"/>
                          <a:ea typeface="Open Sans"/>
                          <a:cs typeface="Open Sans"/>
                          <a:sym typeface="Open Sans"/>
                        </a:rPr>
                        <a:t>We need to have a functional product at the end of the sprint and all of the combined result in a </a:t>
                      </a:r>
                      <a:r>
                        <a:rPr lang="en-US" sz="900" dirty="0">
                          <a:solidFill>
                            <a:schemeClr val="tx1">
                              <a:lumMod val="50000"/>
                            </a:schemeClr>
                          </a:solidFill>
                          <a:latin typeface="Open Sans"/>
                          <a:ea typeface="Open Sans"/>
                          <a:cs typeface="Open Sans"/>
                          <a:sym typeface="Open Sans"/>
                        </a:rPr>
                        <a:t>basic weight management product that can be verified internally so that we can work towards a beta testing program</a:t>
                      </a:r>
                      <a:r>
                        <a:rPr lang="en" sz="900" dirty="0">
                          <a:solidFill>
                            <a:schemeClr val="tx1">
                              <a:lumMod val="50000"/>
                            </a:schemeClr>
                          </a:solidFill>
                          <a:latin typeface="Open Sans"/>
                          <a:ea typeface="Open Sans"/>
                          <a:cs typeface="Open Sans"/>
                          <a:sym typeface="Open Sans"/>
                        </a:rPr>
                        <a:t>.</a:t>
                      </a:r>
                    </a:p>
                    <a:p>
                      <a:pPr marL="171450" lvl="0" indent="-171450" algn="l" rtl="0">
                        <a:lnSpc>
                          <a:spcPct val="115000"/>
                        </a:lnSpc>
                        <a:spcBef>
                          <a:spcPts val="0"/>
                        </a:spcBef>
                        <a:spcAft>
                          <a:spcPts val="0"/>
                        </a:spcAft>
                        <a:buFont typeface="Arial" panose="020B0604020202020204" pitchFamily="34" charset="0"/>
                        <a:buChar char="•"/>
                      </a:pPr>
                      <a:r>
                        <a:rPr lang="en" sz="900" dirty="0">
                          <a:solidFill>
                            <a:schemeClr val="tx1">
                              <a:lumMod val="50000"/>
                            </a:schemeClr>
                          </a:solidFill>
                          <a:latin typeface="Open Sans"/>
                          <a:ea typeface="Open Sans"/>
                          <a:cs typeface="Open Sans"/>
                          <a:sym typeface="Open Sans"/>
                        </a:rPr>
                        <a:t>According to the product roadmap, weight management was one of the first areas that we want to implement since it is the basis of many preventing many chronic diseases.</a:t>
                      </a:r>
                      <a:endParaRPr sz="900" dirty="0">
                        <a:solidFill>
                          <a:schemeClr val="tx1">
                            <a:lumMod val="50000"/>
                          </a:schemeClr>
                        </a:solidFill>
                        <a:latin typeface="Open Sans"/>
                        <a:ea typeface="Open Sans"/>
                        <a:cs typeface="Open Sans"/>
                        <a:sym typeface="Open Sans"/>
                      </a:endParaRPr>
                    </a:p>
                  </a:txBody>
                  <a:tcPr marL="91425" marR="91425" marT="91425" marB="91425"/>
                </a:tc>
                <a:tc hMerge="1">
                  <a:txBody>
                    <a:bodyPr/>
                    <a:lstStyle/>
                    <a:p>
                      <a:endParaRPr lang="en-US"/>
                    </a:p>
                  </a:txBody>
                  <a:tcPr/>
                </a:tc>
                <a:extLst>
                  <a:ext uri="{0D108BD9-81ED-4DB2-BD59-A6C34878D82A}">
                    <a16:rowId xmlns:a16="http://schemas.microsoft.com/office/drawing/2014/main" val="10009"/>
                  </a:ext>
                </a:extLst>
              </a:tr>
            </a:tbl>
          </a:graphicData>
        </a:graphic>
      </p:graphicFrame>
    </p:spTree>
  </p:cSld>
  <p:clrMapOvr>
    <a:masterClrMapping/>
  </p:clrMapOvr>
  <p:transition>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42"/>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227" name="Google Shape;227;p42"/>
          <p:cNvSpPr txBox="1">
            <a:spLocks noGrp="1"/>
          </p:cNvSpPr>
          <p:nvPr>
            <p:ph type="title"/>
          </p:nvPr>
        </p:nvSpPr>
        <p:spPr>
          <a:xfrm>
            <a:off x="304800" y="76200"/>
            <a:ext cx="8229600" cy="59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dirty="0"/>
              <a:t>User Story 1</a:t>
            </a:r>
            <a:endParaRPr sz="2800" dirty="0"/>
          </a:p>
        </p:txBody>
      </p:sp>
      <p:sp>
        <p:nvSpPr>
          <p:cNvPr id="228" name="Google Shape;228;p42"/>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7</a:t>
            </a:fld>
            <a:endParaRPr>
              <a:solidFill>
                <a:srgbClr val="929292"/>
              </a:solidFill>
            </a:endParaRPr>
          </a:p>
        </p:txBody>
      </p:sp>
      <p:graphicFrame>
        <p:nvGraphicFramePr>
          <p:cNvPr id="229" name="Google Shape;229;p42"/>
          <p:cNvGraphicFramePr/>
          <p:nvPr>
            <p:extLst>
              <p:ext uri="{D42A27DB-BD31-4B8C-83A1-F6EECF244321}">
                <p14:modId xmlns:p14="http://schemas.microsoft.com/office/powerpoint/2010/main" val="3657269483"/>
              </p:ext>
            </p:extLst>
          </p:nvPr>
        </p:nvGraphicFramePr>
        <p:xfrm>
          <a:off x="134953" y="531325"/>
          <a:ext cx="8603350" cy="4214965"/>
        </p:xfrm>
        <a:graphic>
          <a:graphicData uri="http://schemas.openxmlformats.org/drawingml/2006/table">
            <a:tbl>
              <a:tblPr>
                <a:noFill/>
                <a:tableStyleId>{16132107-9968-4529-8D7F-A200421C30BD}</a:tableStyleId>
              </a:tblPr>
              <a:tblGrid>
                <a:gridCol w="1200900">
                  <a:extLst>
                    <a:ext uri="{9D8B030D-6E8A-4147-A177-3AD203B41FA5}">
                      <a16:colId xmlns:a16="http://schemas.microsoft.com/office/drawing/2014/main" val="20000"/>
                    </a:ext>
                  </a:extLst>
                </a:gridCol>
                <a:gridCol w="7402450">
                  <a:extLst>
                    <a:ext uri="{9D8B030D-6E8A-4147-A177-3AD203B41FA5}">
                      <a16:colId xmlns:a16="http://schemas.microsoft.com/office/drawing/2014/main" val="20001"/>
                    </a:ext>
                  </a:extLst>
                </a:gridCol>
              </a:tblGrid>
              <a:tr h="432328">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User Story</a:t>
                      </a:r>
                      <a:endParaRPr sz="900" b="1">
                        <a:solidFill>
                          <a:srgbClr val="2D3D4A"/>
                        </a:solidFill>
                        <a:latin typeface="Open Sans"/>
                        <a:ea typeface="Open Sans"/>
                        <a:cs typeface="Open Sans"/>
                        <a:sym typeface="Open Sans"/>
                      </a:endParaRPr>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800" dirty="0">
                          <a:solidFill>
                            <a:srgbClr val="2D3D4A"/>
                          </a:solidFill>
                          <a:latin typeface="Open Sans"/>
                          <a:ea typeface="Open Sans"/>
                          <a:cs typeface="Open Sans"/>
                          <a:sym typeface="Open Sans"/>
                        </a:rPr>
                        <a:t>As a user, I want to be able to view the meals and activity that I’ve logged and their corresponding calories, so that I can see how I am advancing towards my goal.</a:t>
                      </a:r>
                    </a:p>
                  </a:txBody>
                  <a:tcPr marL="91425" marR="91425" marT="91425" marB="91425">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312650">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Design </a:t>
                      </a:r>
                      <a:endParaRPr sz="900" b="1">
                        <a:solidFill>
                          <a:srgbClr val="2D3D4A"/>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dirty="0">
                          <a:solidFill>
                            <a:schemeClr val="tx1">
                              <a:lumMod val="50000"/>
                            </a:schemeClr>
                          </a:solidFill>
                          <a:latin typeface="Open Sans"/>
                          <a:ea typeface="Open Sans"/>
                          <a:cs typeface="Open Sans"/>
                          <a:sym typeface="Open Sans"/>
                          <a:hlinkClick r:id="rId3"/>
                        </a:rPr>
                        <a:t>Link to Mockup</a:t>
                      </a:r>
                      <a:r>
                        <a:rPr lang="en" sz="800" dirty="0">
                          <a:solidFill>
                            <a:schemeClr val="tx1">
                              <a:lumMod val="50000"/>
                            </a:schemeClr>
                          </a:solidFill>
                          <a:latin typeface="Open Sans"/>
                          <a:ea typeface="Open Sans"/>
                          <a:cs typeface="Open Sans"/>
                          <a:sym typeface="Open Sans"/>
                        </a:rPr>
                        <a:t> (For this sprint, the ’Water’ and ‘Sleep’ sections do not need to be developed.)</a:t>
                      </a:r>
                      <a:endParaRPr sz="800" dirty="0">
                        <a:solidFill>
                          <a:schemeClr val="tx1">
                            <a:lumMod val="50000"/>
                          </a:schemeClr>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997582">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Acceptance Criteria</a:t>
                      </a:r>
                      <a:endParaRPr sz="9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900" b="1">
                        <a:solidFill>
                          <a:srgbClr val="2D3D4A"/>
                        </a:solidFill>
                        <a:latin typeface="Open Sans"/>
                        <a:ea typeface="Open Sans"/>
                        <a:cs typeface="Open Sans"/>
                        <a:sym typeface="Open Sans"/>
                      </a:endParaRPr>
                    </a:p>
                  </a:txBody>
                  <a:tcPr marL="91425" marR="91425" marT="91425" marB="91425">
                    <a:lnT w="9525" cap="flat" cmpd="sng">
                      <a:solidFill>
                        <a:srgbClr val="9E9E9E"/>
                      </a:solidFill>
                      <a:prstDash val="solid"/>
                      <a:round/>
                      <a:headEnd type="none" w="sm" len="sm"/>
                      <a:tailEnd type="none" w="sm" len="sm"/>
                    </a:lnT>
                  </a:tcPr>
                </a:tc>
                <a:tc>
                  <a:txBody>
                    <a:bodyPr/>
                    <a:lstStyle/>
                    <a:p>
                      <a:pPr marL="171450" lvl="0" indent="-171450" algn="l" rtl="0">
                        <a:lnSpc>
                          <a:spcPct val="115000"/>
                        </a:lnSpc>
                        <a:spcBef>
                          <a:spcPts val="0"/>
                        </a:spcBef>
                        <a:spcAft>
                          <a:spcPts val="0"/>
                        </a:spcAft>
                        <a:buFont typeface="Arial" panose="020B0604020202020204" pitchFamily="34" charset="0"/>
                        <a:buChar char="•"/>
                      </a:pPr>
                      <a:r>
                        <a:rPr lang="en-US" sz="800" dirty="0">
                          <a:solidFill>
                            <a:srgbClr val="2D3D4A"/>
                          </a:solidFill>
                          <a:latin typeface="Open Sans"/>
                          <a:ea typeface="Open Sans"/>
                          <a:cs typeface="Open Sans"/>
                          <a:sym typeface="Open Sans"/>
                        </a:rPr>
                        <a:t>The user has clicked on ‘Daily Log’ from the hamburger menu or clicked on the ‘Log’ button from the bottom navigation bar to get to the ‘Daily Log’ screen.</a:t>
                      </a:r>
                    </a:p>
                    <a:p>
                      <a:pPr marL="171450" marR="0" lvl="0" indent="-171450"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800" baseline="0" dirty="0">
                          <a:solidFill>
                            <a:srgbClr val="2D3D4A"/>
                          </a:solidFill>
                          <a:latin typeface="Open Sans"/>
                          <a:ea typeface="Open Sans"/>
                          <a:cs typeface="Open Sans"/>
                          <a:sym typeface="Open Sans"/>
                        </a:rPr>
                        <a:t>The screen and its associated data load almost instantly.</a:t>
                      </a:r>
                      <a:endParaRPr lang="en-US" sz="800" dirty="0">
                        <a:solidFill>
                          <a:srgbClr val="2D3D4A"/>
                        </a:solidFill>
                        <a:latin typeface="Open Sans"/>
                        <a:ea typeface="Open Sans"/>
                        <a:cs typeface="Open Sans"/>
                        <a:sym typeface="Open Sans"/>
                      </a:endParaRPr>
                    </a:p>
                    <a:p>
                      <a:pPr marL="171450" lvl="0" indent="-171450" algn="l" rtl="0">
                        <a:lnSpc>
                          <a:spcPct val="115000"/>
                        </a:lnSpc>
                        <a:spcBef>
                          <a:spcPts val="0"/>
                        </a:spcBef>
                        <a:spcAft>
                          <a:spcPts val="0"/>
                        </a:spcAft>
                        <a:buFont typeface="Arial" panose="020B0604020202020204" pitchFamily="34" charset="0"/>
                        <a:buChar char="•"/>
                      </a:pPr>
                      <a:r>
                        <a:rPr lang="en-US" sz="800" dirty="0">
                          <a:solidFill>
                            <a:srgbClr val="2D3D4A"/>
                          </a:solidFill>
                          <a:latin typeface="Open Sans"/>
                          <a:ea typeface="Open Sans"/>
                          <a:cs typeface="Open Sans"/>
                          <a:sym typeface="Open Sans"/>
                        </a:rPr>
                        <a:t>In the ’Food’ section of the screen, the user sees the food items and their corresponding calorie amounts that they’ve logged for the day, grouped by meal (Breakfast, Lunch, Snack, Dinner)</a:t>
                      </a:r>
                      <a:r>
                        <a:rPr lang="en-US" sz="800" baseline="0" dirty="0">
                          <a:solidFill>
                            <a:srgbClr val="2D3D4A"/>
                          </a:solidFill>
                          <a:latin typeface="Open Sans"/>
                          <a:ea typeface="Open Sans"/>
                          <a:cs typeface="Open Sans"/>
                          <a:sym typeface="Open Sans"/>
                        </a:rPr>
                        <a:t>. Additionally the total calories for the meal are displayed next to the meal name.</a:t>
                      </a:r>
                    </a:p>
                    <a:p>
                      <a:pPr marL="171450" marR="0" lvl="0" indent="-171450"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800" dirty="0">
                          <a:solidFill>
                            <a:srgbClr val="2D3D4A"/>
                          </a:solidFill>
                          <a:latin typeface="Open Sans"/>
                          <a:ea typeface="Open Sans"/>
                          <a:cs typeface="Open Sans"/>
                          <a:sym typeface="Open Sans"/>
                        </a:rPr>
                        <a:t>In</a:t>
                      </a:r>
                      <a:r>
                        <a:rPr lang="en-US" sz="800" baseline="0" dirty="0">
                          <a:solidFill>
                            <a:srgbClr val="2D3D4A"/>
                          </a:solidFill>
                          <a:latin typeface="Open Sans"/>
                          <a:ea typeface="Open Sans"/>
                          <a:cs typeface="Open Sans"/>
                          <a:sym typeface="Open Sans"/>
                        </a:rPr>
                        <a:t> the ’Exercise’ section of the screen, t</a:t>
                      </a:r>
                      <a:r>
                        <a:rPr lang="en-US" sz="800" dirty="0">
                          <a:solidFill>
                            <a:srgbClr val="2D3D4A"/>
                          </a:solidFill>
                          <a:latin typeface="Open Sans"/>
                          <a:ea typeface="Open Sans"/>
                          <a:cs typeface="Open Sans"/>
                          <a:sym typeface="Open Sans"/>
                        </a:rPr>
                        <a:t>he user can see the physical activity that they’ve logged, as well as the corresponding calories that they’ve burned for each. There should be a grand total of calories burned next to the ’Exercise’ label.</a:t>
                      </a:r>
                    </a:p>
                    <a:p>
                      <a:pPr marL="171450" marR="0" lvl="0" indent="-171450"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800" baseline="0" dirty="0">
                          <a:solidFill>
                            <a:srgbClr val="2D3D4A"/>
                          </a:solidFill>
                          <a:latin typeface="Open Sans"/>
                          <a:ea typeface="Open Sans"/>
                          <a:cs typeface="Open Sans"/>
                          <a:sym typeface="Open Sans"/>
                        </a:rPr>
                        <a:t>A generally representative icon is displayed next to each logged item.</a:t>
                      </a:r>
                    </a:p>
                    <a:p>
                      <a:pPr marL="171450" lvl="0" indent="-171450" algn="l" rtl="0">
                        <a:lnSpc>
                          <a:spcPct val="115000"/>
                        </a:lnSpc>
                        <a:spcBef>
                          <a:spcPts val="0"/>
                        </a:spcBef>
                        <a:spcAft>
                          <a:spcPts val="0"/>
                        </a:spcAft>
                        <a:buFont typeface="Arial" panose="020B0604020202020204" pitchFamily="34" charset="0"/>
                        <a:buChar char="•"/>
                      </a:pPr>
                      <a:r>
                        <a:rPr lang="en-US" sz="800" baseline="0" dirty="0">
                          <a:solidFill>
                            <a:srgbClr val="2D3D4A"/>
                          </a:solidFill>
                          <a:latin typeface="Open Sans"/>
                          <a:ea typeface="Open Sans"/>
                          <a:cs typeface="Open Sans"/>
                          <a:sym typeface="Open Sans"/>
                        </a:rPr>
                        <a:t>If there is no logged data for a meal, the user sees the meal name (</a:t>
                      </a:r>
                      <a:r>
                        <a:rPr lang="en-US" sz="800" dirty="0">
                          <a:solidFill>
                            <a:srgbClr val="2D3D4A"/>
                          </a:solidFill>
                          <a:latin typeface="Open Sans"/>
                          <a:ea typeface="Open Sans"/>
                          <a:cs typeface="Open Sans"/>
                          <a:sym typeface="Open Sans"/>
                        </a:rPr>
                        <a:t>Breakfast, Lunch, Snack, Dinner), followed by the ‘+’  button. Likewise, for Exercise, the user will see the ‘Exercise’ label followed by the ‘+’  button. </a:t>
                      </a:r>
                      <a:endParaRPr lang="en-US" sz="800" baseline="0" dirty="0">
                        <a:solidFill>
                          <a:srgbClr val="2D3D4A"/>
                        </a:solidFill>
                        <a:latin typeface="Open Sans"/>
                        <a:ea typeface="Open Sans"/>
                        <a:cs typeface="Open Sans"/>
                        <a:sym typeface="Open Sans"/>
                      </a:endParaRPr>
                    </a:p>
                    <a:p>
                      <a:pPr marL="171450" marR="0" lvl="0" indent="-171450"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800" baseline="0" dirty="0">
                          <a:solidFill>
                            <a:srgbClr val="2D3D4A"/>
                          </a:solidFill>
                          <a:latin typeface="Open Sans"/>
                          <a:ea typeface="Open Sans"/>
                          <a:cs typeface="Open Sans"/>
                          <a:sym typeface="Open Sans"/>
                        </a:rPr>
                        <a:t>The user can swipe left on a logged item to delete it. The calorie count for it’s corresponding category is adjusted accordingly.</a:t>
                      </a:r>
                      <a:endParaRPr lang="en-US" sz="800" dirty="0">
                        <a:solidFill>
                          <a:srgbClr val="2D3D4A"/>
                        </a:solidFill>
                        <a:latin typeface="Open Sans"/>
                        <a:ea typeface="Open Sans"/>
                        <a:cs typeface="Open Sans"/>
                        <a:sym typeface="Open Sans"/>
                      </a:endParaRPr>
                    </a:p>
                    <a:p>
                      <a:pPr marL="171450" lvl="0" indent="-171450" algn="l" rtl="0">
                        <a:lnSpc>
                          <a:spcPct val="115000"/>
                        </a:lnSpc>
                        <a:spcBef>
                          <a:spcPts val="0"/>
                        </a:spcBef>
                        <a:spcAft>
                          <a:spcPts val="0"/>
                        </a:spcAft>
                        <a:buFont typeface="Arial" panose="020B0604020202020204" pitchFamily="34" charset="0"/>
                        <a:buChar char="•"/>
                      </a:pPr>
                      <a:r>
                        <a:rPr lang="en-US" sz="800" dirty="0">
                          <a:solidFill>
                            <a:srgbClr val="2D3D4A"/>
                          </a:solidFill>
                          <a:latin typeface="Open Sans"/>
                          <a:ea typeface="Open Sans"/>
                          <a:cs typeface="Open Sans"/>
                          <a:sym typeface="Open Sans"/>
                        </a:rPr>
                        <a:t>When the user clicks on the ‘+’ next to a meal name, they are taken to the ‘Log Food’ screen.</a:t>
                      </a:r>
                    </a:p>
                    <a:p>
                      <a:pPr marL="171450" lvl="0" indent="-171450" algn="l" rtl="0">
                        <a:lnSpc>
                          <a:spcPct val="115000"/>
                        </a:lnSpc>
                        <a:spcBef>
                          <a:spcPts val="0"/>
                        </a:spcBef>
                        <a:spcAft>
                          <a:spcPts val="0"/>
                        </a:spcAft>
                        <a:buFont typeface="Arial" panose="020B0604020202020204" pitchFamily="34" charset="0"/>
                        <a:buChar char="•"/>
                      </a:pPr>
                      <a:r>
                        <a:rPr lang="en-US" sz="800" dirty="0">
                          <a:solidFill>
                            <a:srgbClr val="2D3D4A"/>
                          </a:solidFill>
                          <a:latin typeface="Open Sans"/>
                          <a:ea typeface="Open Sans"/>
                          <a:cs typeface="Open Sans"/>
                          <a:sym typeface="Open Sans"/>
                        </a:rPr>
                        <a:t>When the user clicks on any of the logged food items,</a:t>
                      </a:r>
                      <a:r>
                        <a:rPr lang="en-US" sz="800" baseline="0" dirty="0">
                          <a:solidFill>
                            <a:srgbClr val="2D3D4A"/>
                          </a:solidFill>
                          <a:latin typeface="Open Sans"/>
                          <a:ea typeface="Open Sans"/>
                          <a:cs typeface="Open Sans"/>
                          <a:sym typeface="Open Sans"/>
                        </a:rPr>
                        <a:t> they are taken to a nutrition summary page for that item where are able to edit the quantity consumed of that item. The calorie amount will be updated automatically depending on the quantity value entered. The user can click ’Save’ to save the modification or ’Cancel’ to cancel. In either case, they are returned to the ‘Daily Log’ and the corresponding calorie amount and totals will be updated on the ‘Daily Log’ if it changed.</a:t>
                      </a:r>
                    </a:p>
                    <a:p>
                      <a:pPr marL="171450" lvl="0" indent="-171450" algn="l" rtl="0">
                        <a:lnSpc>
                          <a:spcPct val="115000"/>
                        </a:lnSpc>
                        <a:spcBef>
                          <a:spcPts val="0"/>
                        </a:spcBef>
                        <a:spcAft>
                          <a:spcPts val="0"/>
                        </a:spcAft>
                        <a:buFont typeface="Arial" panose="020B0604020202020204" pitchFamily="34" charset="0"/>
                        <a:buChar char="•"/>
                      </a:pPr>
                      <a:r>
                        <a:rPr lang="en-US" sz="800" dirty="0">
                          <a:solidFill>
                            <a:srgbClr val="2D3D4A"/>
                          </a:solidFill>
                          <a:latin typeface="Open Sans"/>
                          <a:ea typeface="Open Sans"/>
                          <a:cs typeface="Open Sans"/>
                          <a:sym typeface="Open Sans"/>
                        </a:rPr>
                        <a:t>When the user clicks on the ‘+’</a:t>
                      </a:r>
                      <a:r>
                        <a:rPr lang="en-US" sz="800" baseline="0" dirty="0">
                          <a:solidFill>
                            <a:srgbClr val="2D3D4A"/>
                          </a:solidFill>
                          <a:latin typeface="Open Sans"/>
                          <a:ea typeface="Open Sans"/>
                          <a:cs typeface="Open Sans"/>
                          <a:sym typeface="Open Sans"/>
                        </a:rPr>
                        <a:t> in the ‘Exercise’ section</a:t>
                      </a:r>
                      <a:r>
                        <a:rPr lang="en-US" sz="800" dirty="0">
                          <a:solidFill>
                            <a:srgbClr val="2D3D4A"/>
                          </a:solidFill>
                          <a:latin typeface="Open Sans"/>
                          <a:ea typeface="Open Sans"/>
                          <a:cs typeface="Open Sans"/>
                          <a:sym typeface="Open Sans"/>
                        </a:rPr>
                        <a:t>, they are taken to the ‘Log Exercise’ screen.</a:t>
                      </a:r>
                    </a:p>
                    <a:p>
                      <a:pPr marL="171450" lvl="0" indent="-171450" algn="l" rtl="0">
                        <a:lnSpc>
                          <a:spcPct val="115000"/>
                        </a:lnSpc>
                        <a:spcBef>
                          <a:spcPts val="0"/>
                        </a:spcBef>
                        <a:spcAft>
                          <a:spcPts val="0"/>
                        </a:spcAft>
                        <a:buFont typeface="Arial" panose="020B0604020202020204" pitchFamily="34" charset="0"/>
                        <a:buChar char="•"/>
                      </a:pPr>
                      <a:r>
                        <a:rPr lang="en-US" sz="800" dirty="0">
                          <a:solidFill>
                            <a:srgbClr val="2D3D4A"/>
                          </a:solidFill>
                          <a:latin typeface="Open Sans"/>
                          <a:ea typeface="Open Sans"/>
                          <a:cs typeface="Open Sans"/>
                          <a:sym typeface="Open Sans"/>
                        </a:rPr>
                        <a:t>When the user clicks on any of the logged exercises,</a:t>
                      </a:r>
                      <a:r>
                        <a:rPr lang="en-US" sz="800" baseline="0" dirty="0">
                          <a:solidFill>
                            <a:srgbClr val="2D3D4A"/>
                          </a:solidFill>
                          <a:latin typeface="Open Sans"/>
                          <a:ea typeface="Open Sans"/>
                          <a:cs typeface="Open Sans"/>
                          <a:sym typeface="Open Sans"/>
                        </a:rPr>
                        <a:t> they are taken to an exercise summary page and are able to edit the amount of time exercised for that item. The calories burned will be updated automatically depending on the time value. They can click ’Save’ to save the modification or ’Cancel’ to cancel. In either case, they are returned to the ‘Daily Log’ and the corresponding calories and totals burned will be updated if it changed.</a:t>
                      </a:r>
                    </a:p>
                  </a:txBody>
                  <a:tcPr marL="91425" marR="91425" marT="91425" marB="91425">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2"/>
                  </a:ext>
                </a:extLst>
              </a:tr>
              <a:tr h="395764">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Assumptions</a:t>
                      </a:r>
                      <a:endParaRPr sz="900" b="1">
                        <a:solidFill>
                          <a:srgbClr val="2D3D4A"/>
                        </a:solidFill>
                        <a:latin typeface="Open Sans"/>
                        <a:ea typeface="Open Sans"/>
                        <a:cs typeface="Open Sans"/>
                        <a:sym typeface="Open Sans"/>
                      </a:endParaRPr>
                    </a:p>
                  </a:txBody>
                  <a:tcPr marL="91425" marR="91425" marT="91425" marB="91425"/>
                </a:tc>
                <a:tc>
                  <a:txBody>
                    <a:bodyPr/>
                    <a:lstStyle/>
                    <a:p>
                      <a:pPr marL="171450" lvl="0" indent="-171450" algn="l" rtl="0">
                        <a:lnSpc>
                          <a:spcPct val="115000"/>
                        </a:lnSpc>
                        <a:spcBef>
                          <a:spcPts val="0"/>
                        </a:spcBef>
                        <a:spcAft>
                          <a:spcPts val="0"/>
                        </a:spcAft>
                        <a:buFont typeface="Arial" panose="020B0604020202020204" pitchFamily="34" charset="0"/>
                        <a:buChar char="•"/>
                      </a:pPr>
                      <a:r>
                        <a:rPr lang="en-US" sz="800" dirty="0">
                          <a:solidFill>
                            <a:schemeClr val="tx1">
                              <a:lumMod val="50000"/>
                            </a:schemeClr>
                          </a:solidFill>
                          <a:latin typeface="Open Sans"/>
                          <a:ea typeface="Open Sans"/>
                          <a:cs typeface="Open Sans"/>
                          <a:sym typeface="Open Sans"/>
                        </a:rPr>
                        <a:t>The logic to log and modify meals and exercises has already been developed.</a:t>
                      </a:r>
                    </a:p>
                    <a:p>
                      <a:pPr marL="171450" lvl="0" indent="-171450" algn="l" rtl="0">
                        <a:lnSpc>
                          <a:spcPct val="115000"/>
                        </a:lnSpc>
                        <a:spcBef>
                          <a:spcPts val="0"/>
                        </a:spcBef>
                        <a:spcAft>
                          <a:spcPts val="0"/>
                        </a:spcAft>
                        <a:buFont typeface="Arial" panose="020B0604020202020204" pitchFamily="34" charset="0"/>
                        <a:buChar char="•"/>
                      </a:pPr>
                      <a:r>
                        <a:rPr lang="en-US" sz="800" dirty="0">
                          <a:solidFill>
                            <a:schemeClr val="tx1">
                              <a:lumMod val="50000"/>
                            </a:schemeClr>
                          </a:solidFill>
                          <a:latin typeface="Open Sans"/>
                          <a:ea typeface="Open Sans"/>
                          <a:cs typeface="Open Sans"/>
                          <a:sym typeface="Open Sans"/>
                        </a:rPr>
                        <a:t>We have access to icons for each activity type and food type or food item.</a:t>
                      </a:r>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transition>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1"/>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219" name="Google Shape;219;p41"/>
          <p:cNvSpPr txBox="1">
            <a:spLocks noGrp="1"/>
          </p:cNvSpPr>
          <p:nvPr>
            <p:ph type="title"/>
          </p:nvPr>
        </p:nvSpPr>
        <p:spPr>
          <a:xfrm>
            <a:off x="304800" y="76200"/>
            <a:ext cx="8229600" cy="59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dirty="0"/>
              <a:t>User Story 2</a:t>
            </a:r>
            <a:endParaRPr sz="2800" dirty="0"/>
          </a:p>
        </p:txBody>
      </p:sp>
      <p:sp>
        <p:nvSpPr>
          <p:cNvPr id="220" name="Google Shape;220;p41"/>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8</a:t>
            </a:fld>
            <a:endParaRPr>
              <a:solidFill>
                <a:srgbClr val="929292"/>
              </a:solidFill>
            </a:endParaRPr>
          </a:p>
        </p:txBody>
      </p:sp>
      <p:graphicFrame>
        <p:nvGraphicFramePr>
          <p:cNvPr id="221" name="Google Shape;221;p41"/>
          <p:cNvGraphicFramePr/>
          <p:nvPr>
            <p:extLst>
              <p:ext uri="{D42A27DB-BD31-4B8C-83A1-F6EECF244321}">
                <p14:modId xmlns:p14="http://schemas.microsoft.com/office/powerpoint/2010/main" val="1784402688"/>
              </p:ext>
            </p:extLst>
          </p:nvPr>
        </p:nvGraphicFramePr>
        <p:xfrm>
          <a:off x="270325" y="599471"/>
          <a:ext cx="8603350" cy="4162237"/>
        </p:xfrm>
        <a:graphic>
          <a:graphicData uri="http://schemas.openxmlformats.org/drawingml/2006/table">
            <a:tbl>
              <a:tblPr>
                <a:noFill/>
                <a:tableStyleId>{16132107-9968-4529-8D7F-A200421C30BD}</a:tableStyleId>
              </a:tblPr>
              <a:tblGrid>
                <a:gridCol w="1183450">
                  <a:extLst>
                    <a:ext uri="{9D8B030D-6E8A-4147-A177-3AD203B41FA5}">
                      <a16:colId xmlns:a16="http://schemas.microsoft.com/office/drawing/2014/main" val="20000"/>
                    </a:ext>
                  </a:extLst>
                </a:gridCol>
                <a:gridCol w="7419900">
                  <a:extLst>
                    <a:ext uri="{9D8B030D-6E8A-4147-A177-3AD203B41FA5}">
                      <a16:colId xmlns:a16="http://schemas.microsoft.com/office/drawing/2014/main" val="20001"/>
                    </a:ext>
                  </a:extLst>
                </a:gridCol>
              </a:tblGrid>
              <a:tr h="488914">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User Story</a:t>
                      </a:r>
                      <a:endParaRPr sz="900" b="1">
                        <a:solidFill>
                          <a:srgbClr val="2D3D4A"/>
                        </a:solidFill>
                        <a:latin typeface="Open Sans"/>
                        <a:ea typeface="Open Sans"/>
                        <a:cs typeface="Open Sans"/>
                        <a:sym typeface="Open Sans"/>
                      </a:endParaRPr>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900" dirty="0">
                          <a:solidFill>
                            <a:srgbClr val="2D3D4A"/>
                          </a:solidFill>
                          <a:latin typeface="Open Sans"/>
                          <a:ea typeface="Open Sans"/>
                          <a:cs typeface="Open Sans"/>
                          <a:sym typeface="Open Sans"/>
                        </a:rPr>
                        <a:t>As a user, I want to be able to enter in the foods that I have eaten, so that the app can calculate how many calories I have consumed and count it towards my daily goal.</a:t>
                      </a:r>
                    </a:p>
                  </a:txBody>
                  <a:tcPr marL="91425" marR="91425" marT="91425" marB="91425">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321231">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Design </a:t>
                      </a:r>
                      <a:endParaRPr sz="900" b="1">
                        <a:solidFill>
                          <a:srgbClr val="2D3D4A"/>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900" dirty="0">
                          <a:solidFill>
                            <a:schemeClr val="tx1">
                              <a:lumMod val="50000"/>
                            </a:schemeClr>
                          </a:solidFill>
                          <a:latin typeface="Open Sans"/>
                          <a:ea typeface="Open Sans"/>
                          <a:cs typeface="Open Sans"/>
                          <a:sym typeface="Open Sans"/>
                          <a:hlinkClick r:id="rId3"/>
                        </a:rPr>
                        <a:t>Link to Mockup</a:t>
                      </a:r>
                      <a:endParaRPr sz="900" dirty="0">
                        <a:solidFill>
                          <a:schemeClr val="tx1">
                            <a:lumMod val="50000"/>
                          </a:schemeClr>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532154">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Acceptance Criteria</a:t>
                      </a:r>
                      <a:endParaRPr sz="9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900" b="1">
                        <a:solidFill>
                          <a:srgbClr val="2D3D4A"/>
                        </a:solidFill>
                        <a:latin typeface="Open Sans"/>
                        <a:ea typeface="Open Sans"/>
                        <a:cs typeface="Open Sans"/>
                        <a:sym typeface="Open Sans"/>
                      </a:endParaRPr>
                    </a:p>
                  </a:txBody>
                  <a:tcPr marL="91425" marR="91425" marT="91425" marB="91425">
                    <a:lnT w="9525" cap="flat" cmpd="sng">
                      <a:solidFill>
                        <a:srgbClr val="9E9E9E"/>
                      </a:solidFill>
                      <a:prstDash val="solid"/>
                      <a:round/>
                      <a:headEnd type="none" w="sm" len="sm"/>
                      <a:tailEnd type="none" w="sm" len="sm"/>
                    </a:lnT>
                  </a:tcPr>
                </a:tc>
                <a:tc>
                  <a:txBody>
                    <a:bodyPr/>
                    <a:lstStyle/>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On the Daily Log, user clicks on ‘+’ button to add a food item to a meal and is taken to the ’Log Foods’ page.</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User can search for food items by name against a large database via a search box. The search results should start to appear as the user types. </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The user can also search for foods by clicking the ‘Scan Barcode’ button, then scanning the code of the item. If the user has not yet given the app permission to access the device’s camera, they should be prompted to do so.</a:t>
                      </a:r>
                    </a:p>
                    <a:p>
                      <a:pPr marL="171450" marR="0" lvl="0" indent="-171450"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900" dirty="0">
                          <a:solidFill>
                            <a:srgbClr val="2D3D4A"/>
                          </a:solidFill>
                          <a:latin typeface="Open Sans"/>
                          <a:ea typeface="Open Sans"/>
                          <a:cs typeface="Open Sans"/>
                          <a:sym typeface="Open Sans"/>
                        </a:rPr>
                        <a:t>If the bar code isn’t recognized, an error should display saying that the item could not be found.</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If there is any delay in retrieving search results, it should not be more than a few seconds and a ’Searching’ message should appear on the screen during that time.</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If there is no match for the search, the user should receive a message saying that no results were found and that they may add the item manually by clicking on the ’New Food’ button.</a:t>
                      </a:r>
                    </a:p>
                    <a:p>
                      <a:pPr marL="171450" marR="0" lvl="0" indent="-171450" algn="l" defTabSz="914400" rtl="0" eaLnBrk="1" fontAlgn="auto" latinLnBrk="0" hangingPunct="1">
                        <a:lnSpc>
                          <a:spcPct val="115000"/>
                        </a:lnSpc>
                        <a:spcBef>
                          <a:spcPts val="0"/>
                        </a:spcBef>
                        <a:spcAft>
                          <a:spcPts val="0"/>
                        </a:spcAft>
                        <a:buClr>
                          <a:srgbClr val="000000"/>
                        </a:buClr>
                        <a:buSzTx/>
                        <a:buFont typeface="Arial" panose="020B0604020202020204" pitchFamily="34" charset="0"/>
                        <a:buChar char="•"/>
                        <a:tabLst/>
                        <a:defRPr/>
                      </a:pPr>
                      <a:r>
                        <a:rPr lang="en-US" sz="900" dirty="0">
                          <a:solidFill>
                            <a:srgbClr val="2D3D4A"/>
                          </a:solidFill>
                          <a:latin typeface="Open Sans"/>
                          <a:ea typeface="Open Sans"/>
                          <a:cs typeface="Open Sans"/>
                          <a:sym typeface="Open Sans"/>
                        </a:rPr>
                        <a:t>If the user clicks on the ’New Food’ button, they can create a new food item by entering the name and nutritional information themselves.</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When user selects a food item (either from the search results or the list of recent foods), they are taken to the ‘Nutritional Information’ page for that item where they can edit the quantity consumed, then click the ’Add’ button to add the item to their log and return to the ‘Log Foods’ page. Alternatively they can click the ‘Cancel’ button to return back to the ‘Log Foods’ page. </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After the user has chosen all of the food items they want to add, they can click the ’Done’ button to return to the Daily Log.</a:t>
                      </a:r>
                    </a:p>
                  </a:txBody>
                  <a:tcPr marL="91425" marR="91425" marT="91425" marB="91425">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2"/>
                  </a:ext>
                </a:extLst>
              </a:tr>
              <a:tr h="582499">
                <a:tc>
                  <a:txBody>
                    <a:bodyPr/>
                    <a:lstStyle/>
                    <a:p>
                      <a:pPr marL="0" lvl="0" indent="0" algn="l" rtl="0">
                        <a:lnSpc>
                          <a:spcPct val="115000"/>
                        </a:lnSpc>
                        <a:spcBef>
                          <a:spcPts val="0"/>
                        </a:spcBef>
                        <a:spcAft>
                          <a:spcPts val="0"/>
                        </a:spcAft>
                        <a:buNone/>
                      </a:pPr>
                      <a:r>
                        <a:rPr lang="en" sz="900" b="1">
                          <a:solidFill>
                            <a:srgbClr val="2D3D4A"/>
                          </a:solidFill>
                          <a:latin typeface="Open Sans"/>
                          <a:ea typeface="Open Sans"/>
                          <a:cs typeface="Open Sans"/>
                          <a:sym typeface="Open Sans"/>
                        </a:rPr>
                        <a:t>Assumptions</a:t>
                      </a:r>
                      <a:endParaRPr sz="900" b="1">
                        <a:solidFill>
                          <a:srgbClr val="2D3D4A"/>
                        </a:solidFill>
                        <a:latin typeface="Open Sans"/>
                        <a:ea typeface="Open Sans"/>
                        <a:cs typeface="Open Sans"/>
                        <a:sym typeface="Open Sans"/>
                      </a:endParaRPr>
                    </a:p>
                  </a:txBody>
                  <a:tcPr marL="91425" marR="91425" marT="91425" marB="91425"/>
                </a:tc>
                <a:tc>
                  <a:txBody>
                    <a:bodyPr/>
                    <a:lstStyle/>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We are able to integrate a nutritional information database that contains a large number of food items and their corresponding nutritional information. The database can be searched by item name and barcode.</a:t>
                      </a:r>
                    </a:p>
                    <a:p>
                      <a:pPr marL="171450" lvl="0" indent="-171450" algn="l" rtl="0">
                        <a:lnSpc>
                          <a:spcPct val="115000"/>
                        </a:lnSpc>
                        <a:spcBef>
                          <a:spcPts val="0"/>
                        </a:spcBef>
                        <a:spcAft>
                          <a:spcPts val="0"/>
                        </a:spcAft>
                        <a:buFont typeface="Arial" panose="020B0604020202020204" pitchFamily="34" charset="0"/>
                        <a:buChar char="•"/>
                      </a:pPr>
                      <a:r>
                        <a:rPr lang="en-US" sz="900" dirty="0">
                          <a:solidFill>
                            <a:srgbClr val="2D3D4A"/>
                          </a:solidFill>
                          <a:latin typeface="Open Sans"/>
                          <a:ea typeface="Open Sans"/>
                          <a:cs typeface="Open Sans"/>
                          <a:sym typeface="Open Sans"/>
                        </a:rPr>
                        <a:t>The app will be available in the U.S. only and nutritional information will use Imperial (American) units.</a:t>
                      </a:r>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transition>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43"/>
          <p:cNvSpPr txBox="1">
            <a:spLocks noGrp="1"/>
          </p:cNvSpPr>
          <p:nvPr>
            <p:ph type="title"/>
          </p:nvPr>
        </p:nvSpPr>
        <p:spPr>
          <a:xfrm>
            <a:off x="457200" y="1066800"/>
            <a:ext cx="8229600" cy="1390800"/>
          </a:xfrm>
          <a:prstGeom prst="rect">
            <a:avLst/>
          </a:prstGeom>
          <a:noFill/>
          <a:ln>
            <a:noFill/>
          </a:ln>
        </p:spPr>
        <p:txBody>
          <a:bodyPr spcFirstLastPara="1" wrap="square" lIns="0" tIns="0" rIns="0" bIns="0" anchor="b" anchorCtr="0">
            <a:noAutofit/>
          </a:bodyPr>
          <a:lstStyle/>
          <a:p>
            <a:pPr marL="0" lvl="0" indent="0" algn="l" rtl="0">
              <a:lnSpc>
                <a:spcPct val="115000"/>
              </a:lnSpc>
              <a:spcBef>
                <a:spcPts val="0"/>
              </a:spcBef>
              <a:spcAft>
                <a:spcPts val="0"/>
              </a:spcAft>
              <a:buClr>
                <a:srgbClr val="FFFFFF"/>
              </a:buClr>
              <a:buFont typeface="Open Sans"/>
              <a:buNone/>
            </a:pPr>
            <a:r>
              <a:rPr lang="en" sz="4200"/>
              <a:t>Decoding API Documentation</a:t>
            </a:r>
            <a:endParaRPr sz="4200"/>
          </a:p>
        </p:txBody>
      </p:sp>
      <p:sp>
        <p:nvSpPr>
          <p:cNvPr id="235" name="Google Shape;235;p43"/>
          <p:cNvSpPr txBox="1">
            <a:spLocks noGrp="1"/>
          </p:cNvSpPr>
          <p:nvPr>
            <p:ph type="body" idx="4294967295"/>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236" name="Google Shape;236;p43"/>
          <p:cNvSpPr txBox="1">
            <a:spLocks noGrp="1"/>
          </p:cNvSpPr>
          <p:nvPr>
            <p:ph type="body" idx="1"/>
          </p:nvPr>
        </p:nvSpPr>
        <p:spPr>
          <a:xfrm>
            <a:off x="457200" y="2405063"/>
            <a:ext cx="8229600" cy="13908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solidFill>
                  <a:srgbClr val="FAFBFC"/>
                </a:solidFill>
              </a:rPr>
              <a:t>As a PM, you will collaborate with the engineering team and provide guidance that heavily influences their development approach. When a product requires an API integration, sometimes PM need to be “technical enough” to understand the following  to refine the solution with designer and development team </a:t>
            </a:r>
            <a:endParaRPr sz="1200">
              <a:solidFill>
                <a:srgbClr val="FAFBFC"/>
              </a:solidFill>
            </a:endParaRPr>
          </a:p>
          <a:p>
            <a:pPr marL="457200" lvl="0" indent="-304800" algn="l" rtl="0">
              <a:lnSpc>
                <a:spcPct val="115000"/>
              </a:lnSpc>
              <a:spcBef>
                <a:spcPts val="0"/>
              </a:spcBef>
              <a:spcAft>
                <a:spcPts val="0"/>
              </a:spcAft>
              <a:buClr>
                <a:srgbClr val="FAFBFC"/>
              </a:buClr>
              <a:buSzPts val="1200"/>
              <a:buChar char="●"/>
            </a:pPr>
            <a:r>
              <a:rPr lang="en" sz="1200">
                <a:solidFill>
                  <a:srgbClr val="FAFBFC"/>
                </a:solidFill>
              </a:rPr>
              <a:t>what information is available via the API</a:t>
            </a:r>
            <a:endParaRPr sz="1200">
              <a:solidFill>
                <a:srgbClr val="FAFBFC"/>
              </a:solidFill>
            </a:endParaRPr>
          </a:p>
          <a:p>
            <a:pPr marL="457200" lvl="0" indent="-304800" algn="l" rtl="0">
              <a:lnSpc>
                <a:spcPct val="115000"/>
              </a:lnSpc>
              <a:spcBef>
                <a:spcPts val="0"/>
              </a:spcBef>
              <a:spcAft>
                <a:spcPts val="0"/>
              </a:spcAft>
              <a:buClr>
                <a:srgbClr val="FAFBFC"/>
              </a:buClr>
              <a:buSzPts val="1200"/>
              <a:buChar char="●"/>
            </a:pPr>
            <a:r>
              <a:rPr lang="en" sz="1200">
                <a:solidFill>
                  <a:srgbClr val="FAFBFC"/>
                </a:solidFill>
              </a:rPr>
              <a:t>how is it available</a:t>
            </a:r>
            <a:endParaRPr sz="1200">
              <a:solidFill>
                <a:srgbClr val="FAFBFC"/>
              </a:solidFill>
            </a:endParaRPr>
          </a:p>
          <a:p>
            <a:pPr marL="457200" lvl="0" indent="-304800" algn="l" rtl="0">
              <a:lnSpc>
                <a:spcPct val="115000"/>
              </a:lnSpc>
              <a:spcBef>
                <a:spcPts val="0"/>
              </a:spcBef>
              <a:spcAft>
                <a:spcPts val="0"/>
              </a:spcAft>
              <a:buClr>
                <a:srgbClr val="FAFBFC"/>
              </a:buClr>
              <a:buSzPts val="1200"/>
              <a:buChar char="●"/>
            </a:pPr>
            <a:r>
              <a:rPr lang="en" sz="1200"/>
              <a:t>p</a:t>
            </a:r>
            <a:r>
              <a:rPr lang="en" sz="1200">
                <a:solidFill>
                  <a:srgbClr val="FAFBFC"/>
                </a:solidFill>
              </a:rPr>
              <a:t>ossible pricing impact</a:t>
            </a:r>
            <a:endParaRPr sz="1200">
              <a:solidFill>
                <a:srgbClr val="FAFBFC"/>
              </a:solidFill>
            </a:endParaRPr>
          </a:p>
        </p:txBody>
      </p:sp>
    </p:spTree>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4"/>
          <p:cNvSpPr txBox="1">
            <a:spLocks noGrp="1"/>
          </p:cNvSpPr>
          <p:nvPr>
            <p:ph type="body" idx="1"/>
          </p:nvPr>
        </p:nvSpPr>
        <p:spPr>
          <a:xfrm>
            <a:off x="381000" y="457050"/>
            <a:ext cx="8229600" cy="4038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1200">
                <a:solidFill>
                  <a:srgbClr val="02B3E4"/>
                </a:solidFill>
                <a:highlight>
                  <a:srgbClr val="FFFFFF"/>
                </a:highlight>
              </a:rPr>
              <a:t>Choose the question to work on (from the next four slides)  based on the scenario that you've been working on throughout the nanodegree</a:t>
            </a:r>
            <a:endParaRPr sz="1200">
              <a:solidFill>
                <a:srgbClr val="02B3E4"/>
              </a:solidFill>
            </a:endParaRPr>
          </a:p>
        </p:txBody>
      </p:sp>
      <p:sp>
        <p:nvSpPr>
          <p:cNvPr id="242" name="Google Shape;242;p44"/>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243" name="Google Shape;243;p44"/>
          <p:cNvSpPr txBox="1">
            <a:spLocks noGrp="1"/>
          </p:cNvSpPr>
          <p:nvPr>
            <p:ph type="title"/>
          </p:nvPr>
        </p:nvSpPr>
        <p:spPr>
          <a:xfrm>
            <a:off x="381000" y="38900"/>
            <a:ext cx="8229600" cy="4038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2800"/>
              <a:t>Quick Review of Course 1 Projects</a:t>
            </a:r>
            <a:endParaRPr sz="2800"/>
          </a:p>
        </p:txBody>
      </p:sp>
      <p:graphicFrame>
        <p:nvGraphicFramePr>
          <p:cNvPr id="244" name="Google Shape;244;p44"/>
          <p:cNvGraphicFramePr/>
          <p:nvPr/>
        </p:nvGraphicFramePr>
        <p:xfrm>
          <a:off x="381000" y="881950"/>
          <a:ext cx="8229600" cy="4032950"/>
        </p:xfrm>
        <a:graphic>
          <a:graphicData uri="http://schemas.openxmlformats.org/drawingml/2006/table">
            <a:tbl>
              <a:tblPr>
                <a:noFill/>
                <a:tableStyleId>{16132107-9968-4529-8D7F-A200421C30BD}</a:tableStyleId>
              </a:tblPr>
              <a:tblGrid>
                <a:gridCol w="1100250">
                  <a:extLst>
                    <a:ext uri="{9D8B030D-6E8A-4147-A177-3AD203B41FA5}">
                      <a16:colId xmlns:a16="http://schemas.microsoft.com/office/drawing/2014/main" val="20000"/>
                    </a:ext>
                  </a:extLst>
                </a:gridCol>
                <a:gridCol w="7129350">
                  <a:extLst>
                    <a:ext uri="{9D8B030D-6E8A-4147-A177-3AD203B41FA5}">
                      <a16:colId xmlns:a16="http://schemas.microsoft.com/office/drawing/2014/main" val="20001"/>
                    </a:ext>
                  </a:extLst>
                </a:gridCol>
              </a:tblGrid>
              <a:tr h="1052775">
                <a:tc>
                  <a:txBody>
                    <a:bodyPr/>
                    <a:lstStyle/>
                    <a:p>
                      <a:pPr marL="0" lvl="0" indent="0" algn="l" rtl="0">
                        <a:lnSpc>
                          <a:spcPct val="115000"/>
                        </a:lnSpc>
                        <a:spcBef>
                          <a:spcPts val="0"/>
                        </a:spcBef>
                        <a:spcAft>
                          <a:spcPts val="0"/>
                        </a:spcAft>
                        <a:buNone/>
                      </a:pPr>
                      <a:r>
                        <a:rPr lang="en" sz="1100">
                          <a:solidFill>
                            <a:srgbClr val="2D3D4A"/>
                          </a:solidFill>
                          <a:latin typeface="Open Sans"/>
                          <a:ea typeface="Open Sans"/>
                          <a:cs typeface="Open Sans"/>
                          <a:sym typeface="Open Sans"/>
                        </a:rPr>
                        <a:t>Kaiser Permanente Project</a:t>
                      </a:r>
                      <a:endParaRPr sz="11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1400"/>
                        </a:spcAft>
                        <a:buNone/>
                      </a:pPr>
                      <a:r>
                        <a:rPr lang="en" sz="1100">
                          <a:solidFill>
                            <a:srgbClr val="2D3D4A"/>
                          </a:solidFill>
                          <a:latin typeface="Open Sans"/>
                          <a:ea typeface="Open Sans"/>
                          <a:cs typeface="Open Sans"/>
                          <a:sym typeface="Open Sans"/>
                        </a:rPr>
                        <a:t>Kaiser Permanente is looking to enter into the preventative care space to help their patient base increase physical activity and improve on healthy habits.  While the overall goal is improved patient satisfaction and well being, the specific financial goal is reduced cost by emphasizing improved health prior to any adverse conditions developing.  Overall, KP wants to decrease spending on conditions such as type 2 diabetes</a:t>
                      </a:r>
                      <a:endParaRPr sz="11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1409050">
                <a:tc>
                  <a:txBody>
                    <a:bodyPr/>
                    <a:lstStyle/>
                    <a:p>
                      <a:pPr marL="0" lvl="0" indent="0" algn="l" rtl="0">
                        <a:lnSpc>
                          <a:spcPct val="115000"/>
                        </a:lnSpc>
                        <a:spcBef>
                          <a:spcPts val="0"/>
                        </a:spcBef>
                        <a:spcAft>
                          <a:spcPts val="0"/>
                        </a:spcAft>
                        <a:buNone/>
                      </a:pPr>
                      <a:r>
                        <a:rPr lang="en" sz="1100">
                          <a:solidFill>
                            <a:srgbClr val="2D3D4A"/>
                          </a:solidFill>
                          <a:latin typeface="Open Sans"/>
                          <a:ea typeface="Open Sans"/>
                          <a:cs typeface="Open Sans"/>
                          <a:sym typeface="Open Sans"/>
                        </a:rPr>
                        <a:t>DoorDash Project</a:t>
                      </a:r>
                      <a:endParaRPr sz="11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1400"/>
                        </a:spcAft>
                        <a:buNone/>
                      </a:pPr>
                      <a:r>
                        <a:rPr lang="en" sz="1100">
                          <a:solidFill>
                            <a:srgbClr val="2D3D4A"/>
                          </a:solidFill>
                          <a:latin typeface="Open Sans"/>
                          <a:ea typeface="Open Sans"/>
                          <a:cs typeface="Open Sans"/>
                          <a:sym typeface="Open Sans"/>
                        </a:rPr>
                        <a:t>Doordash is looking to automate food delivery using self-driving robots for trips that are less than 2 miles in order to reduce its operating costs and provide more reliable delivery times. The long term goal is that these delivery robots will navigate sidewalks fully autonomously. But initially, there may be times when manual intervention will be required. Your team has been tasked with building a tool for the operations team-- to view the status of deliveries and remotely take control of robots that need intervention (ie: rerouting) </a:t>
                      </a:r>
                      <a:endParaRPr sz="11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r h="874625">
                <a:tc>
                  <a:txBody>
                    <a:bodyPr/>
                    <a:lstStyle/>
                    <a:p>
                      <a:pPr marL="0" lvl="0" indent="0" algn="l" rtl="0">
                        <a:lnSpc>
                          <a:spcPct val="115000"/>
                        </a:lnSpc>
                        <a:spcBef>
                          <a:spcPts val="0"/>
                        </a:spcBef>
                        <a:spcAft>
                          <a:spcPts val="0"/>
                        </a:spcAft>
                        <a:buNone/>
                      </a:pPr>
                      <a:r>
                        <a:rPr lang="en" sz="1100">
                          <a:solidFill>
                            <a:srgbClr val="2D3D4A"/>
                          </a:solidFill>
                          <a:latin typeface="Open Sans"/>
                          <a:ea typeface="Open Sans"/>
                          <a:cs typeface="Open Sans"/>
                          <a:sym typeface="Open Sans"/>
                        </a:rPr>
                        <a:t>Amazon Project</a:t>
                      </a:r>
                      <a:endParaRPr sz="11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1400"/>
                        </a:spcAft>
                        <a:buNone/>
                      </a:pPr>
                      <a:r>
                        <a:rPr lang="en" sz="1100">
                          <a:solidFill>
                            <a:srgbClr val="2D3D4A"/>
                          </a:solidFill>
                          <a:latin typeface="Open Sans"/>
                          <a:ea typeface="Open Sans"/>
                          <a:cs typeface="Open Sans"/>
                          <a:sym typeface="Open Sans"/>
                        </a:rPr>
                        <a:t>Amazon is the world leader in self-publishing for books.  They would now like to explore entering into another self-publishing media vertical and are considering either self-published videos or self-published music</a:t>
                      </a:r>
                      <a:endParaRPr sz="11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2"/>
                  </a:ext>
                </a:extLst>
              </a:tr>
              <a:tr h="696500">
                <a:tc>
                  <a:txBody>
                    <a:bodyPr/>
                    <a:lstStyle/>
                    <a:p>
                      <a:pPr marL="0" lvl="0" indent="0" algn="l" rtl="0">
                        <a:lnSpc>
                          <a:spcPct val="115000"/>
                        </a:lnSpc>
                        <a:spcBef>
                          <a:spcPts val="0"/>
                        </a:spcBef>
                        <a:spcAft>
                          <a:spcPts val="0"/>
                        </a:spcAft>
                        <a:buNone/>
                      </a:pPr>
                      <a:r>
                        <a:rPr lang="en" sz="1100">
                          <a:solidFill>
                            <a:srgbClr val="2D3D4A"/>
                          </a:solidFill>
                          <a:latin typeface="Open Sans"/>
                          <a:ea typeface="Open Sans"/>
                          <a:cs typeface="Open Sans"/>
                          <a:sym typeface="Open Sans"/>
                        </a:rPr>
                        <a:t>LinkedIn</a:t>
                      </a:r>
                      <a:endParaRPr sz="11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1400"/>
                        </a:spcAft>
                        <a:buNone/>
                      </a:pPr>
                      <a:r>
                        <a:rPr lang="en" sz="1100">
                          <a:solidFill>
                            <a:srgbClr val="2D3D4A"/>
                          </a:solidFill>
                          <a:latin typeface="Open Sans"/>
                          <a:ea typeface="Open Sans"/>
                          <a:cs typeface="Open Sans"/>
                          <a:sym typeface="Open Sans"/>
                        </a:rPr>
                        <a:t> LinkedIn is trying to expand its job market offerings by creating an app that will recommend the best jobs to recent college graduates based on their skills and preferences</a:t>
                      </a:r>
                      <a:endParaRPr sz="11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3"/>
                  </a:ext>
                </a:extLst>
              </a:tr>
            </a:tbl>
          </a:graphicData>
        </a:graphic>
      </p:graphicFrame>
      <p:pic>
        <p:nvPicPr>
          <p:cNvPr id="245" name="Google Shape;245;p44"/>
          <p:cNvPicPr preferRelativeResize="0"/>
          <p:nvPr/>
        </p:nvPicPr>
        <p:blipFill rotWithShape="1">
          <a:blip r:embed="rId3">
            <a:alphaModFix/>
          </a:blip>
          <a:srcRect l="18073" t="20988" r="14486" b="11824"/>
          <a:stretch/>
        </p:blipFill>
        <p:spPr>
          <a:xfrm>
            <a:off x="6212975" y="4596374"/>
            <a:ext cx="2043801" cy="5090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5"/>
          <p:cNvSpPr txBox="1">
            <a:spLocks noGrp="1"/>
          </p:cNvSpPr>
          <p:nvPr>
            <p:ph type="body" idx="1"/>
          </p:nvPr>
        </p:nvSpPr>
        <p:spPr>
          <a:xfrm>
            <a:off x="457200" y="685651"/>
            <a:ext cx="8229600" cy="3096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t>Use the information below to understand what is expected and use the (</a:t>
            </a:r>
            <a:r>
              <a:rPr lang="en" sz="1200">
                <a:solidFill>
                  <a:srgbClr val="0097A7"/>
                </a:solidFill>
                <a:uFill>
                  <a:noFill/>
                </a:uFill>
                <a:hlinkClick r:id="rId3" action="ppaction://hlinksldjump"/>
              </a:rPr>
              <a:t>solution slide to share your answers)</a:t>
            </a:r>
            <a:endParaRPr>
              <a:solidFill>
                <a:srgbClr val="0097A7"/>
              </a:solidFill>
            </a:endParaRPr>
          </a:p>
        </p:txBody>
      </p:sp>
      <p:sp>
        <p:nvSpPr>
          <p:cNvPr id="251" name="Google Shape;251;p45"/>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252" name="Google Shape;252;p45"/>
          <p:cNvSpPr txBox="1">
            <a:spLocks noGrp="1"/>
          </p:cNvSpPr>
          <p:nvPr>
            <p:ph type="title"/>
          </p:nvPr>
        </p:nvSpPr>
        <p:spPr>
          <a:xfrm>
            <a:off x="457200" y="76200"/>
            <a:ext cx="8229600" cy="5952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2800"/>
              <a:t>Kaiser Permanente Project</a:t>
            </a:r>
            <a:endParaRPr sz="2800"/>
          </a:p>
        </p:txBody>
      </p:sp>
      <p:sp>
        <p:nvSpPr>
          <p:cNvPr id="253" name="Google Shape;253;p45"/>
          <p:cNvSpPr txBox="1">
            <a:spLocks noGrp="1"/>
          </p:cNvSpPr>
          <p:nvPr>
            <p:ph type="body" idx="3"/>
          </p:nvPr>
        </p:nvSpPr>
        <p:spPr>
          <a:xfrm>
            <a:off x="457200" y="1028700"/>
            <a:ext cx="8229600" cy="23520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100" b="1" dirty="0"/>
              <a:t>Assumption for exercise-sake</a:t>
            </a:r>
            <a:endParaRPr sz="1100" b="1" dirty="0"/>
          </a:p>
          <a:p>
            <a:pPr marL="0" lvl="0" indent="0" algn="l" rtl="0">
              <a:lnSpc>
                <a:spcPct val="115000"/>
              </a:lnSpc>
              <a:spcBef>
                <a:spcPts val="0"/>
              </a:spcBef>
              <a:spcAft>
                <a:spcPts val="0"/>
              </a:spcAft>
              <a:buNone/>
            </a:pPr>
            <a:r>
              <a:rPr lang="en" sz="1200" dirty="0">
                <a:solidFill>
                  <a:srgbClr val="2D3D4A"/>
                </a:solidFill>
              </a:rPr>
              <a:t>Your MVP solution requires </a:t>
            </a:r>
            <a:r>
              <a:rPr lang="en" sz="1200" dirty="0" err="1">
                <a:solidFill>
                  <a:srgbClr val="2D3D4A"/>
                </a:solidFill>
              </a:rPr>
              <a:t>fitness,sleep</a:t>
            </a:r>
            <a:r>
              <a:rPr lang="en" sz="1200" dirty="0">
                <a:solidFill>
                  <a:srgbClr val="2D3D4A"/>
                </a:solidFill>
              </a:rPr>
              <a:t> and calorie information to be provided by the patient. You have identified </a:t>
            </a:r>
            <a:r>
              <a:rPr lang="en" sz="1200" dirty="0" err="1">
                <a:solidFill>
                  <a:srgbClr val="2D3D4A"/>
                </a:solidFill>
              </a:rPr>
              <a:t>Validic</a:t>
            </a:r>
            <a:r>
              <a:rPr lang="en" sz="1200" dirty="0">
                <a:solidFill>
                  <a:srgbClr val="2D3D4A"/>
                </a:solidFill>
              </a:rPr>
              <a:t> as a possible integration to deliver the solution to the market faster</a:t>
            </a:r>
            <a:r>
              <a:rPr lang="en" sz="1200" dirty="0"/>
              <a:t> Some of the d</a:t>
            </a:r>
            <a:r>
              <a:rPr lang="en" sz="1200" dirty="0">
                <a:solidFill>
                  <a:srgbClr val="2D3D4A"/>
                </a:solidFill>
              </a:rPr>
              <a:t>ocumentation links</a:t>
            </a:r>
            <a:r>
              <a:rPr lang="en" sz="1200" dirty="0"/>
              <a:t>:</a:t>
            </a:r>
            <a:endParaRPr sz="1200" dirty="0">
              <a:solidFill>
                <a:srgbClr val="2D3D4A"/>
              </a:solidFill>
            </a:endParaRPr>
          </a:p>
          <a:p>
            <a:pPr marL="457200" lvl="0" indent="-304800" algn="l" rtl="0">
              <a:lnSpc>
                <a:spcPct val="115000"/>
              </a:lnSpc>
              <a:spcBef>
                <a:spcPts val="0"/>
              </a:spcBef>
              <a:spcAft>
                <a:spcPts val="0"/>
              </a:spcAft>
              <a:buClr>
                <a:srgbClr val="0097A7"/>
              </a:buClr>
              <a:buSzPts val="1200"/>
              <a:buFont typeface="Open Sans"/>
              <a:buChar char="●"/>
            </a:pPr>
            <a:r>
              <a:rPr lang="en" sz="1200" dirty="0">
                <a:solidFill>
                  <a:srgbClr val="0097A7"/>
                </a:solidFill>
                <a:uFill>
                  <a:noFill/>
                </a:uFill>
                <a:hlinkClick r:id="rId4"/>
              </a:rPr>
              <a:t>(Link 1</a:t>
            </a:r>
            <a:r>
              <a:rPr lang="en" sz="1200" dirty="0">
                <a:solidFill>
                  <a:srgbClr val="0097A7"/>
                </a:solidFill>
              </a:rPr>
              <a:t>)</a:t>
            </a:r>
            <a:endParaRPr sz="1200" dirty="0">
              <a:solidFill>
                <a:srgbClr val="0097A7"/>
              </a:solidFill>
            </a:endParaRPr>
          </a:p>
          <a:p>
            <a:pPr marL="457200" lvl="0" indent="-304800" algn="l" rtl="0">
              <a:lnSpc>
                <a:spcPct val="115000"/>
              </a:lnSpc>
              <a:spcBef>
                <a:spcPts val="0"/>
              </a:spcBef>
              <a:spcAft>
                <a:spcPts val="0"/>
              </a:spcAft>
              <a:buClr>
                <a:srgbClr val="0097A7"/>
              </a:buClr>
              <a:buSzPts val="1200"/>
              <a:buChar char="●"/>
            </a:pPr>
            <a:r>
              <a:rPr lang="en" sz="1200" dirty="0">
                <a:solidFill>
                  <a:srgbClr val="0097A7"/>
                </a:solidFill>
              </a:rPr>
              <a:t>(</a:t>
            </a:r>
            <a:r>
              <a:rPr lang="en" sz="1200" dirty="0">
                <a:solidFill>
                  <a:srgbClr val="0097A7"/>
                </a:solidFill>
                <a:uFill>
                  <a:noFill/>
                </a:uFill>
                <a:hlinkClick r:id="rId5"/>
              </a:rPr>
              <a:t>Link 2</a:t>
            </a:r>
            <a:r>
              <a:rPr lang="en" sz="1200" dirty="0">
                <a:solidFill>
                  <a:srgbClr val="0097A7"/>
                </a:solidFill>
              </a:rPr>
              <a:t>)</a:t>
            </a:r>
            <a:endParaRPr sz="1200" dirty="0">
              <a:solidFill>
                <a:srgbClr val="0097A7"/>
              </a:solidFill>
            </a:endParaRPr>
          </a:p>
          <a:p>
            <a:pPr marL="457200" lvl="0" indent="-304800" algn="l" rtl="0">
              <a:lnSpc>
                <a:spcPct val="115000"/>
              </a:lnSpc>
              <a:spcBef>
                <a:spcPts val="0"/>
              </a:spcBef>
              <a:spcAft>
                <a:spcPts val="0"/>
              </a:spcAft>
              <a:buClr>
                <a:srgbClr val="0097A7"/>
              </a:buClr>
              <a:buSzPts val="1200"/>
              <a:buChar char="●"/>
            </a:pPr>
            <a:r>
              <a:rPr lang="en" sz="1200" dirty="0">
                <a:solidFill>
                  <a:srgbClr val="0097A7"/>
                </a:solidFill>
              </a:rPr>
              <a:t>(</a:t>
            </a:r>
            <a:r>
              <a:rPr lang="en" sz="1200" dirty="0">
                <a:solidFill>
                  <a:srgbClr val="0097A7"/>
                </a:solidFill>
                <a:uFill>
                  <a:noFill/>
                </a:uFill>
                <a:hlinkClick r:id="rId6"/>
              </a:rPr>
              <a:t>Link 3</a:t>
            </a:r>
            <a:r>
              <a:rPr lang="en" sz="1200" dirty="0">
                <a:solidFill>
                  <a:srgbClr val="0097A7"/>
                </a:solidFill>
              </a:rPr>
              <a:t>)</a:t>
            </a:r>
            <a:endParaRPr sz="1200" dirty="0">
              <a:solidFill>
                <a:srgbClr val="0097A7"/>
              </a:solidFill>
            </a:endParaRPr>
          </a:p>
          <a:p>
            <a:pPr marL="457200" lvl="0" indent="-304800" algn="l" rtl="0">
              <a:lnSpc>
                <a:spcPct val="115000"/>
              </a:lnSpc>
              <a:spcBef>
                <a:spcPts val="0"/>
              </a:spcBef>
              <a:spcAft>
                <a:spcPts val="0"/>
              </a:spcAft>
              <a:buClr>
                <a:srgbClr val="0097A7"/>
              </a:buClr>
              <a:buSzPts val="1200"/>
              <a:buChar char="●"/>
            </a:pPr>
            <a:r>
              <a:rPr lang="en" sz="1200" dirty="0">
                <a:solidFill>
                  <a:srgbClr val="0097A7"/>
                </a:solidFill>
              </a:rPr>
              <a:t>(</a:t>
            </a:r>
            <a:r>
              <a:rPr lang="en" sz="1200" dirty="0">
                <a:solidFill>
                  <a:srgbClr val="0097A7"/>
                </a:solidFill>
                <a:uFill>
                  <a:noFill/>
                </a:uFill>
                <a:hlinkClick r:id="rId7"/>
              </a:rPr>
              <a:t>Link 4</a:t>
            </a:r>
            <a:r>
              <a:rPr lang="en" sz="1200" dirty="0">
                <a:solidFill>
                  <a:srgbClr val="0097A7"/>
                </a:solidFill>
              </a:rPr>
              <a:t>)</a:t>
            </a:r>
            <a:endParaRPr sz="1200" dirty="0">
              <a:solidFill>
                <a:srgbClr val="0097A7"/>
              </a:solidFill>
            </a:endParaRPr>
          </a:p>
        </p:txBody>
      </p:sp>
      <p:pic>
        <p:nvPicPr>
          <p:cNvPr id="254" name="Google Shape;254;p45"/>
          <p:cNvPicPr preferRelativeResize="0"/>
          <p:nvPr/>
        </p:nvPicPr>
        <p:blipFill rotWithShape="1">
          <a:blip r:embed="rId8">
            <a:alphaModFix/>
          </a:blip>
          <a:srcRect l="18073" t="20988" r="14486" b="11824"/>
          <a:stretch/>
        </p:blipFill>
        <p:spPr>
          <a:xfrm>
            <a:off x="3265977" y="4306493"/>
            <a:ext cx="2588100" cy="64457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9"/>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287" name="Google Shape;287;p49"/>
          <p:cNvSpPr txBox="1">
            <a:spLocks noGrp="1"/>
          </p:cNvSpPr>
          <p:nvPr>
            <p:ph type="title"/>
          </p:nvPr>
        </p:nvSpPr>
        <p:spPr>
          <a:xfrm>
            <a:off x="304800" y="76200"/>
            <a:ext cx="8229600" cy="5952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2800"/>
              <a:t>&lt; Insert Name&gt;Project </a:t>
            </a:r>
            <a:endParaRPr sz="2800"/>
          </a:p>
        </p:txBody>
      </p:sp>
      <p:graphicFrame>
        <p:nvGraphicFramePr>
          <p:cNvPr id="288" name="Google Shape;288;p49"/>
          <p:cNvGraphicFramePr/>
          <p:nvPr/>
        </p:nvGraphicFramePr>
        <p:xfrm>
          <a:off x="152400" y="625600"/>
          <a:ext cx="8756850" cy="3906025"/>
        </p:xfrm>
        <a:graphic>
          <a:graphicData uri="http://schemas.openxmlformats.org/drawingml/2006/table">
            <a:tbl>
              <a:tblPr>
                <a:noFill/>
                <a:tableStyleId>{16132107-9968-4529-8D7F-A200421C30BD}</a:tableStyleId>
              </a:tblPr>
              <a:tblGrid>
                <a:gridCol w="2264800">
                  <a:extLst>
                    <a:ext uri="{9D8B030D-6E8A-4147-A177-3AD203B41FA5}">
                      <a16:colId xmlns:a16="http://schemas.microsoft.com/office/drawing/2014/main" val="20000"/>
                    </a:ext>
                  </a:extLst>
                </a:gridCol>
                <a:gridCol w="6492050">
                  <a:extLst>
                    <a:ext uri="{9D8B030D-6E8A-4147-A177-3AD203B41FA5}">
                      <a16:colId xmlns:a16="http://schemas.microsoft.com/office/drawing/2014/main" val="20001"/>
                    </a:ext>
                  </a:extLst>
                </a:gridCol>
              </a:tblGrid>
              <a:tr h="1744675">
                <a:tc>
                  <a:txBody>
                    <a:bodyPr/>
                    <a:lstStyle/>
                    <a:p>
                      <a:pPr marL="0" lvl="0" indent="0" algn="l" rtl="0">
                        <a:lnSpc>
                          <a:spcPct val="115000"/>
                        </a:lnSpc>
                        <a:spcBef>
                          <a:spcPts val="700"/>
                        </a:spcBef>
                        <a:spcAft>
                          <a:spcPts val="0"/>
                        </a:spcAft>
                        <a:buNone/>
                      </a:pPr>
                      <a:r>
                        <a:rPr lang="en" sz="1200" b="1">
                          <a:solidFill>
                            <a:srgbClr val="2D3D4A"/>
                          </a:solidFill>
                          <a:latin typeface="Open Sans"/>
                          <a:ea typeface="Open Sans"/>
                          <a:cs typeface="Open Sans"/>
                          <a:sym typeface="Open Sans"/>
                        </a:rPr>
                        <a:t>Based on the API documentation how would you update your solution and design?</a:t>
                      </a:r>
                      <a:endParaRPr sz="1200" b="1">
                        <a:solidFill>
                          <a:srgbClr val="2D3D4A"/>
                        </a:solidFill>
                        <a:latin typeface="Open Sans"/>
                        <a:ea typeface="Open Sans"/>
                        <a:cs typeface="Open Sans"/>
                        <a:sym typeface="Open Sans"/>
                      </a:endParaRPr>
                    </a:p>
                    <a:p>
                      <a:pPr marL="0" lvl="0" indent="0" algn="l" rtl="0">
                        <a:lnSpc>
                          <a:spcPct val="115000"/>
                        </a:lnSpc>
                        <a:spcBef>
                          <a:spcPts val="700"/>
                        </a:spcBef>
                        <a:spcAft>
                          <a:spcPts val="0"/>
                        </a:spcAft>
                        <a:buNone/>
                      </a:pPr>
                      <a:endParaRPr sz="1200" b="1">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70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List upto 2 changes that you will explore</a:t>
                      </a:r>
                      <a:endParaRPr sz="1200">
                        <a:solidFill>
                          <a:srgbClr val="9E9E9E"/>
                        </a:solidFill>
                        <a:latin typeface="Open Sans"/>
                        <a:ea typeface="Open Sans"/>
                        <a:cs typeface="Open Sans"/>
                        <a:sym typeface="Open Sans"/>
                      </a:endParaRPr>
                    </a:p>
                    <a:p>
                      <a:pPr marL="0" lvl="0" indent="0" algn="l" rtl="0">
                        <a:lnSpc>
                          <a:spcPct val="115000"/>
                        </a:lnSpc>
                        <a:spcBef>
                          <a:spcPts val="70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2161350">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Based on your high-level understanding of the API documentation, are there any details that you want to discuss with engineering to refine solution and/or determine feasibility</a:t>
                      </a:r>
                      <a:endParaRPr sz="1200" b="1">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70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List upto 2 questions that you would as a PM clarify with the engineering team to ensure your design exploration is effective and you are continuing to understand the effort and complexity involved to build your feature</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50"/>
          <p:cNvSpPr txBox="1">
            <a:spLocks noGrp="1"/>
          </p:cNvSpPr>
          <p:nvPr>
            <p:ph type="title"/>
          </p:nvPr>
        </p:nvSpPr>
        <p:spPr>
          <a:xfrm>
            <a:off x="457200" y="1295400"/>
            <a:ext cx="8229600" cy="1390800"/>
          </a:xfrm>
          <a:prstGeom prst="rect">
            <a:avLst/>
          </a:prstGeom>
          <a:noFill/>
          <a:ln>
            <a:noFill/>
          </a:ln>
        </p:spPr>
        <p:txBody>
          <a:bodyPr spcFirstLastPara="1" wrap="square" lIns="0" tIns="0" rIns="0" bIns="0" anchor="b" anchorCtr="0">
            <a:noAutofit/>
          </a:bodyPr>
          <a:lstStyle/>
          <a:p>
            <a:pPr marL="0" lvl="0" indent="0" algn="l" rtl="0">
              <a:spcBef>
                <a:spcPts val="0"/>
              </a:spcBef>
              <a:spcAft>
                <a:spcPts val="0"/>
              </a:spcAft>
              <a:buClr>
                <a:srgbClr val="FFFFFF"/>
              </a:buClr>
              <a:buFont typeface="Open Sans"/>
              <a:buNone/>
            </a:pPr>
            <a:r>
              <a:rPr lang="en" sz="4200"/>
              <a:t>Re-prioritize Sprint Backlog</a:t>
            </a:r>
            <a:endParaRPr sz="4200"/>
          </a:p>
        </p:txBody>
      </p:sp>
      <p:sp>
        <p:nvSpPr>
          <p:cNvPr id="294" name="Google Shape;294;p50"/>
          <p:cNvSpPr txBox="1">
            <a:spLocks noGrp="1"/>
          </p:cNvSpPr>
          <p:nvPr>
            <p:ph type="body" idx="4294967295"/>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295" name="Google Shape;295;p50"/>
          <p:cNvSpPr txBox="1">
            <a:spLocks noGrp="1"/>
          </p:cNvSpPr>
          <p:nvPr>
            <p:ph type="body" idx="1"/>
          </p:nvPr>
        </p:nvSpPr>
        <p:spPr>
          <a:xfrm>
            <a:off x="457200" y="2642663"/>
            <a:ext cx="8229600" cy="13908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t>As a PM, unexpected issues and new feature requests will require you to triage them efficiently and re-prioritize the sprint backlog without impacting the roadmap deliverables significantly</a:t>
            </a:r>
            <a:endParaRPr sz="1200"/>
          </a:p>
        </p:txBody>
      </p:sp>
    </p:spTree>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1"/>
          <p:cNvSpPr txBox="1">
            <a:spLocks noGrp="1"/>
          </p:cNvSpPr>
          <p:nvPr>
            <p:ph type="body" idx="1"/>
          </p:nvPr>
        </p:nvSpPr>
        <p:spPr>
          <a:xfrm>
            <a:off x="459552" y="761851"/>
            <a:ext cx="8471700" cy="3096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t>Use the below table to understand what is expected in this exercise and utilize the next slide to share your answers</a:t>
            </a:r>
            <a:endParaRPr sz="1200">
              <a:solidFill>
                <a:srgbClr val="02B3E4"/>
              </a:solidFill>
            </a:endParaRPr>
          </a:p>
        </p:txBody>
      </p:sp>
      <p:sp>
        <p:nvSpPr>
          <p:cNvPr id="301" name="Google Shape;301;p51"/>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302" name="Google Shape;302;p51"/>
          <p:cNvSpPr txBox="1">
            <a:spLocks noGrp="1"/>
          </p:cNvSpPr>
          <p:nvPr>
            <p:ph type="body" idx="3"/>
          </p:nvPr>
        </p:nvSpPr>
        <p:spPr>
          <a:xfrm>
            <a:off x="459552" y="1104900"/>
            <a:ext cx="8471700" cy="3451500"/>
          </a:xfrm>
          <a:prstGeom prst="rect">
            <a:avLst/>
          </a:prstGeom>
        </p:spPr>
        <p:txBody>
          <a:bodyPr spcFirstLastPara="1" wrap="square" lIns="34275" tIns="34275" rIns="34275" bIns="34275" anchor="ctr" anchorCtr="0">
            <a:noAutofit/>
          </a:bodyPr>
          <a:lstStyle/>
          <a:p>
            <a:pPr marL="0" lvl="0" indent="0" algn="l" rtl="0">
              <a:lnSpc>
                <a:spcPct val="115000"/>
              </a:lnSpc>
              <a:spcBef>
                <a:spcPts val="0"/>
              </a:spcBef>
              <a:spcAft>
                <a:spcPts val="0"/>
              </a:spcAft>
              <a:buNone/>
            </a:pPr>
            <a:r>
              <a:rPr lang="en" sz="1200" b="1">
                <a:solidFill>
                  <a:srgbClr val="2D3D4A"/>
                </a:solidFill>
              </a:rPr>
              <a:t>Sprint Progress and Issue Priority Order</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 You are 3 days into the 2 week sprint and issue has been reported from production in the last 5 days</a:t>
            </a:r>
            <a:r>
              <a:rPr lang="en" sz="1200" b="1"/>
              <a:t>. </a:t>
            </a:r>
            <a:r>
              <a:rPr lang="en" sz="1200"/>
              <a:t>The i</a:t>
            </a:r>
            <a:r>
              <a:rPr lang="en" sz="1200">
                <a:solidFill>
                  <a:srgbClr val="2D3D4A"/>
                </a:solidFill>
              </a:rPr>
              <a:t>ssue </a:t>
            </a:r>
            <a:r>
              <a:rPr lang="en" sz="1200"/>
              <a:t>p</a:t>
            </a:r>
            <a:r>
              <a:rPr lang="en" sz="1200">
                <a:solidFill>
                  <a:srgbClr val="2D3D4A"/>
                </a:solidFill>
              </a:rPr>
              <a:t>riority order used </a:t>
            </a:r>
            <a:r>
              <a:rPr lang="en" sz="1200"/>
              <a:t>across all development team is</a:t>
            </a:r>
            <a:endParaRPr sz="1200">
              <a:solidFill>
                <a:srgbClr val="2D3D4A"/>
              </a:solidFill>
            </a:endParaRPr>
          </a:p>
          <a:p>
            <a:pPr marL="457200" lvl="0" indent="-304800" algn="l" rtl="0">
              <a:lnSpc>
                <a:spcPct val="115000"/>
              </a:lnSpc>
              <a:spcBef>
                <a:spcPts val="0"/>
              </a:spcBef>
              <a:spcAft>
                <a:spcPts val="0"/>
              </a:spcAft>
              <a:buClr>
                <a:srgbClr val="2D3D4A"/>
              </a:buClr>
              <a:buSzPts val="1200"/>
              <a:buAutoNum type="arabicPeriod"/>
            </a:pPr>
            <a:r>
              <a:rPr lang="en" sz="1200">
                <a:solidFill>
                  <a:srgbClr val="2D3D4A"/>
                </a:solidFill>
              </a:rPr>
              <a:t>Critical </a:t>
            </a:r>
            <a:endParaRPr sz="1200"/>
          </a:p>
          <a:p>
            <a:pPr marL="457200" lvl="0" indent="-304800" algn="l" rtl="0">
              <a:lnSpc>
                <a:spcPct val="115000"/>
              </a:lnSpc>
              <a:spcBef>
                <a:spcPts val="0"/>
              </a:spcBef>
              <a:spcAft>
                <a:spcPts val="0"/>
              </a:spcAft>
              <a:buClr>
                <a:srgbClr val="2D3D4A"/>
              </a:buClr>
              <a:buSzPts val="1200"/>
              <a:buAutoNum type="arabicPeriod"/>
            </a:pPr>
            <a:r>
              <a:rPr lang="en" sz="1200">
                <a:solidFill>
                  <a:srgbClr val="2D3D4A"/>
                </a:solidFill>
              </a:rPr>
              <a:t>High </a:t>
            </a:r>
            <a:endParaRPr sz="1200"/>
          </a:p>
          <a:p>
            <a:pPr marL="457200" lvl="0" indent="-304800" algn="l" rtl="0">
              <a:lnSpc>
                <a:spcPct val="115000"/>
              </a:lnSpc>
              <a:spcBef>
                <a:spcPts val="0"/>
              </a:spcBef>
              <a:spcAft>
                <a:spcPts val="0"/>
              </a:spcAft>
              <a:buClr>
                <a:srgbClr val="2D3D4A"/>
              </a:buClr>
              <a:buSzPts val="1200"/>
              <a:buAutoNum type="arabicPeriod"/>
            </a:pPr>
            <a:r>
              <a:rPr lang="en" sz="1200">
                <a:solidFill>
                  <a:srgbClr val="2D3D4A"/>
                </a:solidFill>
              </a:rPr>
              <a:t>Normal</a:t>
            </a:r>
            <a:endParaRPr sz="1200">
              <a:solidFill>
                <a:srgbClr val="2D3D4A"/>
              </a:solidFill>
            </a:endParaRPr>
          </a:p>
          <a:p>
            <a:pPr marL="457200" lvl="0" indent="-304800" algn="l" rtl="0">
              <a:lnSpc>
                <a:spcPct val="115000"/>
              </a:lnSpc>
              <a:spcBef>
                <a:spcPts val="0"/>
              </a:spcBef>
              <a:spcAft>
                <a:spcPts val="0"/>
              </a:spcAft>
              <a:buClr>
                <a:srgbClr val="2D3D4A"/>
              </a:buClr>
              <a:buSzPts val="1200"/>
              <a:buAutoNum type="arabicPeriod"/>
            </a:pPr>
            <a:r>
              <a:rPr lang="en" sz="1200">
                <a:solidFill>
                  <a:srgbClr val="2D3D4A"/>
                </a:solidFill>
              </a:rPr>
              <a:t>Low</a:t>
            </a:r>
            <a:endParaRPr sz="1200">
              <a:solidFill>
                <a:srgbClr val="2D3D4A"/>
              </a:solidFill>
            </a:endParaRPr>
          </a:p>
          <a:p>
            <a:pPr marL="45720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r>
              <a:rPr lang="en" sz="1200" b="1">
                <a:solidFill>
                  <a:srgbClr val="2D3D4A"/>
                </a:solidFill>
              </a:rPr>
              <a:t>Issue Details</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Your customer service team filed a ticket as ‘bug’ [Priority = 1] that has been added to your product backlog. </a:t>
            </a:r>
            <a:endParaRPr sz="1200">
              <a:solidFill>
                <a:srgbClr val="2D3D4A"/>
              </a:solidFill>
            </a:endParaRPr>
          </a:p>
          <a:p>
            <a:pPr marL="0" lvl="0" indent="0" algn="l" rtl="0">
              <a:lnSpc>
                <a:spcPct val="115000"/>
              </a:lnSpc>
              <a:spcBef>
                <a:spcPts val="0"/>
              </a:spcBef>
              <a:spcAft>
                <a:spcPts val="0"/>
              </a:spcAft>
              <a:buNone/>
            </a:pPr>
            <a:r>
              <a:rPr lang="en" sz="1200">
                <a:solidFill>
                  <a:srgbClr val="2D3D4A"/>
                </a:solidFill>
              </a:rPr>
              <a:t>Users are complaining that the landing page upon logging is too slow to load.</a:t>
            </a:r>
            <a:endParaRPr sz="1200">
              <a:solidFill>
                <a:srgbClr val="2D3D4A"/>
              </a:solidFill>
            </a:endParaRPr>
          </a:p>
          <a:p>
            <a:pPr marL="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r>
              <a:rPr lang="en" sz="1200" b="1"/>
              <a:t>Additional Details</a:t>
            </a:r>
            <a:endParaRPr sz="1200" b="1">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QA has confirmed that the reported issue is happening on production (taking 38% more time to load) </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Page load time is one of the key page performance metrics that you track apart from unique visitor (daily, monthly) ,bounce rate, peak response and landing page conversions</a:t>
            </a:r>
            <a:endParaRPr sz="1200">
              <a:solidFill>
                <a:srgbClr val="2D3D4A"/>
              </a:solidFill>
            </a:endParaRPr>
          </a:p>
        </p:txBody>
      </p:sp>
      <p:sp>
        <p:nvSpPr>
          <p:cNvPr id="303" name="Google Shape;303;p51"/>
          <p:cNvSpPr txBox="1"/>
          <p:nvPr/>
        </p:nvSpPr>
        <p:spPr>
          <a:xfrm>
            <a:off x="377225" y="76200"/>
            <a:ext cx="8166000" cy="65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a:solidFill>
                  <a:srgbClr val="2D3D4A"/>
                </a:solidFill>
                <a:latin typeface="Open Sans"/>
                <a:ea typeface="Open Sans"/>
                <a:cs typeface="Open Sans"/>
                <a:sym typeface="Open Sans"/>
              </a:rPr>
              <a:t>Issue 1: Landing Page loading too slow</a:t>
            </a:r>
            <a:endParaRPr sz="2800">
              <a:solidFill>
                <a:srgbClr val="2D3D4A"/>
              </a:solidFill>
              <a:latin typeface="Open Sans"/>
              <a:ea typeface="Open Sans"/>
              <a:cs typeface="Open Sans"/>
              <a:sym typeface="Open Sans"/>
            </a:endParaRPr>
          </a:p>
        </p:txBody>
      </p:sp>
      <p:pic>
        <p:nvPicPr>
          <p:cNvPr id="304" name="Google Shape;304;p51"/>
          <p:cNvPicPr preferRelativeResize="0"/>
          <p:nvPr/>
        </p:nvPicPr>
        <p:blipFill rotWithShape="1">
          <a:blip r:embed="rId3">
            <a:alphaModFix/>
          </a:blip>
          <a:srcRect l="18073" t="20988" r="14486" b="11824"/>
          <a:stretch/>
        </p:blipFill>
        <p:spPr>
          <a:xfrm>
            <a:off x="3189777" y="4535093"/>
            <a:ext cx="2588100" cy="64457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52"/>
          <p:cNvSpPr txBox="1">
            <a:spLocks noGrp="1"/>
          </p:cNvSpPr>
          <p:nvPr>
            <p:ph type="title"/>
          </p:nvPr>
        </p:nvSpPr>
        <p:spPr>
          <a:xfrm>
            <a:off x="152400" y="76200"/>
            <a:ext cx="8229600" cy="47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Issue 1: Landing Page loading too slow</a:t>
            </a:r>
            <a:endParaRPr sz="2800"/>
          </a:p>
        </p:txBody>
      </p:sp>
      <p:sp>
        <p:nvSpPr>
          <p:cNvPr id="310" name="Google Shape;310;p52"/>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15</a:t>
            </a:fld>
            <a:endParaRPr>
              <a:solidFill>
                <a:srgbClr val="929292"/>
              </a:solidFill>
            </a:endParaRPr>
          </a:p>
        </p:txBody>
      </p:sp>
      <p:sp>
        <p:nvSpPr>
          <p:cNvPr id="311" name="Google Shape;311;p52"/>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graphicFrame>
        <p:nvGraphicFramePr>
          <p:cNvPr id="312" name="Google Shape;312;p52"/>
          <p:cNvGraphicFramePr/>
          <p:nvPr/>
        </p:nvGraphicFramePr>
        <p:xfrm>
          <a:off x="105650" y="564275"/>
          <a:ext cx="8910450" cy="4324315"/>
        </p:xfrm>
        <a:graphic>
          <a:graphicData uri="http://schemas.openxmlformats.org/drawingml/2006/table">
            <a:tbl>
              <a:tblPr>
                <a:noFill/>
                <a:tableStyleId>{16132107-9968-4529-8D7F-A200421C30BD}</a:tableStyleId>
              </a:tblPr>
              <a:tblGrid>
                <a:gridCol w="1405875">
                  <a:extLst>
                    <a:ext uri="{9D8B030D-6E8A-4147-A177-3AD203B41FA5}">
                      <a16:colId xmlns:a16="http://schemas.microsoft.com/office/drawing/2014/main" val="20000"/>
                    </a:ext>
                  </a:extLst>
                </a:gridCol>
                <a:gridCol w="7504575">
                  <a:extLst>
                    <a:ext uri="{9D8B030D-6E8A-4147-A177-3AD203B41FA5}">
                      <a16:colId xmlns:a16="http://schemas.microsoft.com/office/drawing/2014/main" val="20001"/>
                    </a:ext>
                  </a:extLst>
                </a:gridCol>
              </a:tblGrid>
              <a:tr h="1367400">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Determine impact and criticality to prioritize issue</a:t>
                      </a:r>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a:t>
                      </a:r>
                      <a:endParaRPr sz="1200">
                        <a:solidFill>
                          <a:srgbClr val="9E9E9E"/>
                        </a:solidFill>
                        <a:latin typeface="Open Sans"/>
                        <a:ea typeface="Open Sans"/>
                        <a:cs typeface="Open Sans"/>
                        <a:sym typeface="Open Sans"/>
                      </a:endParaRPr>
                    </a:p>
                    <a:p>
                      <a:pPr marL="457200" lvl="0" indent="-304800" algn="l" rtl="0">
                        <a:lnSpc>
                          <a:spcPct val="115000"/>
                        </a:lnSpc>
                        <a:spcBef>
                          <a:spcPts val="0"/>
                        </a:spcBef>
                        <a:spcAft>
                          <a:spcPts val="0"/>
                        </a:spcAft>
                        <a:buClr>
                          <a:srgbClr val="9E9E9E"/>
                        </a:buClr>
                        <a:buSzPts val="1200"/>
                        <a:buFont typeface="Open Sans"/>
                        <a:buChar char="●"/>
                      </a:pPr>
                      <a:r>
                        <a:rPr lang="en" sz="1200">
                          <a:solidFill>
                            <a:srgbClr val="9E9E9E"/>
                          </a:solidFill>
                          <a:latin typeface="Open Sans"/>
                          <a:ea typeface="Open Sans"/>
                          <a:cs typeface="Open Sans"/>
                          <a:sym typeface="Open Sans"/>
                        </a:rPr>
                        <a:t>Limit to 3 bullets and list the various inputs or steps you took to analyze issues</a:t>
                      </a:r>
                      <a:endParaRPr sz="1200">
                        <a:solidFill>
                          <a:srgbClr val="9E9E9E"/>
                        </a:solidFill>
                        <a:latin typeface="Open Sans"/>
                        <a:ea typeface="Open Sans"/>
                        <a:cs typeface="Open Sans"/>
                        <a:sym typeface="Open Sans"/>
                      </a:endParaRPr>
                    </a:p>
                    <a:p>
                      <a:pPr marL="457200" lvl="0" indent="-304800" algn="l" rtl="0">
                        <a:lnSpc>
                          <a:spcPct val="115000"/>
                        </a:lnSpc>
                        <a:spcBef>
                          <a:spcPts val="0"/>
                        </a:spcBef>
                        <a:spcAft>
                          <a:spcPts val="0"/>
                        </a:spcAft>
                        <a:buClr>
                          <a:srgbClr val="9E9E9E"/>
                        </a:buClr>
                        <a:buSzPts val="1200"/>
                        <a:buFont typeface="Open Sans"/>
                        <a:buChar char="●"/>
                      </a:pPr>
                      <a:r>
                        <a:rPr lang="en" sz="1200">
                          <a:solidFill>
                            <a:srgbClr val="9E9E9E"/>
                          </a:solidFill>
                          <a:latin typeface="Open Sans"/>
                          <a:ea typeface="Open Sans"/>
                          <a:cs typeface="Open Sans"/>
                          <a:sym typeface="Open Sans"/>
                        </a:rPr>
                        <a:t>Identify issue priority and support rationale in 1 sentence</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914400" lvl="0" indent="0" algn="l" rtl="0">
                        <a:lnSpc>
                          <a:spcPct val="115000"/>
                        </a:lnSpc>
                        <a:spcBef>
                          <a:spcPts val="0"/>
                        </a:spcBef>
                        <a:spcAft>
                          <a:spcPts val="0"/>
                        </a:spcAft>
                        <a:buNone/>
                      </a:pPr>
                      <a:endParaRPr sz="1200">
                        <a:solidFill>
                          <a:srgbClr val="9E9E9E"/>
                        </a:solidFill>
                        <a:latin typeface="Open Sans"/>
                        <a:ea typeface="Open Sans"/>
                        <a:cs typeface="Open Sans"/>
                        <a:sym typeface="Open Sans"/>
                      </a:endParaRPr>
                    </a:p>
                    <a:p>
                      <a:pPr marL="0" lvl="0" indent="0" algn="l" rtl="0">
                        <a:spcBef>
                          <a:spcPts val="0"/>
                        </a:spcBef>
                        <a:spcAft>
                          <a:spcPts val="0"/>
                        </a:spcAft>
                        <a:buNone/>
                      </a:pPr>
                      <a:endParaRPr sz="1200">
                        <a:solidFill>
                          <a:srgbClr val="9E9E9E"/>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1658250">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Next Steps </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You would carry out typically using JIRA (ticketing tool), communication channel (Slack) </a:t>
                      </a:r>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List upto 3 activities that you would carry out as a PM to raise the visibility based on the priority you decided in the previous step. </a:t>
                      </a:r>
                      <a:r>
                        <a:rPr lang="en" sz="1200" i="1">
                          <a:solidFill>
                            <a:srgbClr val="9E9E9E"/>
                          </a:solidFill>
                          <a:latin typeface="Open Sans"/>
                          <a:ea typeface="Open Sans"/>
                          <a:cs typeface="Open Sans"/>
                          <a:sym typeface="Open Sans"/>
                        </a:rPr>
                        <a:t>For e.g. Update issue priority to “...” </a:t>
                      </a:r>
                      <a:endParaRPr sz="1200" i="1">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i="1">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r h="1248775">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Would you take additional steps ?</a:t>
                      </a:r>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Limit to 2 bullets to share the additional steps you would carry out as a PM would carry out as a PM to ensure that such events do not happen in the future. </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Would you raise the visibility of the identified corrective measures as well ? If so, how and with whom?</a:t>
                      </a:r>
                      <a:endParaRPr sz="1200">
                        <a:solidFill>
                          <a:srgbClr val="9E9E9E"/>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53"/>
          <p:cNvSpPr txBox="1">
            <a:spLocks noGrp="1"/>
          </p:cNvSpPr>
          <p:nvPr>
            <p:ph type="body" idx="1"/>
          </p:nvPr>
        </p:nvSpPr>
        <p:spPr>
          <a:xfrm>
            <a:off x="381000" y="761851"/>
            <a:ext cx="8229600" cy="3096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t>Use the information below to understand what is expected in and use the next slide to share your answers</a:t>
            </a:r>
            <a:endParaRPr sz="1200">
              <a:solidFill>
                <a:srgbClr val="02B3E4"/>
              </a:solidFill>
            </a:endParaRPr>
          </a:p>
        </p:txBody>
      </p:sp>
      <p:sp>
        <p:nvSpPr>
          <p:cNvPr id="318" name="Google Shape;318;p53"/>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319" name="Google Shape;319;p53"/>
          <p:cNvSpPr txBox="1">
            <a:spLocks noGrp="1"/>
          </p:cNvSpPr>
          <p:nvPr>
            <p:ph type="body" idx="3"/>
          </p:nvPr>
        </p:nvSpPr>
        <p:spPr>
          <a:xfrm>
            <a:off x="352225" y="1164350"/>
            <a:ext cx="8537700" cy="32208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b="1">
                <a:solidFill>
                  <a:srgbClr val="2D3D4A"/>
                </a:solidFill>
              </a:rPr>
              <a:t>Sprint Progress and Issue Priority Order</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 You are 3 days into the 2 week sprint and issue has been reported from production in the last 5 days.</a:t>
            </a:r>
            <a:r>
              <a:rPr lang="en" sz="1200"/>
              <a:t>The issue priority order used across all development team is</a:t>
            </a:r>
            <a:endParaRPr sz="1200"/>
          </a:p>
          <a:p>
            <a:pPr marL="457200" lvl="0" indent="-304800" algn="l" rtl="0">
              <a:lnSpc>
                <a:spcPct val="115000"/>
              </a:lnSpc>
              <a:spcBef>
                <a:spcPts val="0"/>
              </a:spcBef>
              <a:spcAft>
                <a:spcPts val="0"/>
              </a:spcAft>
              <a:buSzPts val="1200"/>
              <a:buAutoNum type="arabicPeriod"/>
            </a:pPr>
            <a:r>
              <a:rPr lang="en" sz="1200"/>
              <a:t>Critical </a:t>
            </a:r>
            <a:endParaRPr sz="1200"/>
          </a:p>
          <a:p>
            <a:pPr marL="457200" lvl="0" indent="-304800" algn="l" rtl="0">
              <a:lnSpc>
                <a:spcPct val="115000"/>
              </a:lnSpc>
              <a:spcBef>
                <a:spcPts val="0"/>
              </a:spcBef>
              <a:spcAft>
                <a:spcPts val="0"/>
              </a:spcAft>
              <a:buSzPts val="1200"/>
              <a:buAutoNum type="arabicPeriod"/>
            </a:pPr>
            <a:r>
              <a:rPr lang="en" sz="1200"/>
              <a:t>High </a:t>
            </a:r>
            <a:endParaRPr sz="1200"/>
          </a:p>
          <a:p>
            <a:pPr marL="457200" lvl="0" indent="-304800" algn="l" rtl="0">
              <a:lnSpc>
                <a:spcPct val="115000"/>
              </a:lnSpc>
              <a:spcBef>
                <a:spcPts val="0"/>
              </a:spcBef>
              <a:spcAft>
                <a:spcPts val="0"/>
              </a:spcAft>
              <a:buSzPts val="1200"/>
              <a:buAutoNum type="arabicPeriod"/>
            </a:pPr>
            <a:r>
              <a:rPr lang="en" sz="1200"/>
              <a:t>Normal</a:t>
            </a:r>
            <a:endParaRPr sz="1200"/>
          </a:p>
          <a:p>
            <a:pPr marL="457200" lvl="0" indent="-304800" algn="l" rtl="0">
              <a:lnSpc>
                <a:spcPct val="115000"/>
              </a:lnSpc>
              <a:spcBef>
                <a:spcPts val="0"/>
              </a:spcBef>
              <a:spcAft>
                <a:spcPts val="0"/>
              </a:spcAft>
              <a:buSzPts val="1200"/>
              <a:buAutoNum type="arabicPeriod"/>
            </a:pPr>
            <a:r>
              <a:rPr lang="en" sz="1200"/>
              <a:t>Low</a:t>
            </a:r>
            <a:endParaRPr sz="1200"/>
          </a:p>
          <a:p>
            <a:pPr marL="45720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r>
              <a:rPr lang="en" sz="1200" b="1">
                <a:solidFill>
                  <a:srgbClr val="2D3D4A"/>
                </a:solidFill>
              </a:rPr>
              <a:t>Issue Details</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Your customer service team filed a bug [Priority = 2, and without a screenshot] that has been added to the product backlog. The Profile Settings page updated in the last release looks weird (fields are misaligned) in the Android app </a:t>
            </a:r>
            <a:endParaRPr sz="1200">
              <a:solidFill>
                <a:srgbClr val="2D3D4A"/>
              </a:solidFill>
            </a:endParaRPr>
          </a:p>
          <a:p>
            <a:pPr marL="0" lvl="0" indent="0" algn="l" rtl="0">
              <a:lnSpc>
                <a:spcPct val="115000"/>
              </a:lnSpc>
              <a:spcBef>
                <a:spcPts val="0"/>
              </a:spcBef>
              <a:spcAft>
                <a:spcPts val="0"/>
              </a:spcAft>
              <a:buNone/>
            </a:pPr>
            <a:endParaRPr sz="1200">
              <a:solidFill>
                <a:srgbClr val="2D3D4A"/>
              </a:solidFill>
            </a:endParaRPr>
          </a:p>
          <a:p>
            <a:pPr marL="0" lvl="0" indent="0" algn="l" rtl="0">
              <a:lnSpc>
                <a:spcPct val="115000"/>
              </a:lnSpc>
              <a:spcBef>
                <a:spcPts val="0"/>
              </a:spcBef>
              <a:spcAft>
                <a:spcPts val="0"/>
              </a:spcAft>
              <a:buNone/>
            </a:pPr>
            <a:r>
              <a:rPr lang="en" sz="1200" b="1"/>
              <a:t>Additional Details</a:t>
            </a:r>
            <a:endParaRPr sz="1200" b="1">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QA has confirmed that the reported issue is happening on production and added a screenshot to the ticket</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Data analytics team informed you in the past that % of total users accessing this page on a daily basis</a:t>
            </a:r>
            <a:r>
              <a:rPr lang="en" sz="1200"/>
              <a:t> is</a:t>
            </a:r>
            <a:r>
              <a:rPr lang="en" sz="1200">
                <a:solidFill>
                  <a:srgbClr val="2D3D4A"/>
                </a:solidFill>
              </a:rPr>
              <a:t> 2% </a:t>
            </a:r>
            <a:endParaRPr sz="1200">
              <a:solidFill>
                <a:srgbClr val="2D3D4A"/>
              </a:solidFill>
            </a:endParaRPr>
          </a:p>
          <a:p>
            <a:pPr marL="0" lvl="0" indent="0" algn="l" rtl="0">
              <a:lnSpc>
                <a:spcPct val="115000"/>
              </a:lnSpc>
              <a:spcBef>
                <a:spcPts val="0"/>
              </a:spcBef>
              <a:spcAft>
                <a:spcPts val="0"/>
              </a:spcAft>
              <a:buNone/>
            </a:pPr>
            <a:endParaRPr sz="1200">
              <a:solidFill>
                <a:srgbClr val="2D3D4A"/>
              </a:solidFill>
            </a:endParaRPr>
          </a:p>
        </p:txBody>
      </p:sp>
      <p:sp>
        <p:nvSpPr>
          <p:cNvPr id="320" name="Google Shape;320;p53"/>
          <p:cNvSpPr txBox="1"/>
          <p:nvPr/>
        </p:nvSpPr>
        <p:spPr>
          <a:xfrm>
            <a:off x="301025" y="76200"/>
            <a:ext cx="8287800" cy="65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a:solidFill>
                  <a:srgbClr val="2D3D4A"/>
                </a:solidFill>
                <a:latin typeface="Open Sans"/>
                <a:ea typeface="Open Sans"/>
                <a:cs typeface="Open Sans"/>
                <a:sym typeface="Open Sans"/>
              </a:rPr>
              <a:t>Issue 2: Misaligned fields in Profile Settings</a:t>
            </a:r>
            <a:endParaRPr sz="2800">
              <a:solidFill>
                <a:srgbClr val="2D3D4A"/>
              </a:solidFill>
              <a:latin typeface="Open Sans"/>
              <a:ea typeface="Open Sans"/>
              <a:cs typeface="Open Sans"/>
              <a:sym typeface="Open Sans"/>
            </a:endParaRPr>
          </a:p>
        </p:txBody>
      </p:sp>
      <p:pic>
        <p:nvPicPr>
          <p:cNvPr id="321" name="Google Shape;321;p53"/>
          <p:cNvPicPr preferRelativeResize="0"/>
          <p:nvPr/>
        </p:nvPicPr>
        <p:blipFill rotWithShape="1">
          <a:blip r:embed="rId3">
            <a:alphaModFix/>
          </a:blip>
          <a:srcRect l="18073" t="20988" r="14486" b="11824"/>
          <a:stretch/>
        </p:blipFill>
        <p:spPr>
          <a:xfrm>
            <a:off x="3265977" y="4382693"/>
            <a:ext cx="2588100" cy="644579"/>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54"/>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17</a:t>
            </a:fld>
            <a:endParaRPr>
              <a:solidFill>
                <a:srgbClr val="929292"/>
              </a:solidFill>
            </a:endParaRPr>
          </a:p>
        </p:txBody>
      </p:sp>
      <p:sp>
        <p:nvSpPr>
          <p:cNvPr id="327" name="Google Shape;327;p54"/>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328" name="Google Shape;328;p54"/>
          <p:cNvSpPr txBox="1"/>
          <p:nvPr/>
        </p:nvSpPr>
        <p:spPr>
          <a:xfrm>
            <a:off x="-3775" y="76200"/>
            <a:ext cx="8287800" cy="505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a:solidFill>
                  <a:srgbClr val="2D3D4A"/>
                </a:solidFill>
                <a:latin typeface="Open Sans"/>
                <a:ea typeface="Open Sans"/>
                <a:cs typeface="Open Sans"/>
                <a:sym typeface="Open Sans"/>
              </a:rPr>
              <a:t>Issue 2: Misaligned fields in Profile Settings</a:t>
            </a:r>
            <a:endParaRPr sz="2800">
              <a:solidFill>
                <a:srgbClr val="2D3D4A"/>
              </a:solidFill>
              <a:latin typeface="Open Sans"/>
              <a:ea typeface="Open Sans"/>
              <a:cs typeface="Open Sans"/>
              <a:sym typeface="Open Sans"/>
            </a:endParaRPr>
          </a:p>
        </p:txBody>
      </p:sp>
      <p:graphicFrame>
        <p:nvGraphicFramePr>
          <p:cNvPr id="329" name="Google Shape;329;p54"/>
          <p:cNvGraphicFramePr/>
          <p:nvPr/>
        </p:nvGraphicFramePr>
        <p:xfrm>
          <a:off x="105650" y="666750"/>
          <a:ext cx="8910450" cy="3948225"/>
        </p:xfrm>
        <a:graphic>
          <a:graphicData uri="http://schemas.openxmlformats.org/drawingml/2006/table">
            <a:tbl>
              <a:tblPr>
                <a:noFill/>
                <a:tableStyleId>{16132107-9968-4529-8D7F-A200421C30BD}</a:tableStyleId>
              </a:tblPr>
              <a:tblGrid>
                <a:gridCol w="1339350">
                  <a:extLst>
                    <a:ext uri="{9D8B030D-6E8A-4147-A177-3AD203B41FA5}">
                      <a16:colId xmlns:a16="http://schemas.microsoft.com/office/drawing/2014/main" val="20000"/>
                    </a:ext>
                  </a:extLst>
                </a:gridCol>
                <a:gridCol w="7571100">
                  <a:extLst>
                    <a:ext uri="{9D8B030D-6E8A-4147-A177-3AD203B41FA5}">
                      <a16:colId xmlns:a16="http://schemas.microsoft.com/office/drawing/2014/main" val="20001"/>
                    </a:ext>
                  </a:extLst>
                </a:gridCol>
              </a:tblGrid>
              <a:tr h="1701275">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Determine impact and criticality to prioritize issue</a:t>
                      </a:r>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a:t>
                      </a:r>
                      <a:endParaRPr sz="1200">
                        <a:solidFill>
                          <a:srgbClr val="9E9E9E"/>
                        </a:solidFill>
                        <a:latin typeface="Open Sans"/>
                        <a:ea typeface="Open Sans"/>
                        <a:cs typeface="Open Sans"/>
                        <a:sym typeface="Open Sans"/>
                      </a:endParaRPr>
                    </a:p>
                    <a:p>
                      <a:pPr marL="457200" lvl="0" indent="-304800" algn="l" rtl="0">
                        <a:lnSpc>
                          <a:spcPct val="115000"/>
                        </a:lnSpc>
                        <a:spcBef>
                          <a:spcPts val="0"/>
                        </a:spcBef>
                        <a:spcAft>
                          <a:spcPts val="0"/>
                        </a:spcAft>
                        <a:buClr>
                          <a:srgbClr val="9E9E9E"/>
                        </a:buClr>
                        <a:buSzPts val="1200"/>
                        <a:buFont typeface="Open Sans"/>
                        <a:buChar char="●"/>
                      </a:pPr>
                      <a:r>
                        <a:rPr lang="en" sz="1200">
                          <a:solidFill>
                            <a:srgbClr val="9E9E9E"/>
                          </a:solidFill>
                          <a:latin typeface="Open Sans"/>
                          <a:ea typeface="Open Sans"/>
                          <a:cs typeface="Open Sans"/>
                          <a:sym typeface="Open Sans"/>
                        </a:rPr>
                        <a:t>Limit to 3 bullets and list the various inputs or steps you took to analyze issues</a:t>
                      </a:r>
                      <a:endParaRPr sz="1200">
                        <a:solidFill>
                          <a:srgbClr val="9E9E9E"/>
                        </a:solidFill>
                        <a:latin typeface="Open Sans"/>
                        <a:ea typeface="Open Sans"/>
                        <a:cs typeface="Open Sans"/>
                        <a:sym typeface="Open Sans"/>
                      </a:endParaRPr>
                    </a:p>
                    <a:p>
                      <a:pPr marL="457200" lvl="0" indent="-304800" algn="l" rtl="0">
                        <a:lnSpc>
                          <a:spcPct val="115000"/>
                        </a:lnSpc>
                        <a:spcBef>
                          <a:spcPts val="0"/>
                        </a:spcBef>
                        <a:spcAft>
                          <a:spcPts val="0"/>
                        </a:spcAft>
                        <a:buClr>
                          <a:srgbClr val="9E9E9E"/>
                        </a:buClr>
                        <a:buSzPts val="1200"/>
                        <a:buFont typeface="Open Sans"/>
                        <a:buChar char="●"/>
                      </a:pPr>
                      <a:r>
                        <a:rPr lang="en" sz="1200">
                          <a:solidFill>
                            <a:srgbClr val="9E9E9E"/>
                          </a:solidFill>
                          <a:latin typeface="Open Sans"/>
                          <a:ea typeface="Open Sans"/>
                          <a:cs typeface="Open Sans"/>
                          <a:sym typeface="Open Sans"/>
                        </a:rPr>
                        <a:t>Identify issue priority and support rationale in 1 sentence</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914400" lvl="0" indent="0" algn="l" rtl="0">
                        <a:lnSpc>
                          <a:spcPct val="115000"/>
                        </a:lnSpc>
                        <a:spcBef>
                          <a:spcPts val="0"/>
                        </a:spcBef>
                        <a:spcAft>
                          <a:spcPts val="0"/>
                        </a:spcAft>
                        <a:buNone/>
                      </a:pPr>
                      <a:endParaRPr sz="1200">
                        <a:solidFill>
                          <a:srgbClr val="9E9E9E"/>
                        </a:solidFill>
                        <a:latin typeface="Open Sans"/>
                        <a:ea typeface="Open Sans"/>
                        <a:cs typeface="Open Sans"/>
                        <a:sym typeface="Open Sans"/>
                      </a:endParaRPr>
                    </a:p>
                    <a:p>
                      <a:pPr marL="0" lvl="0" indent="0" algn="l" rtl="0">
                        <a:spcBef>
                          <a:spcPts val="0"/>
                        </a:spcBef>
                        <a:spcAft>
                          <a:spcPts val="0"/>
                        </a:spcAft>
                        <a:buNone/>
                      </a:pPr>
                      <a:endParaRPr sz="1200">
                        <a:solidFill>
                          <a:srgbClr val="9E9E9E"/>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2246950">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Next Steps </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use ticketing tool (JIRA), and  communication channel (Slack)</a:t>
                      </a: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List upto 3 activities that you would carry out as a PM to based on the priority you decided in the previous step</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5"/>
          <p:cNvSpPr txBox="1">
            <a:spLocks noGrp="1"/>
          </p:cNvSpPr>
          <p:nvPr>
            <p:ph type="body" idx="1"/>
          </p:nvPr>
        </p:nvSpPr>
        <p:spPr>
          <a:xfrm>
            <a:off x="228600" y="609451"/>
            <a:ext cx="8229600" cy="3096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t>Use the information below to understand what is expected and use the next slide to share your answers</a:t>
            </a:r>
            <a:endParaRPr/>
          </a:p>
        </p:txBody>
      </p:sp>
      <p:sp>
        <p:nvSpPr>
          <p:cNvPr id="335" name="Google Shape;335;p55"/>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336" name="Google Shape;336;p55"/>
          <p:cNvSpPr txBox="1">
            <a:spLocks noGrp="1"/>
          </p:cNvSpPr>
          <p:nvPr>
            <p:ph type="title"/>
          </p:nvPr>
        </p:nvSpPr>
        <p:spPr>
          <a:xfrm>
            <a:off x="228600" y="0"/>
            <a:ext cx="8229600" cy="4572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r>
              <a:rPr lang="en" sz="2800"/>
              <a:t>Email from Customer Service Manager </a:t>
            </a:r>
            <a:endParaRPr sz="2800"/>
          </a:p>
        </p:txBody>
      </p:sp>
      <p:sp>
        <p:nvSpPr>
          <p:cNvPr id="337" name="Google Shape;337;p55"/>
          <p:cNvSpPr txBox="1">
            <a:spLocks noGrp="1"/>
          </p:cNvSpPr>
          <p:nvPr>
            <p:ph type="body" idx="3"/>
          </p:nvPr>
        </p:nvSpPr>
        <p:spPr>
          <a:xfrm>
            <a:off x="199575" y="919050"/>
            <a:ext cx="8567400" cy="34554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b="1">
                <a:solidFill>
                  <a:srgbClr val="2D3D4A"/>
                </a:solidFill>
              </a:rPr>
              <a:t>Sprint Progress </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 You are 3 days into the 2 week sprint and issue has been reported from production in the last 5 days</a:t>
            </a:r>
            <a:endParaRPr sz="1200">
              <a:solidFill>
                <a:srgbClr val="2D3D4A"/>
              </a:solidFill>
            </a:endParaRPr>
          </a:p>
          <a:p>
            <a:pPr marL="0" lvl="0" indent="0" algn="l" rtl="0">
              <a:lnSpc>
                <a:spcPct val="115000"/>
              </a:lnSpc>
              <a:spcBef>
                <a:spcPts val="0"/>
              </a:spcBef>
              <a:spcAft>
                <a:spcPts val="0"/>
              </a:spcAft>
              <a:buNone/>
            </a:pPr>
            <a:endParaRPr sz="1200" b="1">
              <a:solidFill>
                <a:srgbClr val="2D3D4A"/>
              </a:solidFill>
            </a:endParaRPr>
          </a:p>
          <a:p>
            <a:pPr marL="0" lvl="0" indent="0" algn="l" rtl="0">
              <a:lnSpc>
                <a:spcPct val="115000"/>
              </a:lnSpc>
              <a:spcBef>
                <a:spcPts val="0"/>
              </a:spcBef>
              <a:spcAft>
                <a:spcPts val="0"/>
              </a:spcAft>
              <a:buNone/>
            </a:pPr>
            <a:r>
              <a:rPr lang="en" sz="1200" b="1">
                <a:solidFill>
                  <a:srgbClr val="2D3D4A"/>
                </a:solidFill>
              </a:rPr>
              <a:t>Email Thread</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Our internal tool’s “send email with reset password link” is not working. We are able to trigger the email (containing the link to reset password), however users are complaining that they are not receiving the email from us. We noticed that the email is being received by users after 12 hours of being triggered from our internal tool. This is frustrating them and has increased the incoming call volume.  Can you look into why the  email (containing the link reset password) is being delivered so late ASAP?</a:t>
            </a:r>
            <a:endParaRPr sz="1200">
              <a:solidFill>
                <a:srgbClr val="2D3D4A"/>
              </a:solidFill>
            </a:endParaRPr>
          </a:p>
          <a:p>
            <a:pPr marL="0" lvl="0" indent="0" algn="l" rtl="0">
              <a:lnSpc>
                <a:spcPct val="115000"/>
              </a:lnSpc>
              <a:spcBef>
                <a:spcPts val="0"/>
              </a:spcBef>
              <a:spcAft>
                <a:spcPts val="0"/>
              </a:spcAft>
              <a:buNone/>
            </a:pPr>
            <a:endParaRPr sz="1200" b="1">
              <a:solidFill>
                <a:srgbClr val="2D3D4A"/>
              </a:solidFill>
            </a:endParaRPr>
          </a:p>
          <a:p>
            <a:pPr marL="0" lvl="0" indent="0" algn="l" rtl="0">
              <a:lnSpc>
                <a:spcPct val="115000"/>
              </a:lnSpc>
              <a:spcBef>
                <a:spcPts val="0"/>
              </a:spcBef>
              <a:spcAft>
                <a:spcPts val="0"/>
              </a:spcAft>
              <a:buNone/>
            </a:pPr>
            <a:r>
              <a:rPr lang="en" sz="1200" b="1"/>
              <a:t>Additional Details</a:t>
            </a:r>
            <a:r>
              <a:rPr lang="en" sz="1200" b="1">
                <a:solidFill>
                  <a:srgbClr val="2D3D4A"/>
                </a:solidFill>
              </a:rPr>
              <a:t> </a:t>
            </a:r>
            <a:endParaRPr sz="1200" b="1">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20% of users that are unable to log due to incorrect password reach out to customer service team, where they trigger the email with the link to reset password using internal tool. </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From previous engineering discussions, you believe the same email with link to reset password is triggered when a user requests a password reset email from the product directly.</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On an average, 7% of daily total users that are unable to log into the product request this email,</a:t>
            </a:r>
            <a:endParaRPr sz="1200" b="1">
              <a:solidFill>
                <a:srgbClr val="2D3D4A"/>
              </a:solidFill>
            </a:endParaRPr>
          </a:p>
        </p:txBody>
      </p:sp>
      <p:pic>
        <p:nvPicPr>
          <p:cNvPr id="338" name="Google Shape;338;p55"/>
          <p:cNvPicPr preferRelativeResize="0"/>
          <p:nvPr/>
        </p:nvPicPr>
        <p:blipFill rotWithShape="1">
          <a:blip r:embed="rId3">
            <a:alphaModFix/>
          </a:blip>
          <a:srcRect l="18073" t="20988" r="14486" b="11824"/>
          <a:stretch/>
        </p:blipFill>
        <p:spPr>
          <a:xfrm>
            <a:off x="3189777" y="4382693"/>
            <a:ext cx="2588100" cy="64457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56"/>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19</a:t>
            </a:fld>
            <a:endParaRPr>
              <a:solidFill>
                <a:srgbClr val="929292"/>
              </a:solidFill>
            </a:endParaRPr>
          </a:p>
        </p:txBody>
      </p:sp>
      <p:sp>
        <p:nvSpPr>
          <p:cNvPr id="344" name="Google Shape;344;p56"/>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graphicFrame>
        <p:nvGraphicFramePr>
          <p:cNvPr id="345" name="Google Shape;345;p56"/>
          <p:cNvGraphicFramePr/>
          <p:nvPr/>
        </p:nvGraphicFramePr>
        <p:xfrm>
          <a:off x="146200" y="559750"/>
          <a:ext cx="8936575" cy="4456373"/>
        </p:xfrm>
        <a:graphic>
          <a:graphicData uri="http://schemas.openxmlformats.org/drawingml/2006/table">
            <a:tbl>
              <a:tblPr>
                <a:noFill/>
                <a:tableStyleId>{16132107-9968-4529-8D7F-A200421C30BD}</a:tableStyleId>
              </a:tblPr>
              <a:tblGrid>
                <a:gridCol w="1815625">
                  <a:extLst>
                    <a:ext uri="{9D8B030D-6E8A-4147-A177-3AD203B41FA5}">
                      <a16:colId xmlns:a16="http://schemas.microsoft.com/office/drawing/2014/main" val="20000"/>
                    </a:ext>
                  </a:extLst>
                </a:gridCol>
                <a:gridCol w="7120950">
                  <a:extLst>
                    <a:ext uri="{9D8B030D-6E8A-4147-A177-3AD203B41FA5}">
                      <a16:colId xmlns:a16="http://schemas.microsoft.com/office/drawing/2014/main" val="20001"/>
                    </a:ext>
                  </a:extLst>
                </a:gridCol>
              </a:tblGrid>
              <a:tr h="1329275">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Determine impact and criticality to prioritize the issue </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(1 - Critical; 2 - High; 3 - Normal; 4 - Low)</a:t>
                      </a:r>
                      <a:endParaRPr sz="1200" b="1">
                        <a:solidFill>
                          <a:srgbClr val="2D3D4A"/>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a:t>
                      </a:r>
                      <a:endParaRPr sz="1200">
                        <a:solidFill>
                          <a:srgbClr val="9E9E9E"/>
                        </a:solidFill>
                        <a:latin typeface="Open Sans"/>
                        <a:ea typeface="Open Sans"/>
                        <a:cs typeface="Open Sans"/>
                        <a:sym typeface="Open Sans"/>
                      </a:endParaRPr>
                    </a:p>
                    <a:p>
                      <a:pPr marL="457200" lvl="0" indent="-304800" algn="l" rtl="0">
                        <a:lnSpc>
                          <a:spcPct val="115000"/>
                        </a:lnSpc>
                        <a:spcBef>
                          <a:spcPts val="0"/>
                        </a:spcBef>
                        <a:spcAft>
                          <a:spcPts val="0"/>
                        </a:spcAft>
                        <a:buClr>
                          <a:srgbClr val="9E9E9E"/>
                        </a:buClr>
                        <a:buSzPts val="1200"/>
                        <a:buFont typeface="Open Sans"/>
                        <a:buChar char="●"/>
                      </a:pPr>
                      <a:r>
                        <a:rPr lang="en" sz="1200">
                          <a:solidFill>
                            <a:srgbClr val="9E9E9E"/>
                          </a:solidFill>
                          <a:latin typeface="Open Sans"/>
                          <a:ea typeface="Open Sans"/>
                          <a:cs typeface="Open Sans"/>
                          <a:sym typeface="Open Sans"/>
                        </a:rPr>
                        <a:t>Limit to 3 bullets and list the various inputs or steps you took to analyze issues</a:t>
                      </a:r>
                      <a:endParaRPr sz="1200">
                        <a:solidFill>
                          <a:srgbClr val="9E9E9E"/>
                        </a:solidFill>
                        <a:latin typeface="Open Sans"/>
                        <a:ea typeface="Open Sans"/>
                        <a:cs typeface="Open Sans"/>
                        <a:sym typeface="Open Sans"/>
                      </a:endParaRPr>
                    </a:p>
                    <a:p>
                      <a:pPr marL="457200" lvl="0" indent="-304800" algn="l" rtl="0">
                        <a:lnSpc>
                          <a:spcPct val="115000"/>
                        </a:lnSpc>
                        <a:spcBef>
                          <a:spcPts val="0"/>
                        </a:spcBef>
                        <a:spcAft>
                          <a:spcPts val="0"/>
                        </a:spcAft>
                        <a:buClr>
                          <a:srgbClr val="9E9E9E"/>
                        </a:buClr>
                        <a:buSzPts val="1200"/>
                        <a:buFont typeface="Open Sans"/>
                        <a:buChar char="●"/>
                      </a:pPr>
                      <a:r>
                        <a:rPr lang="en" sz="1200">
                          <a:solidFill>
                            <a:srgbClr val="9E9E9E"/>
                          </a:solidFill>
                          <a:latin typeface="Open Sans"/>
                          <a:ea typeface="Open Sans"/>
                          <a:cs typeface="Open Sans"/>
                          <a:sym typeface="Open Sans"/>
                        </a:rPr>
                        <a:t>Identify issue priority and support rationale in 1 sentence</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 </a:t>
                      </a:r>
                      <a:endParaRPr sz="1200">
                        <a:solidFill>
                          <a:srgbClr val="2D3D4A"/>
                        </a:solidFill>
                        <a:latin typeface="Open Sans"/>
                        <a:ea typeface="Open Sans"/>
                        <a:cs typeface="Open Sans"/>
                        <a:sym typeface="Open Sans"/>
                      </a:endParaRPr>
                    </a:p>
                    <a:p>
                      <a:pPr marL="0" lvl="0" indent="0" algn="l" rtl="0">
                        <a:spcBef>
                          <a:spcPts val="0"/>
                        </a:spcBef>
                        <a:spcAft>
                          <a:spcPts val="0"/>
                        </a:spcAft>
                        <a:buNone/>
                      </a:pPr>
                      <a:endParaRPr sz="1200">
                        <a:solidFill>
                          <a:srgbClr val="9E9E9E"/>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1329275">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Next Steps </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You would carry out typically using JIRA (ticketing tool), communication channel (Slack) </a:t>
                      </a: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List upto 3 activities that you would carry out as a PM to raise the visibility based on the priority you decided in the previous step</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1696600">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Sample Email Response</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Share your email response conveying the assessment and the next steps taken</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💡Keep your response focused and succinct (upto 6 lines)</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2"/>
                  </a:ext>
                </a:extLst>
              </a:tr>
            </a:tbl>
          </a:graphicData>
        </a:graphic>
      </p:graphicFrame>
      <p:sp>
        <p:nvSpPr>
          <p:cNvPr id="346" name="Google Shape;346;p56"/>
          <p:cNvSpPr txBox="1"/>
          <p:nvPr/>
        </p:nvSpPr>
        <p:spPr>
          <a:xfrm>
            <a:off x="76200" y="0"/>
            <a:ext cx="9046800" cy="593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 sz="2800">
                <a:solidFill>
                  <a:srgbClr val="2D3D4A"/>
                </a:solidFill>
                <a:latin typeface="Open Sans"/>
                <a:ea typeface="Open Sans"/>
                <a:cs typeface="Open Sans"/>
                <a:sym typeface="Open Sans"/>
              </a:rPr>
              <a:t>Respond to Customer Service Manager’s Email </a:t>
            </a:r>
            <a:endParaRPr sz="2800">
              <a:solidFill>
                <a:srgbClr val="2D3D4A"/>
              </a:solidFill>
              <a:latin typeface="Open Sans"/>
              <a:ea typeface="Open Sans"/>
              <a:cs typeface="Open Sans"/>
              <a:sym typeface="Open Sans"/>
            </a:endParaRPr>
          </a:p>
        </p:txBody>
      </p:sp>
    </p:spTree>
  </p:cSld>
  <p:clrMapOvr>
    <a:masterClrMapping/>
  </p:clrMapOvr>
  <p:transition>
    <p:fade thruBlk="1"/>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57"/>
          <p:cNvSpPr txBox="1">
            <a:spLocks noGrp="1"/>
          </p:cNvSpPr>
          <p:nvPr>
            <p:ph type="title"/>
          </p:nvPr>
        </p:nvSpPr>
        <p:spPr>
          <a:xfrm>
            <a:off x="457200" y="1295400"/>
            <a:ext cx="8229600" cy="1390800"/>
          </a:xfrm>
          <a:prstGeom prst="rect">
            <a:avLst/>
          </a:prstGeom>
          <a:noFill/>
          <a:ln>
            <a:noFill/>
          </a:ln>
        </p:spPr>
        <p:txBody>
          <a:bodyPr spcFirstLastPara="1" wrap="square" lIns="0" tIns="0" rIns="0" bIns="0" anchor="b" anchorCtr="0">
            <a:noAutofit/>
          </a:bodyPr>
          <a:lstStyle/>
          <a:p>
            <a:pPr marL="0" lvl="0" indent="0" algn="l" rtl="0">
              <a:spcBef>
                <a:spcPts val="0"/>
              </a:spcBef>
              <a:spcAft>
                <a:spcPts val="0"/>
              </a:spcAft>
              <a:buClr>
                <a:srgbClr val="FFFFFF"/>
              </a:buClr>
              <a:buFont typeface="Open Sans"/>
              <a:buNone/>
            </a:pPr>
            <a:r>
              <a:rPr lang="en"/>
              <a:t>Handle Potentially Difficult Situations</a:t>
            </a:r>
            <a:endParaRPr sz="500"/>
          </a:p>
        </p:txBody>
      </p:sp>
      <p:sp>
        <p:nvSpPr>
          <p:cNvPr id="352" name="Google Shape;352;p57"/>
          <p:cNvSpPr txBox="1">
            <a:spLocks noGrp="1"/>
          </p:cNvSpPr>
          <p:nvPr>
            <p:ph type="body" idx="4294967295"/>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353" name="Google Shape;353;p57"/>
          <p:cNvSpPr txBox="1">
            <a:spLocks noGrp="1"/>
          </p:cNvSpPr>
          <p:nvPr>
            <p:ph type="body" idx="1"/>
          </p:nvPr>
        </p:nvSpPr>
        <p:spPr>
          <a:xfrm>
            <a:off x="457200" y="2633663"/>
            <a:ext cx="8229600" cy="13908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100">
                <a:solidFill>
                  <a:srgbClr val="FFFFFF"/>
                </a:solidFill>
              </a:rPr>
              <a:t>As a PM, you will be faced with many unexpected situations where you have to make a decision or push back while managing competing priorities from stakeholders and tackling issues that could potentially affect your product launch</a:t>
            </a:r>
            <a:endParaRPr>
              <a:solidFill>
                <a:srgbClr val="FFFFFF"/>
              </a:solidFill>
            </a:endParaRPr>
          </a:p>
        </p:txBody>
      </p:sp>
    </p:spTree>
  </p:cSld>
  <p:clrMapOvr>
    <a:masterClrMapping/>
  </p:clrMapOvr>
  <p:transition>
    <p:fade thruBlk="1"/>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58"/>
          <p:cNvSpPr txBox="1">
            <a:spLocks noGrp="1"/>
          </p:cNvSpPr>
          <p:nvPr>
            <p:ph type="body" idx="1"/>
          </p:nvPr>
        </p:nvSpPr>
        <p:spPr>
          <a:xfrm>
            <a:off x="228600" y="533251"/>
            <a:ext cx="8229600" cy="3096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r>
              <a:rPr lang="en" sz="1200"/>
              <a:t>Use the information below to understand what is expected and use the next slide to share your answers</a:t>
            </a:r>
            <a:endParaRPr/>
          </a:p>
        </p:txBody>
      </p:sp>
      <p:sp>
        <p:nvSpPr>
          <p:cNvPr id="359" name="Google Shape;359;p58"/>
          <p:cNvSpPr txBox="1">
            <a:spLocks noGrp="1"/>
          </p:cNvSpPr>
          <p:nvPr>
            <p:ph type="body" idx="2"/>
          </p:nvPr>
        </p:nvSpPr>
        <p:spPr>
          <a:xfrm>
            <a:off x="457200" y="4914900"/>
            <a:ext cx="3957600" cy="114300"/>
          </a:xfrm>
          <a:prstGeom prst="rect">
            <a:avLst/>
          </a:prstGeom>
        </p:spPr>
        <p:txBody>
          <a:bodyPr spcFirstLastPara="1" wrap="square" lIns="34275" tIns="34275" rIns="34275" bIns="34275" anchor="t" anchorCtr="0">
            <a:noAutofit/>
          </a:bodyPr>
          <a:lstStyle/>
          <a:p>
            <a:pPr marL="0" lvl="0" indent="0" algn="l" rtl="0">
              <a:spcBef>
                <a:spcPts val="0"/>
              </a:spcBef>
              <a:spcAft>
                <a:spcPts val="0"/>
              </a:spcAft>
              <a:buNone/>
            </a:pPr>
            <a:endParaRPr/>
          </a:p>
        </p:txBody>
      </p:sp>
      <p:sp>
        <p:nvSpPr>
          <p:cNvPr id="360" name="Google Shape;360;p58"/>
          <p:cNvSpPr txBox="1">
            <a:spLocks noGrp="1"/>
          </p:cNvSpPr>
          <p:nvPr>
            <p:ph type="body" idx="3"/>
          </p:nvPr>
        </p:nvSpPr>
        <p:spPr>
          <a:xfrm>
            <a:off x="199575" y="766650"/>
            <a:ext cx="8567400" cy="3455400"/>
          </a:xfrm>
          <a:prstGeom prst="rect">
            <a:avLst/>
          </a:prstGeom>
        </p:spPr>
        <p:txBody>
          <a:bodyPr spcFirstLastPara="1" wrap="square" lIns="34275" tIns="34275" rIns="34275" bIns="34275" anchor="t" anchorCtr="0">
            <a:noAutofit/>
          </a:bodyPr>
          <a:lstStyle/>
          <a:p>
            <a:pPr marL="0" lvl="0" indent="0" algn="l" rtl="0">
              <a:lnSpc>
                <a:spcPct val="115000"/>
              </a:lnSpc>
              <a:spcBef>
                <a:spcPts val="0"/>
              </a:spcBef>
              <a:spcAft>
                <a:spcPts val="0"/>
              </a:spcAft>
              <a:buNone/>
            </a:pPr>
            <a:endParaRPr sz="1200" b="1">
              <a:solidFill>
                <a:srgbClr val="2D3D4A"/>
              </a:solidFill>
            </a:endParaRPr>
          </a:p>
          <a:p>
            <a:pPr marL="0" lvl="0" indent="0" algn="l" rtl="0">
              <a:lnSpc>
                <a:spcPct val="115000"/>
              </a:lnSpc>
              <a:spcBef>
                <a:spcPts val="0"/>
              </a:spcBef>
              <a:spcAft>
                <a:spcPts val="0"/>
              </a:spcAft>
              <a:buNone/>
            </a:pPr>
            <a:r>
              <a:rPr lang="en" sz="1200" b="1">
                <a:solidFill>
                  <a:srgbClr val="2D3D4A"/>
                </a:solidFill>
              </a:rPr>
              <a:t>Sprint Progress </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 You are 7 days into the 2 week sprint</a:t>
            </a:r>
            <a:endParaRPr sz="1200">
              <a:solidFill>
                <a:srgbClr val="2D3D4A"/>
              </a:solidFill>
            </a:endParaRPr>
          </a:p>
          <a:p>
            <a:pPr marL="0" lvl="0" indent="0" algn="l" rtl="0">
              <a:lnSpc>
                <a:spcPct val="115000"/>
              </a:lnSpc>
              <a:spcBef>
                <a:spcPts val="0"/>
              </a:spcBef>
              <a:spcAft>
                <a:spcPts val="0"/>
              </a:spcAft>
              <a:buNone/>
            </a:pPr>
            <a:endParaRPr sz="1200" b="1">
              <a:solidFill>
                <a:srgbClr val="2D3D4A"/>
              </a:solidFill>
            </a:endParaRPr>
          </a:p>
          <a:p>
            <a:pPr marL="0" lvl="0" indent="0" algn="l" rtl="0">
              <a:lnSpc>
                <a:spcPct val="115000"/>
              </a:lnSpc>
              <a:spcBef>
                <a:spcPts val="0"/>
              </a:spcBef>
              <a:spcAft>
                <a:spcPts val="0"/>
              </a:spcAft>
              <a:buNone/>
            </a:pPr>
            <a:r>
              <a:rPr lang="en" sz="1200" b="1">
                <a:solidFill>
                  <a:srgbClr val="2D3D4A"/>
                </a:solidFill>
              </a:rPr>
              <a:t>Request Details</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Your startup CEO or division GM is excited about your product’s future potential (for exercise sake, assume it is the product feature you have chosen to build for the project) and wants to demo it to their stakeholders in 2 days. </a:t>
            </a:r>
            <a:endParaRPr sz="1200">
              <a:solidFill>
                <a:srgbClr val="2D3D4A"/>
              </a:solidFill>
            </a:endParaRPr>
          </a:p>
          <a:p>
            <a:pPr marL="0" lvl="0" indent="0" algn="l" rtl="0">
              <a:lnSpc>
                <a:spcPct val="115000"/>
              </a:lnSpc>
              <a:spcBef>
                <a:spcPts val="0"/>
              </a:spcBef>
              <a:spcAft>
                <a:spcPts val="0"/>
              </a:spcAft>
              <a:buNone/>
            </a:pPr>
            <a:r>
              <a:rPr lang="en" sz="1200">
                <a:solidFill>
                  <a:srgbClr val="2D3D4A"/>
                </a:solidFill>
              </a:rPr>
              <a:t>You have received an email asking for test account and QA environment details to login and demo during their meeting. </a:t>
            </a:r>
            <a:endParaRPr sz="1200">
              <a:solidFill>
                <a:srgbClr val="2D3D4A"/>
              </a:solidFill>
            </a:endParaRPr>
          </a:p>
          <a:p>
            <a:pPr marL="0" lvl="0" indent="0" algn="l" rtl="0">
              <a:lnSpc>
                <a:spcPct val="115000"/>
              </a:lnSpc>
              <a:spcBef>
                <a:spcPts val="0"/>
              </a:spcBef>
              <a:spcAft>
                <a:spcPts val="0"/>
              </a:spcAft>
              <a:buNone/>
            </a:pPr>
            <a:endParaRPr sz="1200">
              <a:solidFill>
                <a:srgbClr val="2D3D4A"/>
              </a:solidFill>
            </a:endParaRPr>
          </a:p>
          <a:p>
            <a:pPr marL="0" lvl="0" indent="0" algn="l" rtl="0">
              <a:lnSpc>
                <a:spcPct val="115000"/>
              </a:lnSpc>
              <a:spcBef>
                <a:spcPts val="0"/>
              </a:spcBef>
              <a:spcAft>
                <a:spcPts val="0"/>
              </a:spcAft>
              <a:buNone/>
            </a:pPr>
            <a:r>
              <a:rPr lang="en" sz="1200" b="1"/>
              <a:t>Additional Details</a:t>
            </a:r>
            <a:endParaRPr sz="1200" b="1">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The product feature is 65% functionality complete and not fully stable yet since it is still being tested</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Your development team is deploying changes to the QA environment frequently to verify the completed tickets and bug fixes</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The typical procedure involves having a staging environment where fully tested,stable and functional features are deployed </a:t>
            </a:r>
            <a:endParaRPr sz="1200">
              <a:solidFill>
                <a:srgbClr val="2D3D4A"/>
              </a:solidFill>
            </a:endParaRPr>
          </a:p>
          <a:p>
            <a:pPr marL="0" lvl="0" indent="0" algn="l" rtl="0">
              <a:lnSpc>
                <a:spcPct val="115000"/>
              </a:lnSpc>
              <a:spcBef>
                <a:spcPts val="0"/>
              </a:spcBef>
              <a:spcAft>
                <a:spcPts val="0"/>
              </a:spcAft>
              <a:buNone/>
            </a:pPr>
            <a:endParaRPr sz="1200" b="1">
              <a:solidFill>
                <a:srgbClr val="2D3D4A"/>
              </a:solidFill>
            </a:endParaRPr>
          </a:p>
          <a:p>
            <a:pPr marL="0" lvl="0" indent="0" algn="l" rtl="0">
              <a:lnSpc>
                <a:spcPct val="115000"/>
              </a:lnSpc>
              <a:spcBef>
                <a:spcPts val="0"/>
              </a:spcBef>
              <a:spcAft>
                <a:spcPts val="0"/>
              </a:spcAft>
              <a:buNone/>
            </a:pPr>
            <a:endParaRPr sz="1200" b="1">
              <a:solidFill>
                <a:srgbClr val="2D3D4A"/>
              </a:solidFill>
            </a:endParaRPr>
          </a:p>
        </p:txBody>
      </p:sp>
      <p:sp>
        <p:nvSpPr>
          <p:cNvPr id="361" name="Google Shape;361;p58"/>
          <p:cNvSpPr txBox="1">
            <a:spLocks noGrp="1"/>
          </p:cNvSpPr>
          <p:nvPr>
            <p:ph type="title"/>
          </p:nvPr>
        </p:nvSpPr>
        <p:spPr>
          <a:xfrm>
            <a:off x="381000" y="0"/>
            <a:ext cx="8229600" cy="533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A request from CEO or GM via email</a:t>
            </a:r>
            <a:endParaRPr sz="2800"/>
          </a:p>
        </p:txBody>
      </p:sp>
      <p:pic>
        <p:nvPicPr>
          <p:cNvPr id="362" name="Google Shape;362;p58"/>
          <p:cNvPicPr preferRelativeResize="0"/>
          <p:nvPr/>
        </p:nvPicPr>
        <p:blipFill rotWithShape="1">
          <a:blip r:embed="rId3">
            <a:alphaModFix/>
          </a:blip>
          <a:srcRect l="18073" t="20988" r="14486" b="11824"/>
          <a:stretch/>
        </p:blipFill>
        <p:spPr>
          <a:xfrm>
            <a:off x="3265977" y="4306493"/>
            <a:ext cx="2588100" cy="64457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59"/>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368" name="Google Shape;368;p59"/>
          <p:cNvSpPr txBox="1">
            <a:spLocks noGrp="1"/>
          </p:cNvSpPr>
          <p:nvPr>
            <p:ph type="title"/>
          </p:nvPr>
        </p:nvSpPr>
        <p:spPr>
          <a:xfrm>
            <a:off x="457200" y="76200"/>
            <a:ext cx="8229600" cy="595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Respond to CEO or GM’s request via email</a:t>
            </a:r>
            <a:endParaRPr sz="2800"/>
          </a:p>
        </p:txBody>
      </p:sp>
      <p:sp>
        <p:nvSpPr>
          <p:cNvPr id="369" name="Google Shape;369;p59"/>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22</a:t>
            </a:fld>
            <a:endParaRPr>
              <a:solidFill>
                <a:srgbClr val="929292"/>
              </a:solidFill>
            </a:endParaRPr>
          </a:p>
        </p:txBody>
      </p:sp>
      <p:graphicFrame>
        <p:nvGraphicFramePr>
          <p:cNvPr id="370" name="Google Shape;370;p59"/>
          <p:cNvGraphicFramePr/>
          <p:nvPr/>
        </p:nvGraphicFramePr>
        <p:xfrm>
          <a:off x="390075" y="671400"/>
          <a:ext cx="8450050" cy="4079850"/>
        </p:xfrm>
        <a:graphic>
          <a:graphicData uri="http://schemas.openxmlformats.org/drawingml/2006/table">
            <a:tbl>
              <a:tblPr>
                <a:noFill/>
                <a:tableStyleId>{16132107-9968-4529-8D7F-A200421C30BD}</a:tableStyleId>
              </a:tblPr>
              <a:tblGrid>
                <a:gridCol w="1847750">
                  <a:extLst>
                    <a:ext uri="{9D8B030D-6E8A-4147-A177-3AD203B41FA5}">
                      <a16:colId xmlns:a16="http://schemas.microsoft.com/office/drawing/2014/main" val="20000"/>
                    </a:ext>
                  </a:extLst>
                </a:gridCol>
                <a:gridCol w="6602300">
                  <a:extLst>
                    <a:ext uri="{9D8B030D-6E8A-4147-A177-3AD203B41FA5}">
                      <a16:colId xmlns:a16="http://schemas.microsoft.com/office/drawing/2014/main" val="20001"/>
                    </a:ext>
                  </a:extLst>
                </a:gridCol>
              </a:tblGrid>
              <a:tr h="1695175">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Assessment and result</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Limit to 3 bullets and list the various inputs or steps you took to assess the request and determine the next steps</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2384675">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Sample Email Response</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Share your email response that details out what the GM/CEO can use to demo along with any other details that you think will help</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💡Keep your response focused and succinct (upto 6 lines)</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60"/>
          <p:cNvSpPr txBox="1">
            <a:spLocks noGrp="1"/>
          </p:cNvSpPr>
          <p:nvPr>
            <p:ph type="body" idx="1"/>
          </p:nvPr>
        </p:nvSpPr>
        <p:spPr>
          <a:xfrm>
            <a:off x="228600" y="533251"/>
            <a:ext cx="8229600" cy="3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2B3E4"/>
              </a:buClr>
              <a:buFont typeface="Open Sans"/>
              <a:buNone/>
            </a:pPr>
            <a:r>
              <a:rPr lang="en" sz="1400"/>
              <a:t> </a:t>
            </a:r>
            <a:r>
              <a:rPr lang="en" sz="1200"/>
              <a:t>Use the information below to understand what is expected and use the next slide to share your answers</a:t>
            </a:r>
            <a:endParaRPr/>
          </a:p>
          <a:p>
            <a:pPr marL="0" marR="0" lvl="0" indent="0" algn="l" rtl="0">
              <a:lnSpc>
                <a:spcPct val="100000"/>
              </a:lnSpc>
              <a:spcBef>
                <a:spcPts val="0"/>
              </a:spcBef>
              <a:spcAft>
                <a:spcPts val="0"/>
              </a:spcAft>
              <a:buClr>
                <a:srgbClr val="02B3E4"/>
              </a:buClr>
              <a:buFont typeface="Open Sans"/>
              <a:buNone/>
            </a:pPr>
            <a:r>
              <a:rPr lang="en" sz="1400"/>
              <a:t> </a:t>
            </a:r>
            <a:endParaRPr sz="1200"/>
          </a:p>
        </p:txBody>
      </p:sp>
      <p:sp>
        <p:nvSpPr>
          <p:cNvPr id="376" name="Google Shape;376;p60"/>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377" name="Google Shape;377;p60"/>
          <p:cNvSpPr txBox="1">
            <a:spLocks noGrp="1"/>
          </p:cNvSpPr>
          <p:nvPr>
            <p:ph type="title"/>
          </p:nvPr>
        </p:nvSpPr>
        <p:spPr>
          <a:xfrm>
            <a:off x="217725" y="0"/>
            <a:ext cx="8859300" cy="464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solidFill>
                  <a:srgbClr val="2D3D4A"/>
                </a:solidFill>
              </a:rPr>
              <a:t>Step-in and guide the scrum team at stand up</a:t>
            </a:r>
            <a:endParaRPr sz="2800">
              <a:solidFill>
                <a:srgbClr val="2D3D4A"/>
              </a:solidFill>
            </a:endParaRPr>
          </a:p>
        </p:txBody>
      </p:sp>
      <p:sp>
        <p:nvSpPr>
          <p:cNvPr id="378" name="Google Shape;378;p60"/>
          <p:cNvSpPr txBox="1">
            <a:spLocks noGrp="1"/>
          </p:cNvSpPr>
          <p:nvPr>
            <p:ph type="body" idx="3"/>
          </p:nvPr>
        </p:nvSpPr>
        <p:spPr>
          <a:xfrm>
            <a:off x="304800" y="919050"/>
            <a:ext cx="8676000" cy="36555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None/>
            </a:pPr>
            <a:r>
              <a:rPr lang="en" sz="1100" b="1">
                <a:solidFill>
                  <a:srgbClr val="2D3D4A"/>
                </a:solidFill>
              </a:rPr>
              <a:t>Sprint Progress</a:t>
            </a:r>
            <a:endParaRPr sz="1100" b="1">
              <a:solidFill>
                <a:srgbClr val="2D3D4A"/>
              </a:solidFill>
            </a:endParaRPr>
          </a:p>
          <a:p>
            <a:pPr marL="0" lvl="0" indent="0" algn="l" rtl="0">
              <a:lnSpc>
                <a:spcPct val="115000"/>
              </a:lnSpc>
              <a:spcBef>
                <a:spcPts val="0"/>
              </a:spcBef>
              <a:spcAft>
                <a:spcPts val="0"/>
              </a:spcAft>
              <a:buNone/>
            </a:pPr>
            <a:r>
              <a:rPr lang="en" sz="1100">
                <a:solidFill>
                  <a:srgbClr val="2D3D4A"/>
                </a:solidFill>
              </a:rPr>
              <a:t>You have 3 more days for the sprint to end</a:t>
            </a:r>
            <a:endParaRPr sz="1100">
              <a:solidFill>
                <a:srgbClr val="2D3D4A"/>
              </a:solidFill>
            </a:endParaRPr>
          </a:p>
          <a:p>
            <a:pPr marL="0" lvl="0" indent="0" algn="l" rtl="0">
              <a:lnSpc>
                <a:spcPct val="115000"/>
              </a:lnSpc>
              <a:spcBef>
                <a:spcPts val="0"/>
              </a:spcBef>
              <a:spcAft>
                <a:spcPts val="0"/>
              </a:spcAft>
              <a:buNone/>
            </a:pPr>
            <a:endParaRPr sz="1100">
              <a:solidFill>
                <a:srgbClr val="2D3D4A"/>
              </a:solidFill>
            </a:endParaRPr>
          </a:p>
          <a:p>
            <a:pPr marL="0" lvl="0" indent="0" algn="l" rtl="0">
              <a:lnSpc>
                <a:spcPct val="115000"/>
              </a:lnSpc>
              <a:spcBef>
                <a:spcPts val="0"/>
              </a:spcBef>
              <a:spcAft>
                <a:spcPts val="0"/>
              </a:spcAft>
              <a:buNone/>
            </a:pPr>
            <a:r>
              <a:rPr lang="en" sz="1100" b="1">
                <a:solidFill>
                  <a:srgbClr val="2D3D4A"/>
                </a:solidFill>
              </a:rPr>
              <a:t>Assumption for exercise-sake</a:t>
            </a:r>
            <a:endParaRPr sz="1100" b="1">
              <a:solidFill>
                <a:srgbClr val="2D3D4A"/>
              </a:solidFill>
            </a:endParaRPr>
          </a:p>
          <a:p>
            <a:pPr marL="0" lvl="0" indent="0" algn="l" rtl="0">
              <a:lnSpc>
                <a:spcPct val="115000"/>
              </a:lnSpc>
              <a:spcBef>
                <a:spcPts val="0"/>
              </a:spcBef>
              <a:spcAft>
                <a:spcPts val="0"/>
              </a:spcAft>
              <a:buNone/>
            </a:pPr>
            <a:r>
              <a:rPr lang="en" sz="1100">
                <a:solidFill>
                  <a:srgbClr val="2D3D4A"/>
                </a:solidFill>
              </a:rPr>
              <a:t>User stories being referred here are related to the product feature (project you are working on)</a:t>
            </a:r>
            <a:r>
              <a:rPr lang="en" sz="1100"/>
              <a:t>. The tickets are </a:t>
            </a:r>
            <a:r>
              <a:rPr lang="en" sz="1100">
                <a:solidFill>
                  <a:srgbClr val="2D3D4A"/>
                </a:solidFill>
              </a:rPr>
              <a:t>costed and targeted to be completed by the end of this sprint to go live with the product feature</a:t>
            </a:r>
            <a:endParaRPr sz="1100">
              <a:solidFill>
                <a:srgbClr val="2D3D4A"/>
              </a:solidFill>
            </a:endParaRPr>
          </a:p>
          <a:p>
            <a:pPr marL="0" lvl="0" indent="0" algn="l" rtl="0">
              <a:lnSpc>
                <a:spcPct val="115000"/>
              </a:lnSpc>
              <a:spcBef>
                <a:spcPts val="0"/>
              </a:spcBef>
              <a:spcAft>
                <a:spcPts val="0"/>
              </a:spcAft>
              <a:buNone/>
            </a:pPr>
            <a:endParaRPr sz="1100" b="1">
              <a:solidFill>
                <a:srgbClr val="2D3D4A"/>
              </a:solidFill>
            </a:endParaRPr>
          </a:p>
          <a:p>
            <a:pPr marL="0" lvl="0" indent="0" algn="l" rtl="0">
              <a:lnSpc>
                <a:spcPct val="115000"/>
              </a:lnSpc>
              <a:spcBef>
                <a:spcPts val="0"/>
              </a:spcBef>
              <a:spcAft>
                <a:spcPts val="0"/>
              </a:spcAft>
              <a:buNone/>
            </a:pPr>
            <a:r>
              <a:rPr lang="en" sz="1100" b="1">
                <a:solidFill>
                  <a:srgbClr val="2D3D4A"/>
                </a:solidFill>
              </a:rPr>
              <a:t>Situation Details</a:t>
            </a:r>
            <a:endParaRPr sz="1100" b="1">
              <a:solidFill>
                <a:srgbClr val="2D3D4A"/>
              </a:solidFill>
            </a:endParaRPr>
          </a:p>
          <a:p>
            <a:pPr marL="0" lvl="0" indent="0" algn="l" rtl="0">
              <a:lnSpc>
                <a:spcPct val="115000"/>
              </a:lnSpc>
              <a:spcBef>
                <a:spcPts val="0"/>
              </a:spcBef>
              <a:spcAft>
                <a:spcPts val="0"/>
              </a:spcAft>
              <a:buNone/>
            </a:pPr>
            <a:r>
              <a:rPr lang="en" sz="1100"/>
              <a:t>You are stepping in as Scrum master for the stand up today. Your back-end engineer just finished sharing their update (</a:t>
            </a:r>
            <a:r>
              <a:rPr lang="en" sz="1100" i="1"/>
              <a:t>pick up the analytics ticket, and there are no blockers</a:t>
            </a:r>
            <a:r>
              <a:rPr lang="en" sz="1100"/>
              <a:t>). Your QA team member is next in line to share their update. </a:t>
            </a:r>
            <a:r>
              <a:rPr lang="en" sz="1100">
                <a:solidFill>
                  <a:srgbClr val="2D3D4A"/>
                </a:solidFill>
              </a:rPr>
              <a:t>In JIRA</a:t>
            </a:r>
            <a:r>
              <a:rPr lang="en" sz="1100"/>
              <a:t> (</a:t>
            </a:r>
            <a:r>
              <a:rPr lang="en" sz="1100">
                <a:solidFill>
                  <a:srgbClr val="2D3D4A"/>
                </a:solidFill>
              </a:rPr>
              <a:t>ticket tracking tool)</a:t>
            </a:r>
            <a:r>
              <a:rPr lang="en" sz="1100"/>
              <a:t> you notice the following:</a:t>
            </a:r>
            <a:endParaRPr sz="1100">
              <a:solidFill>
                <a:srgbClr val="2D3D4A"/>
              </a:solidFill>
            </a:endParaRPr>
          </a:p>
          <a:p>
            <a:pPr marL="457200" lvl="0" indent="-298450" algn="l" rtl="0">
              <a:lnSpc>
                <a:spcPct val="115000"/>
              </a:lnSpc>
              <a:spcBef>
                <a:spcPts val="0"/>
              </a:spcBef>
              <a:spcAft>
                <a:spcPts val="0"/>
              </a:spcAft>
              <a:buSzPts val="1100"/>
              <a:buChar char="●"/>
            </a:pPr>
            <a:r>
              <a:rPr lang="en" sz="1100"/>
              <a:t>A </a:t>
            </a:r>
            <a:r>
              <a:rPr lang="en" sz="1100">
                <a:solidFill>
                  <a:srgbClr val="2D3D4A"/>
                </a:solidFill>
              </a:rPr>
              <a:t>user story that needs to be </a:t>
            </a:r>
            <a:r>
              <a:rPr lang="en" sz="1100"/>
              <a:t>marked as completed(‘done’)</a:t>
            </a:r>
            <a:r>
              <a:rPr lang="en" sz="1100">
                <a:solidFill>
                  <a:srgbClr val="2D3D4A"/>
                </a:solidFill>
              </a:rPr>
              <a:t> has two back-end tickets  in </a:t>
            </a:r>
            <a:r>
              <a:rPr lang="en" sz="1100"/>
              <a:t>“Code Review” status,which is </a:t>
            </a:r>
            <a:r>
              <a:rPr lang="en" sz="1100">
                <a:solidFill>
                  <a:srgbClr val="2D3D4A"/>
                </a:solidFill>
              </a:rPr>
              <a:t>assigned to </a:t>
            </a:r>
            <a:r>
              <a:rPr lang="en" sz="1100"/>
              <a:t>the back-end</a:t>
            </a:r>
            <a:r>
              <a:rPr lang="en" sz="1100">
                <a:solidFill>
                  <a:srgbClr val="2D3D4A"/>
                </a:solidFill>
              </a:rPr>
              <a:t> engineer that just shared their update. You </a:t>
            </a:r>
            <a:r>
              <a:rPr lang="en" sz="1100"/>
              <a:t>know</a:t>
            </a:r>
            <a:r>
              <a:rPr lang="en" sz="1100">
                <a:solidFill>
                  <a:srgbClr val="2D3D4A"/>
                </a:solidFill>
              </a:rPr>
              <a:t> from at</a:t>
            </a:r>
            <a:r>
              <a:rPr lang="en" sz="1100"/>
              <a:t>tending </a:t>
            </a:r>
            <a:r>
              <a:rPr lang="en" sz="1100">
                <a:solidFill>
                  <a:srgbClr val="2D3D4A"/>
                </a:solidFill>
              </a:rPr>
              <a:t>previous standups that these two tickets have been</a:t>
            </a:r>
            <a:r>
              <a:rPr lang="en" sz="1100"/>
              <a:t> </a:t>
            </a:r>
            <a:r>
              <a:rPr lang="en" sz="1100">
                <a:solidFill>
                  <a:srgbClr val="2D3D4A"/>
                </a:solidFill>
              </a:rPr>
              <a:t>in </a:t>
            </a:r>
            <a:r>
              <a:rPr lang="en" sz="1100"/>
              <a:t> ‘Code Review’ status </a:t>
            </a:r>
            <a:r>
              <a:rPr lang="en" sz="1100">
                <a:solidFill>
                  <a:srgbClr val="2D3D4A"/>
                </a:solidFill>
              </a:rPr>
              <a:t>for </a:t>
            </a:r>
            <a:r>
              <a:rPr lang="en" sz="1100"/>
              <a:t>2</a:t>
            </a:r>
            <a:r>
              <a:rPr lang="en" sz="1100">
                <a:solidFill>
                  <a:srgbClr val="2D3D4A"/>
                </a:solidFill>
              </a:rPr>
              <a:t> days now</a:t>
            </a:r>
            <a:endParaRPr sz="1100">
              <a:solidFill>
                <a:srgbClr val="2D3D4A"/>
              </a:solidFill>
            </a:endParaRPr>
          </a:p>
          <a:p>
            <a:pPr marL="914400" lvl="1" indent="-298450" algn="l" rtl="0">
              <a:lnSpc>
                <a:spcPct val="115000"/>
              </a:lnSpc>
              <a:spcBef>
                <a:spcPts val="0"/>
              </a:spcBef>
              <a:spcAft>
                <a:spcPts val="0"/>
              </a:spcAft>
              <a:buClr>
                <a:srgbClr val="2D3D4A"/>
              </a:buClr>
              <a:buSzPts val="1100"/>
              <a:buChar char="○"/>
            </a:pPr>
            <a:r>
              <a:rPr lang="en" sz="1100">
                <a:solidFill>
                  <a:srgbClr val="2D3D4A"/>
                </a:solidFill>
              </a:rPr>
              <a:t>The back-end tickets are blocking two front-end tickets (which are i</a:t>
            </a:r>
            <a:r>
              <a:rPr lang="en" sz="1100"/>
              <a:t>n</a:t>
            </a:r>
            <a:r>
              <a:rPr lang="en" sz="1100">
                <a:solidFill>
                  <a:srgbClr val="2D3D4A"/>
                </a:solidFill>
              </a:rPr>
              <a:t> </a:t>
            </a:r>
            <a:r>
              <a:rPr lang="en" sz="1100"/>
              <a:t>‘Ready to Test’ status</a:t>
            </a:r>
            <a:r>
              <a:rPr lang="en" sz="1100">
                <a:solidFill>
                  <a:srgbClr val="2D3D4A"/>
                </a:solidFill>
              </a:rPr>
              <a:t>’) from being </a:t>
            </a:r>
            <a:r>
              <a:rPr lang="en" sz="1100"/>
              <a:t>verified</a:t>
            </a:r>
            <a:r>
              <a:rPr lang="en" sz="1100">
                <a:solidFill>
                  <a:srgbClr val="2D3D4A"/>
                </a:solidFill>
              </a:rPr>
              <a:t> by QA </a:t>
            </a:r>
            <a:endParaRPr sz="1100">
              <a:solidFill>
                <a:srgbClr val="2D3D4A"/>
              </a:solidFill>
            </a:endParaRPr>
          </a:p>
          <a:p>
            <a:pPr marL="457200" lvl="0" indent="-298450" algn="l" rtl="0">
              <a:lnSpc>
                <a:spcPct val="115000"/>
              </a:lnSpc>
              <a:spcBef>
                <a:spcPts val="0"/>
              </a:spcBef>
              <a:spcAft>
                <a:spcPts val="0"/>
              </a:spcAft>
              <a:buClr>
                <a:srgbClr val="2D3D4A"/>
              </a:buClr>
              <a:buSzPts val="1100"/>
              <a:buChar char="●"/>
            </a:pPr>
            <a:r>
              <a:rPr lang="en" sz="1100"/>
              <a:t>Also, t</a:t>
            </a:r>
            <a:r>
              <a:rPr lang="en" sz="1100">
                <a:solidFill>
                  <a:srgbClr val="2D3D4A"/>
                </a:solidFill>
              </a:rPr>
              <a:t>here is one another ticket covering analytics requirements (story points =3), </a:t>
            </a:r>
            <a:r>
              <a:rPr lang="en" sz="1100"/>
              <a:t>for which </a:t>
            </a:r>
            <a:r>
              <a:rPr lang="en" sz="1100">
                <a:solidFill>
                  <a:srgbClr val="2D3D4A"/>
                </a:solidFill>
              </a:rPr>
              <a:t>development has not yet started. T</a:t>
            </a:r>
            <a:r>
              <a:rPr lang="en" sz="1100"/>
              <a:t>his is currently ‘must-have’ for the launch</a:t>
            </a:r>
            <a:r>
              <a:rPr lang="en" sz="1100">
                <a:solidFill>
                  <a:srgbClr val="2D3D4A"/>
                </a:solidFill>
              </a:rPr>
              <a:t> </a:t>
            </a:r>
            <a:r>
              <a:rPr lang="en" sz="1100"/>
              <a:t>and is</a:t>
            </a:r>
            <a:r>
              <a:rPr lang="en" sz="1100">
                <a:solidFill>
                  <a:srgbClr val="2D3D4A"/>
                </a:solidFill>
              </a:rPr>
              <a:t> expected to be completed in th</a:t>
            </a:r>
            <a:r>
              <a:rPr lang="en" sz="1100"/>
              <a:t>is</a:t>
            </a:r>
            <a:r>
              <a:rPr lang="en" sz="1100">
                <a:solidFill>
                  <a:srgbClr val="2D3D4A"/>
                </a:solidFill>
              </a:rPr>
              <a:t> sprint</a:t>
            </a:r>
            <a:r>
              <a:rPr lang="en" sz="1100"/>
              <a:t>. The ticket cannot be completed (marked as done) by end of this sprint if it is not picked up for development by the end of today, The ticket</a:t>
            </a:r>
            <a:r>
              <a:rPr lang="en" sz="1100">
                <a:solidFill>
                  <a:srgbClr val="2D3D4A"/>
                </a:solidFill>
              </a:rPr>
              <a:t> has 5 tracking requirements</a:t>
            </a:r>
            <a:r>
              <a:rPr lang="en" sz="1100"/>
              <a:t> as of now and you believe it is ok to have</a:t>
            </a:r>
            <a:r>
              <a:rPr lang="en" sz="1100">
                <a:solidFill>
                  <a:srgbClr val="2D3D4A"/>
                </a:solidFill>
              </a:rPr>
              <a:t> 2</a:t>
            </a:r>
            <a:r>
              <a:rPr lang="en" sz="1100"/>
              <a:t> out of these </a:t>
            </a:r>
            <a:r>
              <a:rPr lang="en" sz="1100">
                <a:solidFill>
                  <a:srgbClr val="2D3D4A"/>
                </a:solidFill>
              </a:rPr>
              <a:t>5 be downgraded to ‘nice-to</a:t>
            </a:r>
            <a:r>
              <a:rPr lang="en" sz="1100"/>
              <a:t>-</a:t>
            </a:r>
            <a:r>
              <a:rPr lang="en" sz="1100">
                <a:solidFill>
                  <a:srgbClr val="2D3D4A"/>
                </a:solidFill>
              </a:rPr>
              <a:t>have’ if needed to de-risk for the launch</a:t>
            </a:r>
            <a:endParaRPr sz="1100">
              <a:solidFill>
                <a:srgbClr val="2D3D4A"/>
              </a:solidFill>
            </a:endParaRPr>
          </a:p>
        </p:txBody>
      </p:sp>
      <p:sp>
        <p:nvSpPr>
          <p:cNvPr id="379" name="Google Shape;379;p60"/>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23</a:t>
            </a:fld>
            <a:endParaRPr>
              <a:solidFill>
                <a:srgbClr val="929292"/>
              </a:solidFill>
            </a:endParaRPr>
          </a:p>
        </p:txBody>
      </p:sp>
      <p:pic>
        <p:nvPicPr>
          <p:cNvPr id="380" name="Google Shape;380;p60"/>
          <p:cNvPicPr preferRelativeResize="0"/>
          <p:nvPr/>
        </p:nvPicPr>
        <p:blipFill rotWithShape="1">
          <a:blip r:embed="rId3">
            <a:alphaModFix/>
          </a:blip>
          <a:srcRect l="18073" t="20988" r="14486" b="11824"/>
          <a:stretch/>
        </p:blipFill>
        <p:spPr>
          <a:xfrm>
            <a:off x="3265977" y="4535093"/>
            <a:ext cx="2588100" cy="644579"/>
          </a:xfrm>
          <a:prstGeom prst="rect">
            <a:avLst/>
          </a:prstGeom>
          <a:noFill/>
          <a:ln>
            <a:noFill/>
          </a:ln>
        </p:spPr>
      </p:pic>
    </p:spTree>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61"/>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386" name="Google Shape;386;p61"/>
          <p:cNvSpPr txBox="1">
            <a:spLocks noGrp="1"/>
          </p:cNvSpPr>
          <p:nvPr>
            <p:ph type="title"/>
          </p:nvPr>
        </p:nvSpPr>
        <p:spPr>
          <a:xfrm>
            <a:off x="172350" y="76200"/>
            <a:ext cx="8835300" cy="595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rgbClr val="2D3D4A"/>
              </a:buClr>
              <a:buFont typeface="Open Sans"/>
              <a:buNone/>
            </a:pPr>
            <a:r>
              <a:rPr lang="en" sz="2800"/>
              <a:t>Step-in and guide the scrum team at stand up</a:t>
            </a:r>
            <a:endParaRPr sz="2800"/>
          </a:p>
        </p:txBody>
      </p:sp>
      <p:sp>
        <p:nvSpPr>
          <p:cNvPr id="387" name="Google Shape;387;p61"/>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24</a:t>
            </a:fld>
            <a:endParaRPr>
              <a:solidFill>
                <a:srgbClr val="929292"/>
              </a:solidFill>
            </a:endParaRPr>
          </a:p>
        </p:txBody>
      </p:sp>
      <p:graphicFrame>
        <p:nvGraphicFramePr>
          <p:cNvPr id="388" name="Google Shape;388;p61"/>
          <p:cNvGraphicFramePr/>
          <p:nvPr/>
        </p:nvGraphicFramePr>
        <p:xfrm>
          <a:off x="237675" y="671400"/>
          <a:ext cx="8769975" cy="4042050"/>
        </p:xfrm>
        <a:graphic>
          <a:graphicData uri="http://schemas.openxmlformats.org/drawingml/2006/table">
            <a:tbl>
              <a:tblPr>
                <a:noFill/>
                <a:tableStyleId>{16132107-9968-4529-8D7F-A200421C30BD}</a:tableStyleId>
              </a:tblPr>
              <a:tblGrid>
                <a:gridCol w="1917700">
                  <a:extLst>
                    <a:ext uri="{9D8B030D-6E8A-4147-A177-3AD203B41FA5}">
                      <a16:colId xmlns:a16="http://schemas.microsoft.com/office/drawing/2014/main" val="20000"/>
                    </a:ext>
                  </a:extLst>
                </a:gridCol>
                <a:gridCol w="6852275">
                  <a:extLst>
                    <a:ext uri="{9D8B030D-6E8A-4147-A177-3AD203B41FA5}">
                      <a16:colId xmlns:a16="http://schemas.microsoft.com/office/drawing/2014/main" val="20001"/>
                    </a:ext>
                  </a:extLst>
                </a:gridCol>
              </a:tblGrid>
              <a:tr h="4042050">
                <a:tc>
                  <a:txBody>
                    <a:bodyPr/>
                    <a:lstStyle/>
                    <a:p>
                      <a:pPr marL="0" lvl="0" indent="0" algn="l" rtl="0">
                        <a:lnSpc>
                          <a:spcPct val="115000"/>
                        </a:lnSpc>
                        <a:spcBef>
                          <a:spcPts val="700"/>
                        </a:spcBef>
                        <a:spcAft>
                          <a:spcPts val="0"/>
                        </a:spcAft>
                        <a:buNone/>
                      </a:pPr>
                      <a:r>
                        <a:rPr lang="en" sz="1200" b="1">
                          <a:solidFill>
                            <a:srgbClr val="2D3D4A"/>
                          </a:solidFill>
                          <a:latin typeface="Open Sans"/>
                          <a:ea typeface="Open Sans"/>
                          <a:cs typeface="Open Sans"/>
                          <a:sym typeface="Open Sans"/>
                        </a:rPr>
                        <a:t>Video Response</a:t>
                      </a:r>
                      <a:endParaRPr sz="1200" b="1">
                        <a:solidFill>
                          <a:srgbClr val="2D3D4A"/>
                        </a:solidFill>
                        <a:latin typeface="Open Sans"/>
                        <a:ea typeface="Open Sans"/>
                        <a:cs typeface="Open Sans"/>
                        <a:sym typeface="Open Sans"/>
                      </a:endParaRPr>
                    </a:p>
                    <a:p>
                      <a:pPr marL="0" lvl="0" indent="0" algn="l" rtl="0">
                        <a:lnSpc>
                          <a:spcPct val="115000"/>
                        </a:lnSpc>
                        <a:spcBef>
                          <a:spcPts val="70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700"/>
                        </a:spcBef>
                        <a:spcAft>
                          <a:spcPts val="0"/>
                        </a:spcAft>
                        <a:buNone/>
                      </a:pPr>
                      <a:endParaRPr sz="1200" b="1">
                        <a:solidFill>
                          <a:srgbClr val="2D3D4A"/>
                        </a:solidFill>
                        <a:latin typeface="Open Sans"/>
                        <a:ea typeface="Open Sans"/>
                        <a:cs typeface="Open Sans"/>
                        <a:sym typeface="Open Sans"/>
                      </a:endParaRPr>
                    </a:p>
                    <a:p>
                      <a:pPr marL="0" lvl="0" indent="0" algn="l" rtl="0">
                        <a:lnSpc>
                          <a:spcPct val="115000"/>
                        </a:lnSpc>
                        <a:spcBef>
                          <a:spcPts val="700"/>
                        </a:spcBef>
                        <a:spcAft>
                          <a:spcPts val="0"/>
                        </a:spcAft>
                        <a:buNone/>
                      </a:pP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latin typeface="Open Sans"/>
                        <a:ea typeface="Open Sans"/>
                        <a:cs typeface="Open Sans"/>
                        <a:sym typeface="Open Sans"/>
                      </a:endParaRPr>
                    </a:p>
                    <a:p>
                      <a:pPr marL="0" lvl="0" indent="0" algn="l" rtl="0">
                        <a:lnSpc>
                          <a:spcPct val="115000"/>
                        </a:lnSpc>
                        <a:spcBef>
                          <a:spcPts val="0"/>
                        </a:spcBef>
                        <a:spcAft>
                          <a:spcPts val="0"/>
                        </a:spcAft>
                        <a:buNone/>
                      </a:pPr>
                      <a:endParaRPr sz="1200" b="1">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Share the link to your video here </a:t>
                      </a:r>
                      <a:r>
                        <a:rPr lang="en" sz="1200">
                          <a:solidFill>
                            <a:srgbClr val="0097A7"/>
                          </a:solidFill>
                          <a:latin typeface="Open Sans"/>
                          <a:ea typeface="Open Sans"/>
                          <a:cs typeface="Open Sans"/>
                          <a:sym typeface="Open Sans"/>
                        </a:rPr>
                        <a:t>&lt;insert link&gt;</a:t>
                      </a:r>
                      <a:endParaRPr sz="1200">
                        <a:solidFill>
                          <a:srgbClr val="0097A7"/>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Focus on recording the list of </a:t>
                      </a:r>
                      <a:r>
                        <a:rPr lang="en" sz="1200" b="1">
                          <a:solidFill>
                            <a:srgbClr val="9E9E9E"/>
                          </a:solidFill>
                          <a:latin typeface="Open Sans"/>
                          <a:ea typeface="Open Sans"/>
                          <a:cs typeface="Open Sans"/>
                          <a:sym typeface="Open Sans"/>
                        </a:rPr>
                        <a:t>all </a:t>
                      </a:r>
                      <a:r>
                        <a:rPr lang="en" sz="1200">
                          <a:solidFill>
                            <a:srgbClr val="9E9E9E"/>
                          </a:solidFill>
                          <a:latin typeface="Open Sans"/>
                          <a:ea typeface="Open Sans"/>
                          <a:cs typeface="Open Sans"/>
                          <a:sym typeface="Open Sans"/>
                        </a:rPr>
                        <a:t>questions and discussion details</a:t>
                      </a:r>
                      <a:r>
                        <a:rPr lang="en" sz="1200" b="1">
                          <a:solidFill>
                            <a:srgbClr val="9E9E9E"/>
                          </a:solidFill>
                          <a:latin typeface="Open Sans"/>
                          <a:ea typeface="Open Sans"/>
                          <a:cs typeface="Open Sans"/>
                          <a:sym typeface="Open Sans"/>
                        </a:rPr>
                        <a:t> </a:t>
                      </a:r>
                      <a:r>
                        <a:rPr lang="en" sz="1200">
                          <a:solidFill>
                            <a:srgbClr val="9E9E9E"/>
                          </a:solidFill>
                          <a:latin typeface="Open Sans"/>
                          <a:ea typeface="Open Sans"/>
                          <a:cs typeface="Open Sans"/>
                          <a:sym typeface="Open Sans"/>
                        </a:rPr>
                        <a:t>you plan to share with the the back-end engineer if you were present in the standup meeting</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 Pay attention to your tone and focus on the purpose of intervention</a:t>
                      </a:r>
                      <a:r>
                        <a:rPr lang="en" sz="1200" b="1">
                          <a:solidFill>
                            <a:srgbClr val="9E9E9E"/>
                          </a:solidFill>
                          <a:latin typeface="Open Sans"/>
                          <a:ea typeface="Open Sans"/>
                          <a:cs typeface="Open Sans"/>
                          <a:sym typeface="Open Sans"/>
                        </a:rPr>
                        <a:t> </a:t>
                      </a:r>
                      <a:r>
                        <a:rPr lang="en" sz="1200">
                          <a:solidFill>
                            <a:srgbClr val="9E9E9E"/>
                          </a:solidFill>
                          <a:latin typeface="Open Sans"/>
                          <a:ea typeface="Open Sans"/>
                          <a:cs typeface="Open Sans"/>
                          <a:sym typeface="Open Sans"/>
                        </a:rPr>
                        <a:t>.Keep it focused and succinct( &lt; 2minutes)</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bl>
          </a:graphicData>
        </a:graphic>
      </p:graphicFrame>
    </p:spTree>
  </p:cSld>
  <p:clrMapOvr>
    <a:masterClrMapping/>
  </p:clrMapOvr>
  <p:transition>
    <p:fade thruBlk="1"/>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62"/>
          <p:cNvSpPr txBox="1">
            <a:spLocks noGrp="1"/>
          </p:cNvSpPr>
          <p:nvPr>
            <p:ph type="body" idx="1"/>
          </p:nvPr>
        </p:nvSpPr>
        <p:spPr>
          <a:xfrm>
            <a:off x="228600" y="533251"/>
            <a:ext cx="8229600" cy="3096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None/>
            </a:pPr>
            <a:r>
              <a:rPr lang="en" sz="1200"/>
              <a:t>Use the information below to understand what is expected and use the next slide to share your answers</a:t>
            </a:r>
            <a:endParaRPr/>
          </a:p>
        </p:txBody>
      </p:sp>
      <p:sp>
        <p:nvSpPr>
          <p:cNvPr id="394" name="Google Shape;394;p62"/>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395" name="Google Shape;395;p62"/>
          <p:cNvSpPr txBox="1">
            <a:spLocks noGrp="1"/>
          </p:cNvSpPr>
          <p:nvPr>
            <p:ph type="title"/>
          </p:nvPr>
        </p:nvSpPr>
        <p:spPr>
          <a:xfrm>
            <a:off x="228600" y="76200"/>
            <a:ext cx="8844900" cy="456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How would you handle resource constraints?</a:t>
            </a:r>
            <a:endParaRPr sz="2800"/>
          </a:p>
        </p:txBody>
      </p:sp>
      <p:sp>
        <p:nvSpPr>
          <p:cNvPr id="396" name="Google Shape;396;p62"/>
          <p:cNvSpPr txBox="1">
            <a:spLocks noGrp="1"/>
          </p:cNvSpPr>
          <p:nvPr>
            <p:ph type="body" idx="3"/>
          </p:nvPr>
        </p:nvSpPr>
        <p:spPr>
          <a:xfrm>
            <a:off x="253400" y="754025"/>
            <a:ext cx="8229600" cy="37134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None/>
            </a:pPr>
            <a:r>
              <a:rPr lang="en" sz="1200" b="1">
                <a:solidFill>
                  <a:srgbClr val="2D3D4A"/>
                </a:solidFill>
              </a:rPr>
              <a:t>Sprint Progress</a:t>
            </a:r>
            <a:endParaRPr sz="1200" b="1">
              <a:solidFill>
                <a:srgbClr val="2D3D4A"/>
              </a:solidFill>
            </a:endParaRPr>
          </a:p>
          <a:p>
            <a:pPr marL="0" lvl="0" indent="0" algn="l" rtl="0">
              <a:lnSpc>
                <a:spcPct val="115000"/>
              </a:lnSpc>
              <a:spcBef>
                <a:spcPts val="0"/>
              </a:spcBef>
              <a:spcAft>
                <a:spcPts val="0"/>
              </a:spcAft>
              <a:buNone/>
            </a:pPr>
            <a:r>
              <a:rPr lang="en" sz="1200">
                <a:solidFill>
                  <a:srgbClr val="2D3D4A"/>
                </a:solidFill>
              </a:rPr>
              <a:t>There are 6 more days for the sprint to end</a:t>
            </a:r>
            <a:endParaRPr sz="1200">
              <a:solidFill>
                <a:srgbClr val="2D3D4A"/>
              </a:solidFill>
            </a:endParaRPr>
          </a:p>
          <a:p>
            <a:pPr marL="0" lvl="0" indent="0" algn="l" rtl="0">
              <a:lnSpc>
                <a:spcPct val="115000"/>
              </a:lnSpc>
              <a:spcBef>
                <a:spcPts val="0"/>
              </a:spcBef>
              <a:spcAft>
                <a:spcPts val="0"/>
              </a:spcAft>
              <a:buNone/>
            </a:pPr>
            <a:endParaRPr sz="1200">
              <a:solidFill>
                <a:srgbClr val="2D3D4A"/>
              </a:solidFill>
            </a:endParaRPr>
          </a:p>
          <a:p>
            <a:pPr marL="0" lvl="0" indent="0" algn="l" rtl="0">
              <a:lnSpc>
                <a:spcPct val="115000"/>
              </a:lnSpc>
              <a:spcBef>
                <a:spcPts val="0"/>
              </a:spcBef>
              <a:spcAft>
                <a:spcPts val="0"/>
              </a:spcAft>
              <a:buNone/>
            </a:pPr>
            <a:r>
              <a:rPr lang="en" sz="1200" b="1"/>
              <a:t>Assumption for exercise-sake</a:t>
            </a:r>
            <a:endParaRPr sz="1200" b="1"/>
          </a:p>
          <a:p>
            <a:pPr marL="0" lvl="0" indent="0" algn="l" rtl="0">
              <a:lnSpc>
                <a:spcPct val="115000"/>
              </a:lnSpc>
              <a:spcBef>
                <a:spcPts val="0"/>
              </a:spcBef>
              <a:spcAft>
                <a:spcPts val="0"/>
              </a:spcAft>
              <a:buNone/>
            </a:pPr>
            <a:r>
              <a:rPr lang="en" sz="1200"/>
              <a:t>User stories being referred here are related to the product feature (project you are working on). Based on the test strategy that had been discussed, tickets were added by QA team to this sprint and targeted to be completed by the end of this sprint to go live with the product feature</a:t>
            </a:r>
            <a:endParaRPr sz="1200"/>
          </a:p>
          <a:p>
            <a:pPr marL="0" lvl="0" indent="0" algn="l" rtl="0">
              <a:lnSpc>
                <a:spcPct val="115000"/>
              </a:lnSpc>
              <a:spcBef>
                <a:spcPts val="0"/>
              </a:spcBef>
              <a:spcAft>
                <a:spcPts val="0"/>
              </a:spcAft>
              <a:buNone/>
            </a:pPr>
            <a:endParaRPr sz="1200">
              <a:solidFill>
                <a:srgbClr val="2D3D4A"/>
              </a:solidFill>
            </a:endParaRPr>
          </a:p>
          <a:p>
            <a:pPr marL="0" lvl="0" indent="0" algn="l" rtl="0">
              <a:lnSpc>
                <a:spcPct val="115000"/>
              </a:lnSpc>
              <a:spcBef>
                <a:spcPts val="0"/>
              </a:spcBef>
              <a:spcAft>
                <a:spcPts val="0"/>
              </a:spcAft>
              <a:buNone/>
            </a:pPr>
            <a:r>
              <a:rPr lang="en" sz="1200" b="1">
                <a:solidFill>
                  <a:srgbClr val="2D3D4A"/>
                </a:solidFill>
              </a:rPr>
              <a:t>Situation Details</a:t>
            </a:r>
            <a:endParaRPr sz="1200" b="1">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Your project has a shared QA team member that you are working with for the first-time in the company. The Head of QA informed you that your QA team member is handling 2 other major projects with other PMs simultaneously and is out on sick leave for the next 3 days</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When the QA team member returns, tickets related to automated testing (to cover 30% of this sprint’s scope) will be still pending along with manual verification and regression for the user stories that have been completed by then</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You know a product feature that is not fully tested is unstable and prone to issues. You believe this is a potential risk affecting the product launch if not addressed immediately.</a:t>
            </a:r>
            <a:endParaRPr sz="1200">
              <a:solidFill>
                <a:srgbClr val="2D3D4A"/>
              </a:solidFill>
            </a:endParaRPr>
          </a:p>
          <a:p>
            <a:pPr marL="457200" lvl="0" indent="0" algn="l" rtl="0">
              <a:lnSpc>
                <a:spcPct val="115000"/>
              </a:lnSpc>
              <a:spcBef>
                <a:spcPts val="0"/>
              </a:spcBef>
              <a:spcAft>
                <a:spcPts val="0"/>
              </a:spcAft>
              <a:buNone/>
            </a:pPr>
            <a:r>
              <a:rPr lang="en" sz="1200">
                <a:solidFill>
                  <a:srgbClr val="2D3D4A"/>
                </a:solidFill>
              </a:rPr>
              <a:t>💡As a PM, you need to sometimes step up and wear multiple hats to launch your product. </a:t>
            </a:r>
            <a:endParaRPr sz="1200">
              <a:solidFill>
                <a:srgbClr val="2D3D4A"/>
              </a:solidFill>
            </a:endParaRPr>
          </a:p>
        </p:txBody>
      </p:sp>
      <p:sp>
        <p:nvSpPr>
          <p:cNvPr id="397" name="Google Shape;397;p62"/>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25</a:t>
            </a:fld>
            <a:endParaRPr>
              <a:solidFill>
                <a:srgbClr val="929292"/>
              </a:solidFill>
            </a:endParaRPr>
          </a:p>
        </p:txBody>
      </p:sp>
      <p:pic>
        <p:nvPicPr>
          <p:cNvPr id="398" name="Google Shape;398;p62"/>
          <p:cNvPicPr preferRelativeResize="0"/>
          <p:nvPr/>
        </p:nvPicPr>
        <p:blipFill rotWithShape="1">
          <a:blip r:embed="rId3">
            <a:alphaModFix/>
          </a:blip>
          <a:srcRect l="18073" t="20988" r="14486" b="11824"/>
          <a:stretch/>
        </p:blipFill>
        <p:spPr>
          <a:xfrm>
            <a:off x="3265977" y="4535093"/>
            <a:ext cx="2588100" cy="644579"/>
          </a:xfrm>
          <a:prstGeom prst="rect">
            <a:avLst/>
          </a:prstGeom>
          <a:noFill/>
          <a:ln>
            <a:noFill/>
          </a:ln>
        </p:spPr>
      </p:pic>
    </p:spTree>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3"/>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404" name="Google Shape;404;p63"/>
          <p:cNvSpPr txBox="1">
            <a:spLocks noGrp="1"/>
          </p:cNvSpPr>
          <p:nvPr>
            <p:ph type="title"/>
          </p:nvPr>
        </p:nvSpPr>
        <p:spPr>
          <a:xfrm>
            <a:off x="228600" y="76200"/>
            <a:ext cx="8229600" cy="457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Handling Resource Constraints</a:t>
            </a:r>
            <a:endParaRPr sz="2800"/>
          </a:p>
        </p:txBody>
      </p:sp>
      <p:sp>
        <p:nvSpPr>
          <p:cNvPr id="405" name="Google Shape;405;p63"/>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26</a:t>
            </a:fld>
            <a:endParaRPr>
              <a:solidFill>
                <a:srgbClr val="929292"/>
              </a:solidFill>
            </a:endParaRPr>
          </a:p>
        </p:txBody>
      </p:sp>
      <p:graphicFrame>
        <p:nvGraphicFramePr>
          <p:cNvPr id="406" name="Google Shape;406;p63"/>
          <p:cNvGraphicFramePr/>
          <p:nvPr/>
        </p:nvGraphicFramePr>
        <p:xfrm>
          <a:off x="245200" y="595200"/>
          <a:ext cx="8747325" cy="4818379"/>
        </p:xfrm>
        <a:graphic>
          <a:graphicData uri="http://schemas.openxmlformats.org/drawingml/2006/table">
            <a:tbl>
              <a:tblPr>
                <a:noFill/>
                <a:tableStyleId>{16132107-9968-4529-8D7F-A200421C30BD}</a:tableStyleId>
              </a:tblPr>
              <a:tblGrid>
                <a:gridCol w="2520975">
                  <a:extLst>
                    <a:ext uri="{9D8B030D-6E8A-4147-A177-3AD203B41FA5}">
                      <a16:colId xmlns:a16="http://schemas.microsoft.com/office/drawing/2014/main" val="20000"/>
                    </a:ext>
                  </a:extLst>
                </a:gridCol>
                <a:gridCol w="6226350">
                  <a:extLst>
                    <a:ext uri="{9D8B030D-6E8A-4147-A177-3AD203B41FA5}">
                      <a16:colId xmlns:a16="http://schemas.microsoft.com/office/drawing/2014/main" val="20001"/>
                    </a:ext>
                  </a:extLst>
                </a:gridCol>
              </a:tblGrid>
              <a:tr h="1017800">
                <a:tc>
                  <a:txBody>
                    <a:bodyPr/>
                    <a:lstStyle/>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List 2- 3 activities that you would carry out as a PM to unblock the scrum team immediately ?</a:t>
                      </a: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100" b="1">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 </a:t>
                      </a: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1124775">
                <a:tc>
                  <a:txBody>
                    <a:bodyPr/>
                    <a:lstStyle/>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Since the QA team member is shared across multiple projects, how would you coordinate with other PMs to de-risk your project and raise appropriate visibility ? </a:t>
                      </a:r>
                      <a:endParaRPr sz="12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Limit to 4 bullets to share at a high-level how would you coordinate/negotiate with other PMs.Keep in mind their projects might be at risk too</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r h="933250">
                <a:tc rowSpan="2">
                  <a:txBody>
                    <a:bodyPr/>
                    <a:lstStyle/>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Since there is a potential risk, it is important to raise visibility amongst appropriate stakeholders</a:t>
                      </a: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9E9E9E"/>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]Identify the stakeholders that you would raise the visibility</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9E9E9E"/>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2"/>
                  </a:ext>
                </a:extLst>
              </a:tr>
              <a:tr h="1358175">
                <a:tc vMerge="1">
                  <a:txBody>
                    <a:bodyPr/>
                    <a:lstStyle/>
                    <a:p>
                      <a:endParaRPr lang="en-US"/>
                    </a:p>
                  </a:txBody>
                  <a:tcPr/>
                </a:tc>
                <a:tc>
                  <a:txBody>
                    <a:bodyPr/>
                    <a:lstStyle/>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How would your communication differ based on whether you were able to negotiate (or) not negotiate shared QA team member’s time upon return with other PMs successfully? Limit to 2 bullets to point out the differences.</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transition>
    <p:fade thruBlk="1"/>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64"/>
          <p:cNvSpPr txBox="1">
            <a:spLocks noGrp="1"/>
          </p:cNvSpPr>
          <p:nvPr>
            <p:ph type="body" idx="1"/>
          </p:nvPr>
        </p:nvSpPr>
        <p:spPr>
          <a:xfrm>
            <a:off x="228600" y="609451"/>
            <a:ext cx="8229600" cy="3096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None/>
            </a:pPr>
            <a:r>
              <a:rPr lang="en" sz="1200"/>
              <a:t>Use the information below to understand what is expected and use the next slide to share your answers</a:t>
            </a:r>
            <a:endParaRPr/>
          </a:p>
        </p:txBody>
      </p:sp>
      <p:sp>
        <p:nvSpPr>
          <p:cNvPr id="412" name="Google Shape;412;p64"/>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413" name="Google Shape;413;p64"/>
          <p:cNvSpPr txBox="1">
            <a:spLocks noGrp="1"/>
          </p:cNvSpPr>
          <p:nvPr>
            <p:ph type="title"/>
          </p:nvPr>
        </p:nvSpPr>
        <p:spPr>
          <a:xfrm>
            <a:off x="207700" y="76200"/>
            <a:ext cx="8250600" cy="488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Feedback from stakeholder in public forum</a:t>
            </a:r>
            <a:endParaRPr sz="2800"/>
          </a:p>
        </p:txBody>
      </p:sp>
      <p:sp>
        <p:nvSpPr>
          <p:cNvPr id="414" name="Google Shape;414;p64"/>
          <p:cNvSpPr txBox="1">
            <a:spLocks noGrp="1"/>
          </p:cNvSpPr>
          <p:nvPr>
            <p:ph type="body" idx="3"/>
          </p:nvPr>
        </p:nvSpPr>
        <p:spPr>
          <a:xfrm>
            <a:off x="228600" y="876300"/>
            <a:ext cx="8229600" cy="32487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None/>
            </a:pPr>
            <a:r>
              <a:rPr lang="en" sz="1200" b="1"/>
              <a:t>Sprint Progress </a:t>
            </a:r>
            <a:endParaRPr sz="1200" b="1"/>
          </a:p>
          <a:p>
            <a:pPr marL="0" lvl="0" indent="0" algn="l" rtl="0">
              <a:lnSpc>
                <a:spcPct val="115000"/>
              </a:lnSpc>
              <a:spcBef>
                <a:spcPts val="0"/>
              </a:spcBef>
              <a:spcAft>
                <a:spcPts val="0"/>
              </a:spcAft>
              <a:buNone/>
            </a:pPr>
            <a:r>
              <a:rPr lang="en" sz="1200"/>
              <a:t> You are 2 days away from the sprint ending</a:t>
            </a:r>
            <a:endParaRPr sz="1200"/>
          </a:p>
          <a:p>
            <a:pPr marL="0" lvl="0" indent="0" algn="l" rtl="0">
              <a:lnSpc>
                <a:spcPct val="115000"/>
              </a:lnSpc>
              <a:spcBef>
                <a:spcPts val="0"/>
              </a:spcBef>
              <a:spcAft>
                <a:spcPts val="0"/>
              </a:spcAft>
              <a:buNone/>
            </a:pPr>
            <a:endParaRPr sz="1200" b="1">
              <a:solidFill>
                <a:srgbClr val="2D3D4A"/>
              </a:solidFill>
            </a:endParaRPr>
          </a:p>
          <a:p>
            <a:pPr marL="0" lvl="0" indent="0" algn="l" rtl="0">
              <a:lnSpc>
                <a:spcPct val="115000"/>
              </a:lnSpc>
              <a:spcBef>
                <a:spcPts val="0"/>
              </a:spcBef>
              <a:spcAft>
                <a:spcPts val="0"/>
              </a:spcAft>
              <a:buNone/>
            </a:pPr>
            <a:r>
              <a:rPr lang="en" sz="1200" b="1">
                <a:solidFill>
                  <a:srgbClr val="2D3D4A"/>
                </a:solidFill>
              </a:rPr>
              <a:t>Situation Details </a:t>
            </a:r>
            <a:endParaRPr sz="1200" b="1">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You are con</a:t>
            </a:r>
            <a:r>
              <a:rPr lang="en" sz="1200"/>
              <a:t>ducting </a:t>
            </a:r>
            <a:r>
              <a:rPr lang="en" sz="1200">
                <a:solidFill>
                  <a:srgbClr val="2D3D4A"/>
                </a:solidFill>
              </a:rPr>
              <a:t>the </a:t>
            </a:r>
            <a:r>
              <a:rPr lang="en" sz="1200"/>
              <a:t>product</a:t>
            </a:r>
            <a:r>
              <a:rPr lang="en" sz="1200">
                <a:solidFill>
                  <a:srgbClr val="2D3D4A"/>
                </a:solidFill>
              </a:rPr>
              <a:t> sign-off meeting with  cross-functional stakeholders and </a:t>
            </a:r>
            <a:r>
              <a:rPr lang="en" sz="1200"/>
              <a:t>scrum team</a:t>
            </a:r>
            <a:r>
              <a:rPr lang="en" sz="1200">
                <a:solidFill>
                  <a:srgbClr val="2D3D4A"/>
                </a:solidFill>
              </a:rPr>
              <a:t> (10+ people) and </a:t>
            </a:r>
            <a:r>
              <a:rPr lang="en" sz="1200"/>
              <a:t>t</a:t>
            </a:r>
            <a:r>
              <a:rPr lang="en" sz="1200">
                <a:solidFill>
                  <a:srgbClr val="2D3D4A"/>
                </a:solidFill>
              </a:rPr>
              <a:t>he product being tested is expected to go live at the end of this sprint.</a:t>
            </a:r>
            <a:endParaRPr sz="1200">
              <a:solidFill>
                <a:srgbClr val="2D3D4A"/>
              </a:solidFill>
            </a:endParaRPr>
          </a:p>
          <a:p>
            <a:pPr marL="457200" lvl="0" indent="-304800" algn="l" rtl="0">
              <a:lnSpc>
                <a:spcPct val="115000"/>
              </a:lnSpc>
              <a:spcBef>
                <a:spcPts val="0"/>
              </a:spcBef>
              <a:spcAft>
                <a:spcPts val="0"/>
              </a:spcAft>
              <a:buClr>
                <a:srgbClr val="2D3D4A"/>
              </a:buClr>
              <a:buSzPts val="1200"/>
              <a:buChar char="●"/>
            </a:pPr>
            <a:r>
              <a:rPr lang="en" sz="1200">
                <a:solidFill>
                  <a:srgbClr val="2D3D4A"/>
                </a:solidFill>
              </a:rPr>
              <a:t>One of the cross-functional stakeholders shared the feedback below </a:t>
            </a:r>
            <a:r>
              <a:rPr lang="en" sz="1200"/>
              <a:t>at</a:t>
            </a:r>
            <a:r>
              <a:rPr lang="en" sz="1200">
                <a:solidFill>
                  <a:srgbClr val="2D3D4A"/>
                </a:solidFill>
              </a:rPr>
              <a:t> the meeting </a:t>
            </a:r>
            <a:endParaRPr sz="1200">
              <a:solidFill>
                <a:srgbClr val="2D3D4A"/>
              </a:solidFill>
            </a:endParaRPr>
          </a:p>
          <a:p>
            <a:pPr marL="0" lvl="0" indent="0" algn="l" rtl="0">
              <a:lnSpc>
                <a:spcPct val="115000"/>
              </a:lnSpc>
              <a:spcBef>
                <a:spcPts val="0"/>
              </a:spcBef>
              <a:spcAft>
                <a:spcPts val="0"/>
              </a:spcAft>
              <a:buNone/>
            </a:pPr>
            <a:endParaRPr sz="1200">
              <a:solidFill>
                <a:srgbClr val="2D3D4A"/>
              </a:solidFill>
            </a:endParaRPr>
          </a:p>
          <a:p>
            <a:pPr marL="0" lvl="0" indent="0" algn="l" rtl="0">
              <a:lnSpc>
                <a:spcPct val="115000"/>
              </a:lnSpc>
              <a:spcBef>
                <a:spcPts val="0"/>
              </a:spcBef>
              <a:spcAft>
                <a:spcPts val="0"/>
              </a:spcAft>
              <a:buNone/>
            </a:pPr>
            <a:r>
              <a:rPr lang="en" sz="1200" b="1">
                <a:solidFill>
                  <a:srgbClr val="2D3D4A"/>
                </a:solidFill>
              </a:rPr>
              <a:t>Feedback</a:t>
            </a:r>
            <a:r>
              <a:rPr lang="en" sz="1200">
                <a:solidFill>
                  <a:srgbClr val="2D3D4A"/>
                </a:solidFill>
              </a:rPr>
              <a:t> </a:t>
            </a:r>
            <a:endParaRPr sz="1200">
              <a:solidFill>
                <a:srgbClr val="2D3D4A"/>
              </a:solidFill>
            </a:endParaRPr>
          </a:p>
          <a:p>
            <a:pPr marL="0" lvl="0" indent="0" algn="l" rtl="0">
              <a:lnSpc>
                <a:spcPct val="115000"/>
              </a:lnSpc>
              <a:spcBef>
                <a:spcPts val="0"/>
              </a:spcBef>
              <a:spcAft>
                <a:spcPts val="0"/>
              </a:spcAft>
              <a:buNone/>
            </a:pPr>
            <a:r>
              <a:rPr lang="en" sz="1200">
                <a:solidFill>
                  <a:srgbClr val="2D3D4A"/>
                </a:solidFill>
              </a:rPr>
              <a:t>I don’t think th</a:t>
            </a:r>
            <a:r>
              <a:rPr lang="en" sz="1200"/>
              <a:t>e product </a:t>
            </a:r>
            <a:r>
              <a:rPr lang="en" sz="1200">
                <a:solidFill>
                  <a:srgbClr val="2D3D4A"/>
                </a:solidFill>
              </a:rPr>
              <a:t> </a:t>
            </a:r>
            <a:r>
              <a:rPr lang="en" sz="1200"/>
              <a:t>we just tested is good enough </a:t>
            </a:r>
            <a:r>
              <a:rPr lang="en" sz="1200">
                <a:solidFill>
                  <a:srgbClr val="2D3D4A"/>
                </a:solidFill>
              </a:rPr>
              <a:t>to </a:t>
            </a:r>
            <a:r>
              <a:rPr lang="en" sz="1200"/>
              <a:t>go</a:t>
            </a:r>
            <a:r>
              <a:rPr lang="en" sz="1200">
                <a:solidFill>
                  <a:srgbClr val="2D3D4A"/>
                </a:solidFill>
              </a:rPr>
              <a:t> live. It needs to send daily push notification reminding </a:t>
            </a:r>
            <a:r>
              <a:rPr lang="en" sz="1200"/>
              <a:t>users</a:t>
            </a:r>
            <a:r>
              <a:rPr lang="en" sz="1200">
                <a:solidFill>
                  <a:srgbClr val="2D3D4A"/>
                </a:solidFill>
              </a:rPr>
              <a:t> to open and use the product feature being launched</a:t>
            </a:r>
            <a:endParaRPr sz="1200"/>
          </a:p>
          <a:p>
            <a:pPr marL="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r>
              <a:rPr lang="en" sz="1200" b="1"/>
              <a:t>Assumption for exercise-sake</a:t>
            </a:r>
            <a:endParaRPr sz="1200" b="1"/>
          </a:p>
          <a:p>
            <a:pPr marL="0" lvl="0" indent="0" algn="l" rtl="0">
              <a:lnSpc>
                <a:spcPct val="115000"/>
              </a:lnSpc>
              <a:spcBef>
                <a:spcPts val="0"/>
              </a:spcBef>
              <a:spcAft>
                <a:spcPts val="0"/>
              </a:spcAft>
              <a:buNone/>
            </a:pPr>
            <a:r>
              <a:rPr lang="en" sz="1200"/>
              <a:t> (</a:t>
            </a:r>
            <a:r>
              <a:rPr lang="en" sz="1200">
                <a:solidFill>
                  <a:srgbClr val="0097A7"/>
                </a:solidFill>
                <a:uFill>
                  <a:noFill/>
                </a:uFill>
                <a:hlinkClick r:id="rId3"/>
              </a:rPr>
              <a:t>Notification</a:t>
            </a:r>
            <a:r>
              <a:rPr lang="en" sz="1200"/>
              <a:t>) feature (of any sort) is not in the MVP scope. Your goal is to  understand the user-journey within the product better after the launch to define the trigger and other details to introduce later</a:t>
            </a:r>
            <a:endParaRPr sz="1200"/>
          </a:p>
          <a:p>
            <a:pPr marL="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endParaRPr sz="1200"/>
          </a:p>
          <a:p>
            <a:pPr marL="0" lvl="0" indent="0" algn="l" rtl="0">
              <a:lnSpc>
                <a:spcPct val="115000"/>
              </a:lnSpc>
              <a:spcBef>
                <a:spcPts val="0"/>
              </a:spcBef>
              <a:spcAft>
                <a:spcPts val="0"/>
              </a:spcAft>
              <a:buNone/>
            </a:pPr>
            <a:endParaRPr sz="1200">
              <a:solidFill>
                <a:srgbClr val="2D3D4A"/>
              </a:solidFill>
            </a:endParaRPr>
          </a:p>
          <a:p>
            <a:pPr marL="0" marR="0" lvl="0" indent="0" algn="l" rtl="0">
              <a:lnSpc>
                <a:spcPct val="115000"/>
              </a:lnSpc>
              <a:spcBef>
                <a:spcPts val="700"/>
              </a:spcBef>
              <a:spcAft>
                <a:spcPts val="0"/>
              </a:spcAft>
              <a:buNone/>
            </a:pPr>
            <a:endParaRPr sz="1200">
              <a:solidFill>
                <a:srgbClr val="2D3D4A"/>
              </a:solidFill>
            </a:endParaRPr>
          </a:p>
        </p:txBody>
      </p:sp>
      <p:sp>
        <p:nvSpPr>
          <p:cNvPr id="415" name="Google Shape;415;p64"/>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27</a:t>
            </a:fld>
            <a:endParaRPr>
              <a:solidFill>
                <a:srgbClr val="929292"/>
              </a:solidFill>
            </a:endParaRPr>
          </a:p>
        </p:txBody>
      </p:sp>
      <p:pic>
        <p:nvPicPr>
          <p:cNvPr id="416" name="Google Shape;416;p64"/>
          <p:cNvPicPr preferRelativeResize="0"/>
          <p:nvPr/>
        </p:nvPicPr>
        <p:blipFill rotWithShape="1">
          <a:blip r:embed="rId4">
            <a:alphaModFix/>
          </a:blip>
          <a:srcRect l="18073" t="20988" r="14486" b="11824"/>
          <a:stretch/>
        </p:blipFill>
        <p:spPr>
          <a:xfrm>
            <a:off x="3265977" y="4230293"/>
            <a:ext cx="2588100" cy="644579"/>
          </a:xfrm>
          <a:prstGeom prst="rect">
            <a:avLst/>
          </a:prstGeom>
          <a:noFill/>
          <a:ln>
            <a:noFill/>
          </a:ln>
        </p:spPr>
      </p:pic>
    </p:spTree>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65"/>
          <p:cNvSpPr txBox="1">
            <a:spLocks noGrp="1"/>
          </p:cNvSpPr>
          <p:nvPr>
            <p:ph type="body" idx="2"/>
          </p:nvPr>
        </p:nvSpPr>
        <p:spPr>
          <a:xfrm>
            <a:off x="457200" y="4914900"/>
            <a:ext cx="39576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D97AD"/>
              </a:buClr>
              <a:buFont typeface="Open Sans"/>
              <a:buNone/>
            </a:pPr>
            <a:r>
              <a:rPr lang="en" sz="700" b="0" i="0" u="none" strike="noStrike" cap="none">
                <a:solidFill>
                  <a:srgbClr val="7D97AD"/>
                </a:solidFill>
                <a:latin typeface="Open Sans"/>
                <a:ea typeface="Open Sans"/>
                <a:cs typeface="Open Sans"/>
                <a:sym typeface="Open Sans"/>
              </a:rPr>
              <a:t>© 201</a:t>
            </a:r>
            <a:r>
              <a:rPr lang="en"/>
              <a:t>9</a:t>
            </a:r>
            <a:r>
              <a:rPr lang="en" sz="700" b="0" i="0" u="none" strike="noStrike" cap="none">
                <a:solidFill>
                  <a:srgbClr val="7D97AD"/>
                </a:solidFill>
                <a:latin typeface="Open Sans"/>
                <a:ea typeface="Open Sans"/>
                <a:cs typeface="Open Sans"/>
                <a:sym typeface="Open Sans"/>
              </a:rPr>
              <a:t> Udacity.  All rights reserved.</a:t>
            </a:r>
            <a:endParaRPr sz="500"/>
          </a:p>
        </p:txBody>
      </p:sp>
      <p:sp>
        <p:nvSpPr>
          <p:cNvPr id="422" name="Google Shape;422;p65"/>
          <p:cNvSpPr txBox="1">
            <a:spLocks noGrp="1"/>
          </p:cNvSpPr>
          <p:nvPr>
            <p:ph type="title"/>
          </p:nvPr>
        </p:nvSpPr>
        <p:spPr>
          <a:xfrm>
            <a:off x="145150" y="76200"/>
            <a:ext cx="8735700" cy="471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D3D4A"/>
              </a:buClr>
              <a:buFont typeface="Open Sans"/>
              <a:buNone/>
            </a:pPr>
            <a:r>
              <a:rPr lang="en" sz="2800"/>
              <a:t>How would you handle stakeholder feedback?</a:t>
            </a:r>
            <a:endParaRPr sz="2800"/>
          </a:p>
        </p:txBody>
      </p:sp>
      <p:sp>
        <p:nvSpPr>
          <p:cNvPr id="423" name="Google Shape;423;p65"/>
          <p:cNvSpPr txBox="1">
            <a:spLocks noGrp="1"/>
          </p:cNvSpPr>
          <p:nvPr>
            <p:ph type="sldNum" idx="12"/>
          </p:nvPr>
        </p:nvSpPr>
        <p:spPr>
          <a:xfrm>
            <a:off x="8635403" y="4914900"/>
            <a:ext cx="102900" cy="11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rgbClr val="7D97AD"/>
              </a:buClr>
              <a:buFont typeface="Open Sans"/>
              <a:buNone/>
            </a:pPr>
            <a:fld id="{00000000-1234-1234-1234-123412341234}" type="slidenum">
              <a:rPr lang="en"/>
              <a:t>28</a:t>
            </a:fld>
            <a:endParaRPr>
              <a:solidFill>
                <a:srgbClr val="929292"/>
              </a:solidFill>
            </a:endParaRPr>
          </a:p>
        </p:txBody>
      </p:sp>
      <p:graphicFrame>
        <p:nvGraphicFramePr>
          <p:cNvPr id="424" name="Google Shape;424;p65"/>
          <p:cNvGraphicFramePr/>
          <p:nvPr/>
        </p:nvGraphicFramePr>
        <p:xfrm>
          <a:off x="161475" y="595200"/>
          <a:ext cx="8735700" cy="4154600"/>
        </p:xfrm>
        <a:graphic>
          <a:graphicData uri="http://schemas.openxmlformats.org/drawingml/2006/table">
            <a:tbl>
              <a:tblPr>
                <a:noFill/>
                <a:tableStyleId>{16132107-9968-4529-8D7F-A200421C30BD}</a:tableStyleId>
              </a:tblPr>
              <a:tblGrid>
                <a:gridCol w="1910200">
                  <a:extLst>
                    <a:ext uri="{9D8B030D-6E8A-4147-A177-3AD203B41FA5}">
                      <a16:colId xmlns:a16="http://schemas.microsoft.com/office/drawing/2014/main" val="20000"/>
                    </a:ext>
                  </a:extLst>
                </a:gridCol>
                <a:gridCol w="6825500">
                  <a:extLst>
                    <a:ext uri="{9D8B030D-6E8A-4147-A177-3AD203B41FA5}">
                      <a16:colId xmlns:a16="http://schemas.microsoft.com/office/drawing/2014/main" val="20001"/>
                    </a:ext>
                  </a:extLst>
                </a:gridCol>
              </a:tblGrid>
              <a:tr h="1729550">
                <a:tc>
                  <a:txBody>
                    <a:bodyPr/>
                    <a:lstStyle/>
                    <a:p>
                      <a:pPr marL="0" lvl="0" indent="0" algn="l" rtl="0">
                        <a:lnSpc>
                          <a:spcPct val="115000"/>
                        </a:lnSpc>
                        <a:spcBef>
                          <a:spcPts val="0"/>
                        </a:spcBef>
                        <a:spcAft>
                          <a:spcPts val="0"/>
                        </a:spcAft>
                        <a:buNone/>
                      </a:pPr>
                      <a:r>
                        <a:rPr lang="en" sz="1200" b="1">
                          <a:solidFill>
                            <a:srgbClr val="2D3D4A"/>
                          </a:solidFill>
                          <a:latin typeface="Open Sans"/>
                          <a:ea typeface="Open Sans"/>
                          <a:cs typeface="Open Sans"/>
                          <a:sym typeface="Open Sans"/>
                        </a:rPr>
                        <a:t>Feedback Assessment</a:t>
                      </a: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70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help text before you submit</a:t>
                      </a:r>
                      <a:r>
                        <a:rPr lang="en" sz="1200">
                          <a:solidFill>
                            <a:srgbClr val="9E9E9E"/>
                          </a:solidFill>
                          <a:latin typeface="Open Sans"/>
                          <a:ea typeface="Open Sans"/>
                          <a:cs typeface="Open Sans"/>
                          <a:sym typeface="Open Sans"/>
                        </a:rPr>
                        <a:t>] Limit to 3 bullets to list the questions you would ask the stakeholder to understand their feedback better</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0"/>
                  </a:ext>
                </a:extLst>
              </a:tr>
              <a:tr h="2425050">
                <a:tc>
                  <a:txBody>
                    <a:bodyPr/>
                    <a:lstStyle/>
                    <a:p>
                      <a:pPr marL="0" lvl="0" indent="0" algn="l" rtl="0">
                        <a:lnSpc>
                          <a:spcPct val="115000"/>
                        </a:lnSpc>
                        <a:spcBef>
                          <a:spcPts val="700"/>
                        </a:spcBef>
                        <a:spcAft>
                          <a:spcPts val="0"/>
                        </a:spcAft>
                        <a:buNone/>
                      </a:pPr>
                      <a:r>
                        <a:rPr lang="en" sz="1200" b="1">
                          <a:solidFill>
                            <a:srgbClr val="2D3D4A"/>
                          </a:solidFill>
                          <a:latin typeface="Open Sans"/>
                          <a:ea typeface="Open Sans"/>
                          <a:cs typeface="Open Sans"/>
                          <a:sym typeface="Open Sans"/>
                        </a:rPr>
                        <a:t>Video Response </a:t>
                      </a:r>
                      <a:endParaRPr sz="1200" b="1">
                        <a:solidFill>
                          <a:srgbClr val="2D3D4A"/>
                        </a:solidFill>
                        <a:latin typeface="Open Sans"/>
                        <a:ea typeface="Open Sans"/>
                        <a:cs typeface="Open Sans"/>
                        <a:sym typeface="Open Sans"/>
                      </a:endParaRPr>
                    </a:p>
                    <a:p>
                      <a:pPr marL="114300" lvl="0" indent="0" algn="l" rtl="0">
                        <a:lnSpc>
                          <a:spcPct val="115000"/>
                        </a:lnSpc>
                        <a:spcBef>
                          <a:spcPts val="700"/>
                        </a:spcBef>
                        <a:spcAft>
                          <a:spcPts val="0"/>
                        </a:spcAft>
                        <a:buNone/>
                      </a:pPr>
                      <a:endParaRPr sz="1200">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b="1">
                        <a:solidFill>
                          <a:srgbClr val="2D3D4A"/>
                        </a:solidFill>
                        <a:latin typeface="Open Sans"/>
                        <a:ea typeface="Open Sans"/>
                        <a:cs typeface="Open Sans"/>
                        <a:sym typeface="Open Sans"/>
                      </a:endParaRPr>
                    </a:p>
                    <a:p>
                      <a:pPr marL="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tc>
                  <a:txBody>
                    <a:bodyPr/>
                    <a:lstStyle/>
                    <a:p>
                      <a:pPr marL="0" lvl="0" indent="0" algn="l" rtl="0">
                        <a:lnSpc>
                          <a:spcPct val="115000"/>
                        </a:lnSpc>
                        <a:spcBef>
                          <a:spcPts val="0"/>
                        </a:spcBef>
                        <a:spcAft>
                          <a:spcPts val="0"/>
                        </a:spcAft>
                        <a:buNone/>
                      </a:pPr>
                      <a:r>
                        <a:rPr lang="en" sz="1200">
                          <a:solidFill>
                            <a:srgbClr val="2D3D4A"/>
                          </a:solidFill>
                          <a:latin typeface="Open Sans"/>
                          <a:ea typeface="Open Sans"/>
                          <a:cs typeface="Open Sans"/>
                          <a:sym typeface="Open Sans"/>
                        </a:rPr>
                        <a:t>Share the link to your video here </a:t>
                      </a:r>
                      <a:r>
                        <a:rPr lang="en" sz="1200">
                          <a:solidFill>
                            <a:srgbClr val="0097A7"/>
                          </a:solidFill>
                          <a:latin typeface="Open Sans"/>
                          <a:ea typeface="Open Sans"/>
                          <a:cs typeface="Open Sans"/>
                          <a:sym typeface="Open Sans"/>
                        </a:rPr>
                        <a:t>(insert link)</a:t>
                      </a:r>
                      <a:endParaRPr sz="1200">
                        <a:solidFill>
                          <a:srgbClr val="0097A7"/>
                        </a:solidFill>
                        <a:latin typeface="Open Sans"/>
                        <a:ea typeface="Open Sans"/>
                        <a:cs typeface="Open Sans"/>
                        <a:sym typeface="Open Sans"/>
                      </a:endParaRPr>
                    </a:p>
                    <a:p>
                      <a:pPr marL="0" lvl="0" indent="0" algn="l" rtl="0">
                        <a:lnSpc>
                          <a:spcPct val="115000"/>
                        </a:lnSpc>
                        <a:spcBef>
                          <a:spcPts val="700"/>
                        </a:spcBef>
                        <a:spcAft>
                          <a:spcPts val="0"/>
                        </a:spcAft>
                        <a:buNone/>
                      </a:pPr>
                      <a:r>
                        <a:rPr lang="en" sz="1200">
                          <a:solidFill>
                            <a:srgbClr val="9E9E9E"/>
                          </a:solidFill>
                          <a:latin typeface="Open Sans"/>
                          <a:ea typeface="Open Sans"/>
                          <a:cs typeface="Open Sans"/>
                          <a:sym typeface="Open Sans"/>
                        </a:rPr>
                        <a:t>[</a:t>
                      </a:r>
                      <a:r>
                        <a:rPr lang="en" sz="1200" b="1">
                          <a:solidFill>
                            <a:srgbClr val="9E9E9E"/>
                          </a:solidFill>
                          <a:latin typeface="Open Sans"/>
                          <a:ea typeface="Open Sans"/>
                          <a:cs typeface="Open Sans"/>
                          <a:sym typeface="Open Sans"/>
                        </a:rPr>
                        <a:t>Remove below help text before you submit</a:t>
                      </a:r>
                      <a:r>
                        <a:rPr lang="en" sz="1200">
                          <a:solidFill>
                            <a:srgbClr val="9E9E9E"/>
                          </a:solidFill>
                          <a:latin typeface="Open Sans"/>
                          <a:ea typeface="Open Sans"/>
                          <a:cs typeface="Open Sans"/>
                          <a:sym typeface="Open Sans"/>
                        </a:rPr>
                        <a:t>]</a:t>
                      </a:r>
                      <a:r>
                        <a:rPr lang="en" sz="1200">
                          <a:solidFill>
                            <a:srgbClr val="0000FF"/>
                          </a:solidFill>
                          <a:latin typeface="Open Sans"/>
                          <a:ea typeface="Open Sans"/>
                          <a:cs typeface="Open Sans"/>
                          <a:sym typeface="Open Sans"/>
                        </a:rPr>
                        <a:t> </a:t>
                      </a:r>
                      <a:r>
                        <a:rPr lang="en" sz="1200">
                          <a:solidFill>
                            <a:srgbClr val="9E9E9E"/>
                          </a:solidFill>
                          <a:latin typeface="Open Sans"/>
                          <a:ea typeface="Open Sans"/>
                          <a:cs typeface="Open Sans"/>
                          <a:sym typeface="Open Sans"/>
                        </a:rPr>
                        <a:t>Record your final response to the stakeholder </a:t>
                      </a:r>
                      <a:r>
                        <a:rPr lang="en" sz="1200" i="1">
                          <a:solidFill>
                            <a:srgbClr val="9E9E9E"/>
                          </a:solidFill>
                          <a:latin typeface="Open Sans"/>
                          <a:ea typeface="Open Sans"/>
                          <a:cs typeface="Open Sans"/>
                          <a:sym typeface="Open Sans"/>
                        </a:rPr>
                        <a:t>( whether you agree or disagree with their suggestion that notification feature is a launch blocker) </a:t>
                      </a:r>
                      <a:endParaRPr sz="1200">
                        <a:solidFill>
                          <a:srgbClr val="9E9E9E"/>
                        </a:solidFill>
                        <a:latin typeface="Open Sans"/>
                        <a:ea typeface="Open Sans"/>
                        <a:cs typeface="Open Sans"/>
                        <a:sym typeface="Open Sans"/>
                      </a:endParaRPr>
                    </a:p>
                    <a:p>
                      <a:pPr marL="0" lvl="0" indent="0" algn="l" rtl="0">
                        <a:lnSpc>
                          <a:spcPct val="115000"/>
                        </a:lnSpc>
                        <a:spcBef>
                          <a:spcPts val="0"/>
                        </a:spcBef>
                        <a:spcAft>
                          <a:spcPts val="0"/>
                        </a:spcAft>
                        <a:buNone/>
                      </a:pPr>
                      <a:r>
                        <a:rPr lang="en" sz="1200">
                          <a:solidFill>
                            <a:srgbClr val="9E9E9E"/>
                          </a:solidFill>
                          <a:latin typeface="Open Sans"/>
                          <a:ea typeface="Open Sans"/>
                          <a:cs typeface="Open Sans"/>
                          <a:sym typeface="Open Sans"/>
                        </a:rPr>
                        <a:t>💡Keep your response focused and succinct( &lt; 2minutes)</a:t>
                      </a:r>
                      <a:endParaRPr sz="1200">
                        <a:solidFill>
                          <a:srgbClr val="9E9E9E"/>
                        </a:solidFill>
                        <a:latin typeface="Open Sans"/>
                        <a:ea typeface="Open Sans"/>
                        <a:cs typeface="Open Sans"/>
                        <a:sym typeface="Open Sans"/>
                      </a:endParaRPr>
                    </a:p>
                    <a:p>
                      <a:pPr marL="457200" lvl="0" indent="0" algn="l" rtl="0">
                        <a:lnSpc>
                          <a:spcPct val="115000"/>
                        </a:lnSpc>
                        <a:spcBef>
                          <a:spcPts val="0"/>
                        </a:spcBef>
                        <a:spcAft>
                          <a:spcPts val="0"/>
                        </a:spcAft>
                        <a:buNone/>
                      </a:pPr>
                      <a:endParaRPr sz="1200">
                        <a:solidFill>
                          <a:srgbClr val="2D3D4A"/>
                        </a:solidFill>
                        <a:latin typeface="Open Sans"/>
                        <a:ea typeface="Open Sans"/>
                        <a:cs typeface="Open Sans"/>
                        <a:sym typeface="Open Sans"/>
                      </a:endParaRPr>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transition>
    <p:fade thruBlk="1"/>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dacity Template 16x9">
  <a:themeElements>
    <a:clrScheme name="White">
      <a:dk1>
        <a:srgbClr val="2E3D49"/>
      </a:dk1>
      <a:lt1>
        <a:srgbClr val="7D97AD"/>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2928</TotalTime>
  <Words>4561</Words>
  <Application>Microsoft Macintosh PowerPoint</Application>
  <PresentationFormat>On-screen Show (16:9)</PresentationFormat>
  <Paragraphs>304</Paragraphs>
  <Slides>28</Slides>
  <Notes>28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28</vt:i4>
      </vt:variant>
    </vt:vector>
  </HeadingPairs>
  <TitlesOfParts>
    <vt:vector size="34" baseType="lpstr">
      <vt:lpstr>Open Sans</vt:lpstr>
      <vt:lpstr>Open Sans Light</vt:lpstr>
      <vt:lpstr>Arial</vt:lpstr>
      <vt:lpstr>Cabin</vt:lpstr>
      <vt:lpstr>Simple Light</vt:lpstr>
      <vt:lpstr>Udacity Template 16x9</vt:lpstr>
      <vt:lpstr>KPDailyCheckup</vt:lpstr>
      <vt:lpstr>Getting Started</vt:lpstr>
      <vt:lpstr>Create Project Blueprint</vt:lpstr>
      <vt:lpstr>Create a coordination activities map</vt:lpstr>
      <vt:lpstr> Plan for Sprint Meeting</vt:lpstr>
      <vt:lpstr>Sprint Planning Meeting Preparation</vt:lpstr>
      <vt:lpstr>User Story 1</vt:lpstr>
      <vt:lpstr>User Story 2</vt:lpstr>
      <vt:lpstr>Decoding API Documentation</vt:lpstr>
      <vt:lpstr>Quick Review of Course 1 Projects</vt:lpstr>
      <vt:lpstr>Kaiser Permanente Project</vt:lpstr>
      <vt:lpstr>&lt; Insert Name&gt;Project </vt:lpstr>
      <vt:lpstr>Re-prioritize Sprint Backlog</vt:lpstr>
      <vt:lpstr>PowerPoint Presentation</vt:lpstr>
      <vt:lpstr>Issue 1: Landing Page loading too slow</vt:lpstr>
      <vt:lpstr>PowerPoint Presentation</vt:lpstr>
      <vt:lpstr>PowerPoint Presentation</vt:lpstr>
      <vt:lpstr>Email from Customer Service Manager </vt:lpstr>
      <vt:lpstr>PowerPoint Presentation</vt:lpstr>
      <vt:lpstr>Handle Potentially Difficult Situations</vt:lpstr>
      <vt:lpstr>A request from CEO or GM via email</vt:lpstr>
      <vt:lpstr>Respond to CEO or GM’s request via email</vt:lpstr>
      <vt:lpstr>Step-in and guide the scrum team at stand up</vt:lpstr>
      <vt:lpstr>Step-in and guide the scrum team at stand up</vt:lpstr>
      <vt:lpstr>How would you handle resource constraints?</vt:lpstr>
      <vt:lpstr>Handling Resource Constraints</vt:lpstr>
      <vt:lpstr>Feedback from stakeholder in public forum</vt:lpstr>
      <vt:lpstr>How would you handle stakeholder feedback?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Name</dc:title>
  <cp:lastModifiedBy>Maleina Bidek</cp:lastModifiedBy>
  <cp:revision>39</cp:revision>
  <dcterms:modified xsi:type="dcterms:W3CDTF">2020-05-27T18:54:04Z</dcterms:modified>
</cp:coreProperties>
</file>