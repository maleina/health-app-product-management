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26"/>
  </p:notesMasterIdLst>
  <p:sldIdLst>
    <p:sldId id="257" r:id="rId3"/>
    <p:sldId id="258" r:id="rId4"/>
    <p:sldId id="259" r:id="rId5"/>
    <p:sldId id="260" r:id="rId6"/>
    <p:sldId id="282" r:id="rId7"/>
    <p:sldId id="277" r:id="rId8"/>
    <p:sldId id="278" r:id="rId9"/>
    <p:sldId id="279" r:id="rId10"/>
    <p:sldId id="261" r:id="rId11"/>
    <p:sldId id="262" r:id="rId12"/>
    <p:sldId id="263" r:id="rId13"/>
    <p:sldId id="280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4"/>
    <p:sldId id="281" r:id="rId25"/>
  </p:sldIdLst>
  <p:sldSz cx="9144000" cy="5143500" type="screen16x9"/>
  <p:notesSz cx="6858000" cy="9144000"/>
  <p:embeddedFontLst>
    <p:embeddedFont>
      <p:font typeface="Open Sans" panose="020B03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80216"/>
  </p:normalViewPr>
  <p:slideViewPr>
    <p:cSldViewPr snapToGrid="0">
      <p:cViewPr varScale="1">
        <p:scale>
          <a:sx n="100" d="100"/>
          <a:sy n="100" d="100"/>
        </p:scale>
        <p:origin x="117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7515110cb_1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57515110c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7515110cb_1_2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57515110cb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7515110cb_1_2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[ALL PARTICIPATION]</a:t>
            </a:r>
            <a:endParaRPr/>
          </a:p>
        </p:txBody>
      </p:sp>
      <p:sp>
        <p:nvSpPr>
          <p:cNvPr id="150" name="Google Shape;150;g57515110cb_1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2a7771621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g62a77716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2a7771621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g62a77716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188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2a7771621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g62a77716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776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2a7771621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g62a77716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64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2a7771621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g62a77716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8513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2a7771621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g62a77716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2a7771621_0_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g62a777162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a7771621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g62a777162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a7771621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g62a777162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384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2a7771621_0_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g62a777162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62a7771621_0_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[ALL PARTICIPATION]</a:t>
            </a:r>
            <a:endParaRPr dirty="0"/>
          </a:p>
        </p:txBody>
      </p:sp>
      <p:sp>
        <p:nvSpPr>
          <p:cNvPr id="201" name="Google Shape;201;g62a777162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1265ad5f5_0_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g61265ad5f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2ab51fd8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g62ab51fd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2a7771621_0_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g62a777162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2a7771621_0_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[ALL PARTICIPATION]</a:t>
            </a:r>
            <a:endParaRPr/>
          </a:p>
        </p:txBody>
      </p:sp>
      <p:sp>
        <p:nvSpPr>
          <p:cNvPr id="234" name="Google Shape;234;g62a777162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62a7771621_0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g62a777162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2a7771621_0_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g62a777162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2ab51fd84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8" name="Google Shape;258;g62ab51fd8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62a7771621_0_10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62a777162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2a7771621_0_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[ALL PARTICIPATION]</a:t>
            </a:r>
            <a:endParaRPr/>
          </a:p>
        </p:txBody>
      </p:sp>
      <p:sp>
        <p:nvSpPr>
          <p:cNvPr id="234" name="Google Shape;234;g62a777162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385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r="7800" b="7535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7200" y="2195513"/>
            <a:ext cx="5038800" cy="10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gue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36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3"/>
          </p:nvPr>
        </p:nvSpPr>
        <p:spPr>
          <a:xfrm>
            <a:off x="457200" y="1715877"/>
            <a:ext cx="8229600" cy="28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gue with Subtitle">
  <p:cSld name="Segue with Sub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gue with Subtitle Light">
  <p:cSld name="Segue with Subtitle Light">
    <p:bg>
      <p:bgPr>
        <a:solidFill>
          <a:srgbClr val="02B3E4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457200" y="2633663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SzPts val="500"/>
              <a:buFont typeface="Open Sans"/>
              <a:buNone/>
              <a:defRPr sz="24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gue Light">
  <p:cSld name="Segue Light">
    <p:bg>
      <p:bgPr>
        <a:solidFill>
          <a:srgbClr val="02B3E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457200" y="667978"/>
            <a:ext cx="8229600" cy="26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1524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3600" b="0" i="1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609600" y="3419475"/>
            <a:ext cx="80772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Content">
  <p:cSld name="Title with Content"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36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3"/>
          </p:nvPr>
        </p:nvSpPr>
        <p:spPr>
          <a:xfrm>
            <a:off x="457200" y="17145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sz="16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Content &amp; Image">
  <p:cSld name="Title with Content &amp; Image"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457200" y="912875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SzPts val="500"/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36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3"/>
          </p:nvPr>
        </p:nvSpPr>
        <p:spPr>
          <a:xfrm>
            <a:off x="457200" y="1714500"/>
            <a:ext cx="40251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Open Sans"/>
              <a:buChar char="•"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300"/>
              <a:buFont typeface="Open Sans"/>
              <a:buChar char="–"/>
              <a:defRPr sz="16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100"/>
              <a:buFont typeface="Open Sans"/>
              <a:buChar char="–"/>
              <a:defRPr sz="14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  <a:defRPr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95" name="Google Shape;95;p22"/>
          <p:cNvSpPr>
            <a:spLocks noGrp="1"/>
          </p:cNvSpPr>
          <p:nvPr>
            <p:ph type="pic" idx="4"/>
          </p:nvPr>
        </p:nvSpPr>
        <p:spPr>
          <a:xfrm>
            <a:off x="4662488" y="1714500"/>
            <a:ext cx="40242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5334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711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889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1066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Image">
    <p:bg>
      <p:bgPr>
        <a:solidFill>
          <a:srgbClr val="2D3D4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5334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711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889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1066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">
  <p:cSld name="Demo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 r="7800" b="7535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2D3D4A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 Dark">
  <p:cSld name="Logo A Dar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05" name="Google Shape;105;p25"/>
          <p:cNvSpPr/>
          <p:nvPr/>
        </p:nvSpPr>
        <p:spPr>
          <a:xfrm>
            <a:off x="3796401" y="3514398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 Light">
  <p:cSld name="Logo A Light">
    <p:bg>
      <p:bgPr>
        <a:solidFill>
          <a:srgbClr val="02B3E4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0" name="Google Shape;110;p26"/>
          <p:cNvSpPr/>
          <p:nvPr/>
        </p:nvSpPr>
        <p:spPr>
          <a:xfrm>
            <a:off x="3796401" y="3514725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lang="en" sz="18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5828" y="1370725"/>
            <a:ext cx="2172300" cy="19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B Dark">
  <p:cSld name="Logo B Dar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15" name="Google Shape;115;p27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16" name="Google Shape;11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0679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B Light">
  <p:cSld name="Logo B Light">
    <p:bg>
      <p:bgPr>
        <a:solidFill>
          <a:srgbClr val="02B3E4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489756" y="4800600"/>
            <a:ext cx="8164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© 2016 Udacity. All rights reserved.</a:t>
            </a:r>
            <a:endParaRPr sz="500"/>
          </a:p>
        </p:txBody>
      </p:sp>
      <p:sp>
        <p:nvSpPr>
          <p:cNvPr id="120" name="Google Shape;120;p28"/>
          <p:cNvSpPr/>
          <p:nvPr/>
        </p:nvSpPr>
        <p:spPr>
          <a:xfrm>
            <a:off x="3796401" y="3048793"/>
            <a:ext cx="15513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C"/>
              </a:buClr>
              <a:buFont typeface="Open Sans"/>
              <a:buNone/>
            </a:pPr>
            <a:r>
              <a:rPr lang="en" sz="1800" b="0" i="0" u="none" strike="noStrike" cap="none">
                <a:solidFill>
                  <a:srgbClr val="FAFBFC"/>
                </a:solidFill>
                <a:latin typeface="Open Sans"/>
                <a:ea typeface="Open Sans"/>
                <a:cs typeface="Open Sans"/>
                <a:sym typeface="Open Sans"/>
              </a:rPr>
              <a:t>Be in Demand</a:t>
            </a:r>
            <a:endParaRPr sz="500"/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0313" y="2221260"/>
            <a:ext cx="41433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D49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431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520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596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Open Sans"/>
              <a:buNone/>
              <a:defRPr sz="4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14363" y="2662238"/>
            <a:ext cx="79152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500"/>
              <a:buFont typeface="Open Sans"/>
              <a:buNone/>
              <a:defRPr sz="1800" b="0" i="0" u="none" strike="noStrike" cap="non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sz="700" b="0" i="0" u="none" strike="noStrike" cap="non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chronicdisease/about/costs/index.ht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about.kaiserpermanente.org/our-story/news/announcements/2019-kaiser-foundation-health-plan-hospitals-finan" TargetMode="External"/><Relationship Id="rId4" Type="http://schemas.openxmlformats.org/officeDocument/2006/relationships/hyperlink" Target="https://prevention.nih.gov/research-priorities/research-needs-and-gaps/pathways-prevention/achieving-health-equity-preventive-servic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gna.com/newsroom/news-releases/2018/cigna-expands-personalized-diabetes-prevention-program-in-collaboration-with-omada-healt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kaiserpermanente.org/our-story/news/announcements/2019-kaiser-foundation-health-plan-hospitals-fina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about.kaiserpermanente.org/our-story/news/announcements/2019-kaiser-foundation-health-plan-hospitals-financial-result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fire.com/hidden-app-development-cost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businessofapps.com/marketplace/app-marketing/research/app-marketing-cost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www.fastcompany.com/company/omada-health" TargetMode="External"/><Relationship Id="rId4" Type="http://schemas.openxmlformats.org/officeDocument/2006/relationships/hyperlink" Target="https://www.owler.com/company/omadahealth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>
            <a:spLocks noGrp="1"/>
          </p:cNvSpPr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dirty="0" err="1"/>
              <a:t>KPDailyCheckup</a:t>
            </a:r>
            <a:endParaRPr sz="500" dirty="0"/>
          </a:p>
        </p:txBody>
      </p:sp>
      <p:sp>
        <p:nvSpPr>
          <p:cNvPr id="137" name="Google Shape;137;p31"/>
          <p:cNvSpPr txBox="1">
            <a:spLocks noGrp="1"/>
          </p:cNvSpPr>
          <p:nvPr>
            <p:ph type="body" idx="1"/>
          </p:nvPr>
        </p:nvSpPr>
        <p:spPr>
          <a:xfrm>
            <a:off x="457200" y="2195525"/>
            <a:ext cx="5900700" cy="10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A digital therapeutic solution for member preventative care</a:t>
            </a: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Product Owner: </a:t>
            </a:r>
            <a:r>
              <a:rPr lang="fr-CA" b="1" dirty="0" err="1"/>
              <a:t>Maleina</a:t>
            </a:r>
            <a:r>
              <a:rPr lang="fr-CA" b="1" dirty="0"/>
              <a:t> </a:t>
            </a:r>
            <a:r>
              <a:rPr lang="fr-CA" b="1" dirty="0" err="1"/>
              <a:t>Bidek</a:t>
            </a: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sz="500" dirty="0"/>
          </a:p>
        </p:txBody>
      </p:sp>
      <p:sp>
        <p:nvSpPr>
          <p:cNvPr id="138" name="Google Shape;138;p31"/>
          <p:cNvSpPr txBox="1">
            <a:spLocks noGrp="1"/>
          </p:cNvSpPr>
          <p:nvPr>
            <p:ph type="body" idx="4294967295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2019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/>
              <a:t>Why Are We Here?</a:t>
            </a:r>
            <a:endParaRPr sz="500"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45" name="Google Shape;145;p3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Background</a:t>
            </a:r>
            <a:endParaRPr sz="500" dirty="0"/>
          </a:p>
        </p:txBody>
      </p:sp>
      <p:sp>
        <p:nvSpPr>
          <p:cNvPr id="146" name="Google Shape;146;p32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New </a:t>
            </a:r>
            <a:r>
              <a:rPr lang="en-US" dirty="0" err="1"/>
              <a:t>digitial</a:t>
            </a:r>
            <a:r>
              <a:rPr lang="en-US" dirty="0"/>
              <a:t> therapeutic app: </a:t>
            </a:r>
            <a:r>
              <a:rPr lang="en-US" dirty="0" err="1"/>
              <a:t>KPDailyCheckup</a:t>
            </a:r>
            <a:endParaRPr lang="en-US" dirty="0"/>
          </a:p>
          <a:p>
            <a:pPr marL="285750" indent="-285750"/>
            <a:r>
              <a:rPr lang="en-US" dirty="0"/>
              <a:t>How Kaiser Permanente can improve member health and satisfaction, while reducing costs</a:t>
            </a:r>
          </a:p>
          <a:p>
            <a:pPr marL="285750" indent="-285750"/>
            <a:endParaRPr lang="en-US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 err="1"/>
              <a:t>KPDailyCheckup</a:t>
            </a:r>
            <a:r>
              <a:rPr lang="en-US" b="1" dirty="0"/>
              <a:t> – your path to your best health</a:t>
            </a:r>
          </a:p>
        </p:txBody>
      </p:sp>
      <p:sp>
        <p:nvSpPr>
          <p:cNvPr id="147" name="Google Shape;147;p32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2</a:t>
            </a:fld>
            <a:endParaRPr>
              <a:solidFill>
                <a:srgbClr val="929292"/>
              </a:solidFill>
            </a:endParaRPr>
          </a:p>
        </p:txBody>
      </p:sp>
      <p:pic>
        <p:nvPicPr>
          <p:cNvPr id="5" name="Picture 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0015BEE6-70F0-A449-A243-A6BA4DD2C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300" y="3214480"/>
            <a:ext cx="4445000" cy="5842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Business Case</a:t>
            </a:r>
            <a:endParaRPr sz="500"/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4294967295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Where are we starting?</a:t>
            </a:r>
            <a:endParaRPr sz="500" dirty="0"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Initial Focus</a:t>
            </a:r>
            <a:endParaRPr sz="500"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body" idx="3"/>
          </p:nvPr>
        </p:nvSpPr>
        <p:spPr>
          <a:xfrm>
            <a:off x="457200" y="1194516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CDC: 90% of healthcare spending is for chronic conditions</a:t>
            </a:r>
            <a:r>
              <a:rPr lang="en-US" baseline="30000" dirty="0"/>
              <a:t>1</a:t>
            </a:r>
          </a:p>
          <a:p>
            <a:pPr marL="742950" lvl="1" indent="-285750"/>
            <a:r>
              <a:rPr lang="en-US" dirty="0"/>
              <a:t>Diabetes, heart disease, hypertension, obesity</a:t>
            </a:r>
          </a:p>
          <a:p>
            <a:pPr marL="285750" indent="-285750"/>
            <a:r>
              <a:rPr lang="en-US" dirty="0"/>
              <a:t>NIH: Many can be prevented, delayed when patients work closely with their primary care providers.</a:t>
            </a:r>
            <a:r>
              <a:rPr lang="en-US" baseline="30000" dirty="0"/>
              <a:t>2</a:t>
            </a:r>
            <a:endParaRPr lang="en-US" dirty="0"/>
          </a:p>
          <a:p>
            <a:pPr marL="285750" indent="-285750"/>
            <a:r>
              <a:rPr lang="en-US" dirty="0"/>
              <a:t>KP spends ~$13.63 B on preventable conditions per year</a:t>
            </a:r>
            <a:r>
              <a:rPr lang="en-US" baseline="30000" dirty="0"/>
              <a:t>3</a:t>
            </a:r>
          </a:p>
          <a:p>
            <a:pPr marL="0" indent="0">
              <a:buNone/>
            </a:pPr>
            <a:endParaRPr lang="en-US" baseline="30000" dirty="0"/>
          </a:p>
        </p:txBody>
      </p:sp>
      <p:sp>
        <p:nvSpPr>
          <p:cNvPr id="162" name="Google Shape;162;p34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4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97E8A0-6EFD-AB40-85D9-395659D15F61}"/>
              </a:ext>
            </a:extLst>
          </p:cNvPr>
          <p:cNvSpPr/>
          <p:nvPr/>
        </p:nvSpPr>
        <p:spPr>
          <a:xfrm>
            <a:off x="5340626" y="4229249"/>
            <a:ext cx="380337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1 </a:t>
            </a:r>
            <a:r>
              <a:rPr lang="en-US" sz="900" dirty="0">
                <a:hlinkClick r:id="rId3"/>
              </a:rPr>
              <a:t>–</a:t>
            </a:r>
            <a:r>
              <a:rPr lang="en-US" sz="900" dirty="0"/>
              <a:t> Source: </a:t>
            </a:r>
            <a:r>
              <a:rPr lang="en-US" sz="900" dirty="0">
                <a:hlinkClick r:id="rId3"/>
              </a:rPr>
              <a:t>https://www.cdc.gov/chronicdisease/about/costs/index.htm</a:t>
            </a:r>
            <a:endParaRPr lang="en-US" sz="900" dirty="0"/>
          </a:p>
          <a:p>
            <a:r>
              <a:rPr lang="en-US" sz="900" dirty="0"/>
              <a:t>2 - </a:t>
            </a:r>
            <a:r>
              <a:rPr lang="en-US" sz="900" dirty="0">
                <a:hlinkClick r:id="rId4"/>
              </a:rPr>
              <a:t>NIH Research Priorities</a:t>
            </a:r>
            <a:endParaRPr lang="en-US" sz="900" dirty="0"/>
          </a:p>
          <a:p>
            <a:r>
              <a:rPr lang="en-US" sz="900" dirty="0"/>
              <a:t>3 </a:t>
            </a:r>
            <a:r>
              <a:rPr lang="en-US" sz="900" dirty="0">
                <a:hlinkClick r:id="rId5"/>
              </a:rPr>
              <a:t>–</a:t>
            </a:r>
            <a:r>
              <a:rPr lang="en-US" sz="900" dirty="0"/>
              <a:t> Extrapolated from </a:t>
            </a:r>
            <a:r>
              <a:rPr lang="en-US" sz="900" dirty="0">
                <a:hlinkClick r:id="rId5"/>
              </a:rPr>
              <a:t>2019 Financial Results</a:t>
            </a:r>
            <a:endParaRPr lang="en-US" sz="9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Where are our competitors doing?</a:t>
            </a:r>
            <a:endParaRPr sz="500" dirty="0"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Initial Focus</a:t>
            </a:r>
            <a:endParaRPr sz="500"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body" idx="3"/>
          </p:nvPr>
        </p:nvSpPr>
        <p:spPr>
          <a:xfrm>
            <a:off x="444500" y="1524716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Competitors turning to technology to manage better manage chronic conditions</a:t>
            </a:r>
          </a:p>
          <a:p>
            <a:pPr marL="285750" indent="-285750"/>
            <a:r>
              <a:rPr lang="en-US" dirty="0"/>
              <a:t>Cigna adopted the </a:t>
            </a:r>
            <a:r>
              <a:rPr lang="en-US" dirty="0" err="1"/>
              <a:t>Omada</a:t>
            </a:r>
            <a:r>
              <a:rPr lang="en-US" dirty="0"/>
              <a:t> app early on for diabetes management</a:t>
            </a:r>
          </a:p>
          <a:p>
            <a:pPr marL="742950" lvl="1" indent="-285750"/>
            <a:r>
              <a:rPr lang="en-US" dirty="0"/>
              <a:t>Claims it reduced diabetes-related costs by 8.8%</a:t>
            </a:r>
            <a:r>
              <a:rPr lang="en-US" baseline="30000" dirty="0"/>
              <a:t>1</a:t>
            </a:r>
          </a:p>
          <a:p>
            <a:pPr marL="742950" lvl="1" indent="-285750"/>
            <a:r>
              <a:rPr lang="en-US" dirty="0"/>
              <a:t>Satisfied customers: Over 80% of program participants would recommend it to a friend</a:t>
            </a:r>
          </a:p>
          <a:p>
            <a:pPr marL="742950" lvl="1" indent="-285750"/>
            <a:endParaRPr lang="en-US" baseline="30000" dirty="0"/>
          </a:p>
          <a:p>
            <a:pPr marL="742950" lvl="1" indent="-285750"/>
            <a:endParaRPr lang="en-US" baseline="30000" dirty="0"/>
          </a:p>
          <a:p>
            <a:pPr marL="742950" lvl="1" indent="-285750"/>
            <a:endParaRPr lang="en-US" baseline="30000" dirty="0"/>
          </a:p>
          <a:p>
            <a:pPr marL="742950" lvl="1" indent="-285750"/>
            <a:endParaRPr lang="en-US" baseline="30000" dirty="0"/>
          </a:p>
        </p:txBody>
      </p:sp>
      <p:sp>
        <p:nvSpPr>
          <p:cNvPr id="162" name="Google Shape;162;p34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5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97E8A0-6EFD-AB40-85D9-395659D15F61}"/>
              </a:ext>
            </a:extLst>
          </p:cNvPr>
          <p:cNvSpPr/>
          <p:nvPr/>
        </p:nvSpPr>
        <p:spPr>
          <a:xfrm>
            <a:off x="6915426" y="4417726"/>
            <a:ext cx="198727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1 </a:t>
            </a:r>
            <a:r>
              <a:rPr lang="en-US" sz="900" dirty="0">
                <a:hlinkClick r:id="rId3"/>
              </a:rPr>
              <a:t>–</a:t>
            </a:r>
            <a:r>
              <a:rPr lang="en-US" sz="900" dirty="0"/>
              <a:t> Source: </a:t>
            </a:r>
            <a:r>
              <a:rPr lang="en-US" sz="900" dirty="0">
                <a:hlinkClick r:id="rId3"/>
              </a:rPr>
              <a:t>Press Release – Cigna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40554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What is Kaiser Permanente doing?</a:t>
            </a:r>
            <a:endParaRPr sz="500" dirty="0"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Initial Focus</a:t>
            </a:r>
            <a:endParaRPr sz="500"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body" idx="3"/>
          </p:nvPr>
        </p:nvSpPr>
        <p:spPr>
          <a:xfrm>
            <a:off x="457200" y="18034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Kaiser Permanente management expressed desire to expand in the preventative care space</a:t>
            </a:r>
          </a:p>
          <a:p>
            <a:pPr marL="285750" indent="-285750"/>
            <a:r>
              <a:rPr lang="en-US" dirty="0"/>
              <a:t>KP has started using external apps such as </a:t>
            </a:r>
            <a:r>
              <a:rPr lang="en-US" dirty="0" err="1"/>
              <a:t>Omada</a:t>
            </a:r>
            <a:r>
              <a:rPr lang="en-US" dirty="0"/>
              <a:t> and </a:t>
            </a:r>
            <a:r>
              <a:rPr lang="en-US" dirty="0" err="1"/>
              <a:t>myStrength</a:t>
            </a:r>
            <a:r>
              <a:rPr lang="en-US" dirty="0"/>
              <a:t> (mental health) in some locations</a:t>
            </a:r>
          </a:p>
          <a:p>
            <a:pPr marL="285750" indent="-285750"/>
            <a:r>
              <a:rPr lang="en-US" dirty="0"/>
              <a:t>Data scientists and consultants have prosed and implemented procedural changes based on data</a:t>
            </a:r>
          </a:p>
          <a:p>
            <a:pPr marL="742950" lvl="1" indent="-285750"/>
            <a:r>
              <a:rPr lang="en-US" dirty="0"/>
              <a:t>Improved performance of care managers for diabetics in Orange County</a:t>
            </a:r>
          </a:p>
          <a:p>
            <a:pPr marL="742950" lvl="1" indent="-285750"/>
            <a:endParaRPr lang="en-US" dirty="0"/>
          </a:p>
          <a:p>
            <a:pPr marL="742950" lvl="1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</p:txBody>
      </p:sp>
      <p:sp>
        <p:nvSpPr>
          <p:cNvPr id="162" name="Google Shape;162;p34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6</a:t>
            </a:fld>
            <a:endParaRPr>
              <a:solidFill>
                <a:srgbClr val="9292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87689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dirty="0"/>
              <a:t>What’s the problem?</a:t>
            </a:r>
            <a:endParaRPr lang="en-US" sz="500" dirty="0"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dirty="0"/>
              <a:t>Opportunity</a:t>
            </a:r>
            <a:endParaRPr sz="500"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body" idx="3"/>
          </p:nvPr>
        </p:nvSpPr>
        <p:spPr>
          <a:xfrm>
            <a:off x="457200" y="14732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Existing apps focus more on managing existing chronic conditions, not necessarily on preventing their occurrence</a:t>
            </a:r>
          </a:p>
          <a:p>
            <a:pPr marL="285750" indent="-285750"/>
            <a:r>
              <a:rPr lang="en-US" dirty="0"/>
              <a:t>KP already has a wealth of preventative health resources and toolkits </a:t>
            </a:r>
          </a:p>
          <a:p>
            <a:pPr marL="742950" lvl="1" indent="-285750"/>
            <a:r>
              <a:rPr lang="en-US" dirty="0"/>
              <a:t>scattered across websites</a:t>
            </a:r>
          </a:p>
          <a:p>
            <a:pPr marL="742950" lvl="1" indent="-285750"/>
            <a:r>
              <a:rPr lang="en-US" dirty="0"/>
              <a:t>different apps, for different locations, for different conditions</a:t>
            </a:r>
          </a:p>
          <a:p>
            <a:pPr marL="742950" lvl="1" indent="-285750"/>
            <a:r>
              <a:rPr lang="en-US" dirty="0"/>
              <a:t>in-person and online classes, podcasts, etc.</a:t>
            </a:r>
          </a:p>
          <a:p>
            <a:pPr marL="285750" indent="-285750"/>
            <a:r>
              <a:rPr lang="en-US" dirty="0"/>
              <a:t>If our prevention resources were more accessible and in one place, our members would be healthier and happier, requiring less costly care.</a:t>
            </a:r>
          </a:p>
          <a:p>
            <a:pPr marL="285750" indent="-285750"/>
            <a:r>
              <a:rPr lang="en-US" dirty="0"/>
              <a:t>This is a real opportunity to leverage our knowledge and data to distinguish ourselves from our competitors!</a:t>
            </a:r>
          </a:p>
        </p:txBody>
      </p:sp>
      <p:sp>
        <p:nvSpPr>
          <p:cNvPr id="162" name="Google Shape;162;p34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7</a:t>
            </a:fld>
            <a:endParaRPr>
              <a:solidFill>
                <a:srgbClr val="9292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04282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>
            <a:spLocks noGrp="1"/>
          </p:cNvSpPr>
          <p:nvPr>
            <p:ph type="body" idx="1"/>
          </p:nvPr>
        </p:nvSpPr>
        <p:spPr>
          <a:xfrm>
            <a:off x="4699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-US" dirty="0"/>
              <a:t>How much could we save?</a:t>
            </a:r>
            <a:endParaRPr lang="en-US" sz="500" dirty="0"/>
          </a:p>
        </p:txBody>
      </p:sp>
      <p:sp>
        <p:nvSpPr>
          <p:cNvPr id="168" name="Google Shape;168;p35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-US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-US"/>
              <a:t>9</a:t>
            </a:r>
            <a:r>
              <a:rPr lang="en-US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lang="en-US" sz="500"/>
          </a:p>
        </p:txBody>
      </p:sp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-US" dirty="0"/>
              <a:t>Opportunity</a:t>
            </a:r>
            <a:endParaRPr lang="en-US" sz="500" dirty="0"/>
          </a:p>
        </p:txBody>
      </p:sp>
      <p:sp>
        <p:nvSpPr>
          <p:cNvPr id="170" name="Google Shape;170;p35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If we leveraged our preventative care knowledge and technology effectively into an app, we could see significant cost savings</a:t>
            </a:r>
          </a:p>
          <a:p>
            <a:pPr marL="0" lvl="0" indent="0">
              <a:buNone/>
            </a:pPr>
            <a:endParaRPr lang="en-US" dirty="0"/>
          </a:p>
          <a:p>
            <a:pPr marL="114300" lvl="0" indent="-114300"/>
            <a:endParaRPr lang="en-US" dirty="0"/>
          </a:p>
          <a:p>
            <a:pPr marL="114300" lvl="0" indent="-11430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114300" lvl="0" indent="-114300"/>
            <a:endParaRPr lang="en-US" dirty="0"/>
          </a:p>
        </p:txBody>
      </p:sp>
      <p:sp>
        <p:nvSpPr>
          <p:cNvPr id="171" name="Google Shape;171;p35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-US" smtClean="0"/>
              <a:t>8</a:t>
            </a:fld>
            <a:endParaRPr lang="en-US">
              <a:solidFill>
                <a:srgbClr val="92929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8B177-EE83-6045-A87A-71A6A035107C}"/>
              </a:ext>
            </a:extLst>
          </p:cNvPr>
          <p:cNvSpPr txBox="1"/>
          <p:nvPr/>
        </p:nvSpPr>
        <p:spPr>
          <a:xfrm>
            <a:off x="6457290" y="4495373"/>
            <a:ext cx="2429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1 - Assuming annual operating expenses of $81.8 B (</a:t>
            </a:r>
            <a:r>
              <a:rPr lang="en-US" sz="900" dirty="0">
                <a:hlinkClick r:id="rId3"/>
              </a:rPr>
              <a:t>2019 Financial </a:t>
            </a:r>
            <a:r>
              <a:rPr lang="en-US" sz="900" dirty="0" err="1">
                <a:hlinkClick r:id="rId3"/>
              </a:rPr>
              <a:t>Results</a:t>
            </a:r>
            <a:r>
              <a:rPr lang="en-US" sz="900" dirty="0" err="1">
                <a:hlinkClick r:id="rId4"/>
              </a:rPr>
              <a:t>cial</a:t>
            </a:r>
            <a:r>
              <a:rPr lang="en-US" sz="900" dirty="0">
                <a:hlinkClick r:id="rId4"/>
              </a:rPr>
              <a:t>-results</a:t>
            </a:r>
            <a:r>
              <a:rPr lang="en-US" sz="900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A36CD4-DE50-FA45-89BF-55CE67BCCAF2}"/>
              </a:ext>
            </a:extLst>
          </p:cNvPr>
          <p:cNvGraphicFramePr>
            <a:graphicFrameLocks noGrp="1"/>
          </p:cNvGraphicFramePr>
          <p:nvPr/>
        </p:nvGraphicFramePr>
        <p:xfrm>
          <a:off x="508597" y="2557727"/>
          <a:ext cx="6336108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27">
                  <a:extLst>
                    <a:ext uri="{9D8B030D-6E8A-4147-A177-3AD203B41FA5}">
                      <a16:colId xmlns:a16="http://schemas.microsoft.com/office/drawing/2014/main" val="1150121897"/>
                    </a:ext>
                  </a:extLst>
                </a:gridCol>
                <a:gridCol w="1584027">
                  <a:extLst>
                    <a:ext uri="{9D8B030D-6E8A-4147-A177-3AD203B41FA5}">
                      <a16:colId xmlns:a16="http://schemas.microsoft.com/office/drawing/2014/main" val="4064584178"/>
                    </a:ext>
                  </a:extLst>
                </a:gridCol>
                <a:gridCol w="1584027">
                  <a:extLst>
                    <a:ext uri="{9D8B030D-6E8A-4147-A177-3AD203B41FA5}">
                      <a16:colId xmlns:a16="http://schemas.microsoft.com/office/drawing/2014/main" val="77041388"/>
                    </a:ext>
                  </a:extLst>
                </a:gridCol>
                <a:gridCol w="1584027">
                  <a:extLst>
                    <a:ext uri="{9D8B030D-6E8A-4147-A177-3AD203B41FA5}">
                      <a16:colId xmlns:a16="http://schemas.microsoft.com/office/drawing/2014/main" val="2425704399"/>
                    </a:ext>
                  </a:extLst>
                </a:gridCol>
              </a:tblGrid>
              <a:tr h="214112">
                <a:tc>
                  <a:txBody>
                    <a:bodyPr/>
                    <a:lstStyle/>
                    <a:p>
                      <a:r>
                        <a:rPr lang="en-US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US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 KP cost / year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Savings if costs reduced by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11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Diabetes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6.77% ($237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$5.54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$443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37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Heart Disease and 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5.69% ($199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$4.65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$372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03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Obesity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4.2% ($147 B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$3.44B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$275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30769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76CE485-0431-40DB-8FA2-89C030882318}"/>
              </a:ext>
            </a:extLst>
          </p:cNvPr>
          <p:cNvSpPr/>
          <p:nvPr/>
        </p:nvSpPr>
        <p:spPr>
          <a:xfrm>
            <a:off x="5041901" y="2289914"/>
            <a:ext cx="1930998" cy="2191038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en-US" dirty="0">
                <a:solidFill>
                  <a:srgbClr val="E71224"/>
                </a:solidFill>
              </a:rPr>
              <a:t>							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54B4349-D1D8-2946-8982-A1A775C6820D}"/>
              </a:ext>
            </a:extLst>
          </p:cNvPr>
          <p:cNvSpPr txBox="1"/>
          <p:nvPr/>
        </p:nvSpPr>
        <p:spPr>
          <a:xfrm>
            <a:off x="6947498" y="2980378"/>
            <a:ext cx="17906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$1.1 B of potential savings per year if match competitors on just these 3 alone</a:t>
            </a:r>
          </a:p>
        </p:txBody>
      </p:sp>
    </p:spTree>
    <p:extLst>
      <p:ext uri="{BB962C8B-B14F-4D97-AF65-F5344CB8AC3E}">
        <p14:creationId xmlns:p14="http://schemas.microsoft.com/office/powerpoint/2010/main" val="3109536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uiExpand="1" build="p"/>
      <p:bldP spid="12" grpId="0" uiExpand="1" build="p" animBg="1"/>
      <p:bldP spid="2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What can we gain?</a:t>
            </a:r>
            <a:endParaRPr sz="500" dirty="0"/>
          </a:p>
        </p:txBody>
      </p:sp>
      <p:sp>
        <p:nvSpPr>
          <p:cNvPr id="168" name="Google Shape;168;p35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Opportunity</a:t>
            </a:r>
            <a:endParaRPr sz="500" dirty="0"/>
          </a:p>
        </p:txBody>
      </p:sp>
      <p:sp>
        <p:nvSpPr>
          <p:cNvPr id="170" name="Google Shape;170;p35"/>
          <p:cNvSpPr txBox="1">
            <a:spLocks noGrp="1"/>
          </p:cNvSpPr>
          <p:nvPr>
            <p:ph type="body" idx="3"/>
          </p:nvPr>
        </p:nvSpPr>
        <p:spPr>
          <a:xfrm>
            <a:off x="457200" y="15113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I</a:t>
            </a:r>
            <a:r>
              <a:rPr lang="en-US" dirty="0"/>
              <a:t>n addition to cost savings, we can also monetize the app we develop:</a:t>
            </a:r>
          </a:p>
          <a:p>
            <a:pPr marL="285750" indent="-285750"/>
            <a:r>
              <a:rPr lang="en-US" dirty="0"/>
              <a:t>$10 monthly subscription</a:t>
            </a:r>
          </a:p>
          <a:p>
            <a:pPr marL="742950" lvl="1" indent="-285750"/>
            <a:r>
              <a:rPr lang="en-US" dirty="0"/>
              <a:t>12.2 M members x $10 * 12 months </a:t>
            </a:r>
          </a:p>
          <a:p>
            <a:pPr marL="742950" lvl="1" indent="-285750"/>
            <a:r>
              <a:rPr lang="en-US" dirty="0"/>
              <a:t>= </a:t>
            </a:r>
            <a:r>
              <a:rPr lang="en-US" b="1" dirty="0"/>
              <a:t>$1.46 B Total Addressable Market</a:t>
            </a:r>
          </a:p>
          <a:p>
            <a:pPr marL="285750" indent="-285750"/>
            <a:r>
              <a:rPr lang="en-US" dirty="0"/>
              <a:t>Risk: Many free options available, so members may not sign-up</a:t>
            </a:r>
          </a:p>
          <a:p>
            <a:pPr marL="742950" lvl="1" indent="-285750"/>
            <a:r>
              <a:rPr lang="en-US" dirty="0"/>
              <a:t>Consider freemium model </a:t>
            </a:r>
          </a:p>
          <a:p>
            <a:pPr marL="742950" lvl="1" indent="-285750"/>
            <a:r>
              <a:rPr lang="en-US" dirty="0"/>
              <a:t>Employers may be willing to pay fees, especially for gains in productivity</a:t>
            </a:r>
          </a:p>
          <a:p>
            <a:pPr marL="742950" lvl="1" indent="-285750"/>
            <a:r>
              <a:rPr lang="en-US" dirty="0"/>
              <a:t>Possibly add costs into insurance premiums</a:t>
            </a:r>
          </a:p>
          <a:p>
            <a:pPr marL="571500" lvl="1" indent="-114300"/>
            <a:endParaRPr lang="en-US" sz="1000" dirty="0"/>
          </a:p>
        </p:txBody>
      </p:sp>
      <p:sp>
        <p:nvSpPr>
          <p:cNvPr id="171" name="Google Shape;171;p35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9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What’s Our Solution?</a:t>
            </a:r>
            <a:endParaRPr sz="500" dirty="0"/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Proposal</a:t>
            </a:r>
            <a:endParaRPr sz="500" dirty="0"/>
          </a:p>
        </p:txBody>
      </p:sp>
      <p:sp>
        <p:nvSpPr>
          <p:cNvPr id="179" name="Google Shape;179;p36"/>
          <p:cNvSpPr txBox="1">
            <a:spLocks noGrp="1"/>
          </p:cNvSpPr>
          <p:nvPr>
            <p:ph type="body" idx="3"/>
          </p:nvPr>
        </p:nvSpPr>
        <p:spPr>
          <a:xfrm>
            <a:off x="457200" y="1640625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 err="1"/>
              <a:t>KPDailyCheckup</a:t>
            </a:r>
            <a:r>
              <a:rPr lang="en-US" dirty="0"/>
              <a:t> digital therapeutic app </a:t>
            </a:r>
          </a:p>
          <a:p>
            <a:pPr marL="742950" lvl="1" indent="-285750">
              <a:buSzPts val="1400"/>
            </a:pPr>
            <a:r>
              <a:rPr lang="en-US" dirty="0"/>
              <a:t>Prevent occurrence through activity and nutrition tracking and personalized plans based on health history and data</a:t>
            </a:r>
          </a:p>
          <a:p>
            <a:pPr marL="742950" lvl="1" indent="-285750">
              <a:buSzPts val="1400"/>
            </a:pPr>
            <a:r>
              <a:rPr lang="en-US" dirty="0"/>
              <a:t>Manage, possibly reverse conditions through daily tracking, close care manager contact, change plan of action quickly if necessary</a:t>
            </a:r>
          </a:p>
          <a:p>
            <a:pPr marL="285750" indent="-285750"/>
            <a:r>
              <a:rPr lang="en-US" dirty="0"/>
              <a:t>Integrate custom smart appliances (scale, glucose meters, etc.)</a:t>
            </a:r>
          </a:p>
          <a:p>
            <a:pPr marL="742950" lvl="1" indent="-285750"/>
            <a:r>
              <a:rPr lang="en-US" dirty="0"/>
              <a:t>Automatic data collection</a:t>
            </a:r>
          </a:p>
          <a:p>
            <a:pPr marL="742950" lvl="1" indent="-285750"/>
            <a:r>
              <a:rPr lang="en-US" dirty="0"/>
              <a:t>Data consistency</a:t>
            </a:r>
          </a:p>
          <a:p>
            <a:pPr marL="285750" indent="-285750"/>
            <a:r>
              <a:rPr lang="en-US" dirty="0"/>
              <a:t>Possibly partner with vendors or gyms to offer additional incentives to use the app</a:t>
            </a:r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en-US" dirty="0"/>
          </a:p>
        </p:txBody>
      </p:sp>
      <p:sp>
        <p:nvSpPr>
          <p:cNvPr id="180" name="Google Shape;180;p36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10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dirty="0"/>
              <a:t>Estimated first-year costs</a:t>
            </a:r>
            <a:endParaRPr sz="500" dirty="0"/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Return On Investment</a:t>
            </a:r>
            <a:endParaRPr sz="500" dirty="0"/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3"/>
          </p:nvPr>
        </p:nvSpPr>
        <p:spPr>
          <a:xfrm>
            <a:off x="457200" y="1581976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Development Expenses: </a:t>
            </a:r>
          </a:p>
          <a:p>
            <a:pPr lvl="1"/>
            <a:r>
              <a:rPr lang="en-US" dirty="0"/>
              <a:t>52 weeks * 40 hours * $75 hour * 7 full-time resources </a:t>
            </a:r>
          </a:p>
          <a:p>
            <a:pPr lvl="1"/>
            <a:r>
              <a:rPr lang="en-US" b="1" dirty="0"/>
              <a:t>~$1,10 M</a:t>
            </a:r>
          </a:p>
          <a:p>
            <a:r>
              <a:rPr lang="en-US" dirty="0"/>
              <a:t>Additional expenses:</a:t>
            </a:r>
          </a:p>
          <a:p>
            <a:pPr lvl="1"/>
            <a:r>
              <a:rPr lang="en-US" dirty="0"/>
              <a:t>Operations, Marketing</a:t>
            </a:r>
            <a:r>
              <a:rPr lang="en-US"/>
              <a:t>, Training</a:t>
            </a:r>
            <a:r>
              <a:rPr lang="en-US" dirty="0"/>
              <a:t>, Equipment, etc.</a:t>
            </a:r>
          </a:p>
          <a:p>
            <a:pPr lvl="1"/>
            <a:r>
              <a:rPr lang="en-US" dirty="0"/>
              <a:t>Bulk of expense is “smart” appliances (3.5% of 12.2M * $10)</a:t>
            </a:r>
          </a:p>
          <a:p>
            <a:pPr lvl="1"/>
            <a:r>
              <a:rPr lang="en-US" b="1" dirty="0"/>
              <a:t>~$4.27 M</a:t>
            </a:r>
          </a:p>
          <a:p>
            <a:r>
              <a:rPr lang="en-US" dirty="0"/>
              <a:t>Grand total:</a:t>
            </a:r>
          </a:p>
          <a:p>
            <a:pPr lvl="1"/>
            <a:r>
              <a:rPr lang="en-US" b="1" dirty="0"/>
              <a:t>~$5.37 M </a:t>
            </a:r>
          </a:p>
          <a:p>
            <a:endParaRPr lang="en-US" dirty="0"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11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A0077A-879D-7642-A84D-6E91999945C4}"/>
              </a:ext>
            </a:extLst>
          </p:cNvPr>
          <p:cNvSpPr/>
          <p:nvPr/>
        </p:nvSpPr>
        <p:spPr>
          <a:xfrm>
            <a:off x="5625549" y="4407069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1 – Source: </a:t>
            </a:r>
            <a:r>
              <a:rPr lang="en-US" sz="900" u="sng" dirty="0">
                <a:hlinkClick r:id="rId3"/>
              </a:rPr>
              <a:t>https://buildfire.com/hidden-app-development-costs/</a:t>
            </a:r>
            <a:r>
              <a:rPr lang="en-US" sz="900" dirty="0"/>
              <a:t> </a:t>
            </a:r>
          </a:p>
          <a:p>
            <a:r>
              <a:rPr lang="en-US" sz="900" dirty="0"/>
              <a:t>2 – Source: </a:t>
            </a:r>
            <a:r>
              <a:rPr lang="en-US" sz="900" u="sng" dirty="0">
                <a:hlinkClick r:id="rId4"/>
              </a:rPr>
              <a:t>https://www.businessofapps.com/marketplace/app-marketing/research/app-marketing-cost/</a:t>
            </a:r>
            <a:endParaRPr lang="en-US" sz="9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What can we do?</a:t>
            </a:r>
            <a:endParaRPr sz="500" dirty="0"/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Return On Investment</a:t>
            </a:r>
            <a:endParaRPr sz="500"/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US" dirty="0"/>
          </a:p>
          <a:p>
            <a:r>
              <a:rPr lang="en-US" dirty="0"/>
              <a:t>Potential revenue:</a:t>
            </a:r>
          </a:p>
          <a:p>
            <a:pPr lvl="1"/>
            <a:r>
              <a:rPr lang="en-US" dirty="0"/>
              <a:t>12.2 M members * 3.5% adoption rate * $120 / year </a:t>
            </a:r>
          </a:p>
          <a:p>
            <a:pPr lvl="1"/>
            <a:r>
              <a:rPr lang="en-US" dirty="0"/>
              <a:t>=</a:t>
            </a:r>
            <a:r>
              <a:rPr lang="en-US" b="1" dirty="0"/>
              <a:t> ~$51.2 M/year</a:t>
            </a:r>
          </a:p>
          <a:p>
            <a:r>
              <a:rPr lang="en-US" dirty="0"/>
              <a:t>Return on Investment  = (revenue – cost)/(cost) * 100</a:t>
            </a:r>
          </a:p>
          <a:p>
            <a:pPr lvl="1"/>
            <a:r>
              <a:rPr lang="en-US" dirty="0"/>
              <a:t>($51.2 M – $ 5.37 M)/ $5.37 M * 100 </a:t>
            </a:r>
          </a:p>
          <a:p>
            <a:pPr lvl="1"/>
            <a:r>
              <a:rPr lang="en-US" dirty="0"/>
              <a:t>= </a:t>
            </a:r>
            <a:r>
              <a:rPr lang="en-US" b="1" dirty="0"/>
              <a:t>~850% ROI</a:t>
            </a:r>
          </a:p>
          <a:p>
            <a:r>
              <a:rPr lang="en-US" dirty="0"/>
              <a:t>Additional potential savings after year 1:</a:t>
            </a:r>
          </a:p>
          <a:p>
            <a:pPr lvl="1"/>
            <a:r>
              <a:rPr lang="en-US" dirty="0"/>
              <a:t>8% of diabetes, heart, obesity expenses (Opportunities section )</a:t>
            </a:r>
          </a:p>
          <a:p>
            <a:pPr lvl="1"/>
            <a:r>
              <a:rPr lang="en-US" b="1" dirty="0"/>
              <a:t>&gt; $1.1 B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12</a:t>
            </a:fld>
            <a:endParaRPr>
              <a:solidFill>
                <a:srgbClr val="9292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4248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/>
              <a:t>How will we know if we’re successful?</a:t>
            </a:r>
            <a:endParaRPr sz="500"/>
          </a:p>
        </p:txBody>
      </p:sp>
      <p:sp>
        <p:nvSpPr>
          <p:cNvPr id="195" name="Google Shape;195;p38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Measurement</a:t>
            </a:r>
            <a:endParaRPr sz="500" dirty="0"/>
          </a:p>
        </p:txBody>
      </p:sp>
      <p:sp>
        <p:nvSpPr>
          <p:cNvPr id="197" name="Google Shape;197;p38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" dirty="0"/>
              <a:t>Goals for Year 1: </a:t>
            </a:r>
          </a:p>
          <a:p>
            <a:pPr marL="285750" indent="-285750"/>
            <a:r>
              <a:rPr lang="en" dirty="0"/>
              <a:t>Beat 3.5% conversion rate target for subscriptions</a:t>
            </a:r>
          </a:p>
          <a:p>
            <a:pPr marL="742950" lvl="1" indent="-285750"/>
            <a:r>
              <a:rPr lang="en" dirty="0"/>
              <a:t>Encourage sign-up during patient/care manager interactions</a:t>
            </a:r>
          </a:p>
          <a:p>
            <a:pPr marL="285750" indent="-285750"/>
            <a:r>
              <a:rPr lang="en-US" dirty="0"/>
              <a:t>2% spending reduction on chronic conditions per participant</a:t>
            </a:r>
          </a:p>
          <a:p>
            <a:pPr marL="742950" lvl="1" indent="-285750"/>
            <a:r>
              <a:rPr lang="en-US" dirty="0"/>
              <a:t>Not fully operational from day one</a:t>
            </a:r>
          </a:p>
          <a:p>
            <a:pPr marL="742950" lvl="1" indent="-285750"/>
            <a:r>
              <a:rPr lang="en-US" dirty="0"/>
              <a:t>Eventual goal: Beating Cigna’s 8.8% cost reduction rate</a:t>
            </a:r>
          </a:p>
          <a:p>
            <a:pPr marL="285750" indent="-285750"/>
            <a:r>
              <a:rPr lang="en-US" dirty="0"/>
              <a:t> Over 80% customer satisfaction rate</a:t>
            </a:r>
          </a:p>
          <a:p>
            <a:pPr marL="742950" lvl="1" indent="-285750"/>
            <a:r>
              <a:rPr lang="en-US" dirty="0"/>
              <a:t>Assume there may be initial bumps in the road</a:t>
            </a:r>
            <a:endParaRPr lang="en" dirty="0"/>
          </a:p>
          <a:p>
            <a:pPr marL="285750" indent="-285750"/>
            <a:endParaRPr b="1" dirty="0"/>
          </a:p>
        </p:txBody>
      </p:sp>
      <p:sp>
        <p:nvSpPr>
          <p:cNvPr id="198" name="Google Shape;198;p38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13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Competitors</a:t>
            </a:r>
            <a:endParaRPr sz="500"/>
          </a:p>
        </p:txBody>
      </p:sp>
      <p:sp>
        <p:nvSpPr>
          <p:cNvPr id="204" name="Google Shape;204;p39"/>
          <p:cNvSpPr txBox="1">
            <a:spLocks noGrp="1"/>
          </p:cNvSpPr>
          <p:nvPr>
            <p:ph type="body" idx="4294967295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>
            <a:spLocks noGrp="1"/>
          </p:cNvSpPr>
          <p:nvPr>
            <p:ph type="body" idx="1"/>
          </p:nvPr>
        </p:nvSpPr>
        <p:spPr>
          <a:xfrm>
            <a:off x="457200" y="912875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One-size fits all insurers</a:t>
            </a:r>
            <a:endParaRPr sz="500" dirty="0"/>
          </a:p>
        </p:txBody>
      </p:sp>
      <p:sp>
        <p:nvSpPr>
          <p:cNvPr id="210" name="Google Shape;210;p40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 err="1"/>
              <a:t>Omada</a:t>
            </a:r>
            <a:endParaRPr sz="500" dirty="0"/>
          </a:p>
        </p:txBody>
      </p:sp>
      <p:sp>
        <p:nvSpPr>
          <p:cNvPr id="211" name="Google Shape;211;p40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15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212" name="Google Shape;212;p40"/>
          <p:cNvSpPr txBox="1">
            <a:spLocks noGrp="1"/>
          </p:cNvSpPr>
          <p:nvPr>
            <p:ph type="body" idx="3"/>
          </p:nvPr>
        </p:nvSpPr>
        <p:spPr>
          <a:xfrm>
            <a:off x="442737" y="1376450"/>
            <a:ext cx="8482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500" dirty="0"/>
          </a:p>
          <a:p>
            <a:pPr marL="285750" indent="-285750"/>
            <a:r>
              <a:rPr lang="en" dirty="0"/>
              <a:t>Digital therapeutics company</a:t>
            </a:r>
          </a:p>
          <a:p>
            <a:pPr marL="742950" lvl="1" indent="-285750"/>
            <a:r>
              <a:rPr lang="en" dirty="0"/>
              <a:t>Kaiser Permanente Ventures is an investor</a:t>
            </a:r>
          </a:p>
          <a:p>
            <a:pPr marL="742950" lvl="1" indent="-285750"/>
            <a:r>
              <a:rPr lang="en" dirty="0"/>
              <a:t>Estimated annual revenue of $104 M</a:t>
            </a:r>
            <a:r>
              <a:rPr lang="en" baseline="30000" dirty="0"/>
              <a:t>1</a:t>
            </a:r>
            <a:endParaRPr lang="en" dirty="0"/>
          </a:p>
          <a:p>
            <a:pPr marL="285750" indent="-285750"/>
            <a:r>
              <a:rPr lang="en" dirty="0"/>
              <a:t>Key Features:</a:t>
            </a:r>
          </a:p>
          <a:p>
            <a:pPr marL="742950" lvl="1" indent="-285750">
              <a:buSzPts val="1400"/>
            </a:pPr>
            <a:r>
              <a:rPr lang="en" dirty="0"/>
              <a:t>Managing existing conditions (diabetes, hypertension, behavioral health)</a:t>
            </a:r>
          </a:p>
          <a:p>
            <a:pPr marL="742950" lvl="1" indent="-285750">
              <a:buSzPts val="1400"/>
            </a:pPr>
            <a:r>
              <a:rPr lang="en" dirty="0"/>
              <a:t>Smart scale</a:t>
            </a:r>
          </a:p>
          <a:p>
            <a:pPr marL="742950" lvl="1" indent="-285750">
              <a:buSzPts val="1400"/>
            </a:pPr>
            <a:r>
              <a:rPr lang="en" dirty="0"/>
              <a:t>Coaching, social network etc.</a:t>
            </a:r>
          </a:p>
          <a:p>
            <a:pPr marL="285750" indent="-285750"/>
            <a:r>
              <a:rPr lang="en" dirty="0"/>
              <a:t>Market Penetration:</a:t>
            </a:r>
          </a:p>
          <a:p>
            <a:pPr marL="742950" lvl="1" indent="-285750"/>
            <a:r>
              <a:rPr lang="en" dirty="0"/>
              <a:t>85,000 users in 2018</a:t>
            </a:r>
            <a:r>
              <a:rPr lang="en" baseline="30000" dirty="0"/>
              <a:t>2</a:t>
            </a:r>
          </a:p>
          <a:p>
            <a:pPr marL="742950" lvl="1" indent="-285750"/>
            <a:r>
              <a:rPr lang="en" dirty="0"/>
              <a:t>Cigna, BCBS, Optima, and KP</a:t>
            </a:r>
          </a:p>
        </p:txBody>
      </p:sp>
      <p:sp>
        <p:nvSpPr>
          <p:cNvPr id="213" name="Google Shape;213;p40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7202FABC-10E5-3647-A41D-6C62E5582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36" y="345428"/>
            <a:ext cx="1394243" cy="13223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7522BB-C1A3-6D45-8894-B7AC231E2B42}"/>
              </a:ext>
            </a:extLst>
          </p:cNvPr>
          <p:cNvSpPr/>
          <p:nvPr/>
        </p:nvSpPr>
        <p:spPr>
          <a:xfrm>
            <a:off x="5709157" y="466248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1 – Source: </a:t>
            </a:r>
            <a:r>
              <a:rPr lang="en-US" sz="900" dirty="0">
                <a:hlinkClick r:id="rId4"/>
              </a:rPr>
              <a:t>https://www.owler.com/company/omadahealth</a:t>
            </a:r>
            <a:endParaRPr lang="en-US" sz="900" dirty="0"/>
          </a:p>
          <a:p>
            <a:r>
              <a:rPr lang="en-US" sz="900" dirty="0"/>
              <a:t>2 – Source : </a:t>
            </a:r>
            <a:r>
              <a:rPr lang="en-US" sz="900" dirty="0">
                <a:hlinkClick r:id="rId5"/>
              </a:rPr>
              <a:t>https://www.fastcompany.com/company/omada-health</a:t>
            </a:r>
            <a:endParaRPr lang="en-US" sz="9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>
            <a:spLocks noGrp="1"/>
          </p:cNvSpPr>
          <p:nvPr>
            <p:ph type="body" idx="1"/>
          </p:nvPr>
        </p:nvSpPr>
        <p:spPr>
          <a:xfrm>
            <a:off x="457200" y="912875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Expanding its technology and reach</a:t>
            </a:r>
            <a:endParaRPr dirty="0"/>
          </a:p>
        </p:txBody>
      </p:sp>
      <p:sp>
        <p:nvSpPr>
          <p:cNvPr id="219" name="Google Shape;219;p4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 err="1"/>
              <a:t>Livongo</a:t>
            </a:r>
            <a:endParaRPr sz="500" dirty="0"/>
          </a:p>
        </p:txBody>
      </p:sp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16</a:t>
            </a:fld>
            <a:endParaRPr>
              <a:solidFill>
                <a:srgbClr val="929292"/>
              </a:solidFill>
            </a:endParaRPr>
          </a:p>
        </p:txBody>
      </p:sp>
      <p:sp>
        <p:nvSpPr>
          <p:cNvPr id="221" name="Google Shape;221;p41"/>
          <p:cNvSpPr txBox="1">
            <a:spLocks noGrp="1"/>
          </p:cNvSpPr>
          <p:nvPr>
            <p:ph type="body" idx="3"/>
          </p:nvPr>
        </p:nvSpPr>
        <p:spPr>
          <a:xfrm>
            <a:off x="204300" y="1375616"/>
            <a:ext cx="8482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500" dirty="0"/>
          </a:p>
          <a:p>
            <a:pPr marL="285750" indent="-285750"/>
            <a:r>
              <a:rPr lang="en" dirty="0"/>
              <a:t>Digital therapeutics</a:t>
            </a:r>
          </a:p>
          <a:p>
            <a:pPr marL="742950" lvl="1" indent="-285750"/>
            <a:r>
              <a:rPr lang="en" dirty="0"/>
              <a:t>Estimated annual revenue of $290 M</a:t>
            </a:r>
            <a:r>
              <a:rPr lang="en" baseline="30000" dirty="0"/>
              <a:t>1</a:t>
            </a:r>
          </a:p>
          <a:p>
            <a:pPr marL="742950" lvl="1" indent="-285750"/>
            <a:r>
              <a:rPr lang="en" dirty="0"/>
              <a:t>Recently purchased </a:t>
            </a:r>
            <a:r>
              <a:rPr lang="en" dirty="0" err="1"/>
              <a:t>myStrength</a:t>
            </a:r>
            <a:r>
              <a:rPr lang="en" dirty="0"/>
              <a:t> behavior health app (KP uses)</a:t>
            </a:r>
          </a:p>
          <a:p>
            <a:pPr marL="285750" indent="-285750"/>
            <a:r>
              <a:rPr lang="en" dirty="0"/>
              <a:t>Key Features:</a:t>
            </a:r>
          </a:p>
          <a:p>
            <a:pPr marL="742950" lvl="1" indent="-285750">
              <a:buSzPts val="1400"/>
            </a:pPr>
            <a:r>
              <a:rPr lang="en" dirty="0"/>
              <a:t>Managing diabetes, hypertension, behavioral health, weight</a:t>
            </a:r>
          </a:p>
          <a:p>
            <a:pPr marL="742950" lvl="1" indent="-285750">
              <a:buSzPts val="1400"/>
            </a:pPr>
            <a:r>
              <a:rPr lang="en" dirty="0"/>
              <a:t>Smart scale, glucose reader and blood pressure monitor</a:t>
            </a:r>
          </a:p>
          <a:p>
            <a:pPr marL="742950" lvl="1" indent="-285750">
              <a:buSzPts val="1400"/>
            </a:pPr>
            <a:r>
              <a:rPr lang="en" dirty="0"/>
              <a:t>Coaching, prescription refills</a:t>
            </a:r>
          </a:p>
          <a:p>
            <a:pPr marL="285750" indent="-285750"/>
            <a:r>
              <a:rPr lang="en" dirty="0"/>
              <a:t>Market Penetration:</a:t>
            </a:r>
          </a:p>
          <a:p>
            <a:pPr marL="742950" lvl="1" indent="-285750"/>
            <a:r>
              <a:rPr lang="en" dirty="0"/>
              <a:t>Claim 207,000 members</a:t>
            </a:r>
          </a:p>
          <a:p>
            <a:pPr marL="742950" lvl="1" indent="-285750"/>
            <a:r>
              <a:rPr lang="en" dirty="0"/>
              <a:t>Mount Sinai, Mission Health, BCBC, Medicare, Medicaid</a:t>
            </a:r>
          </a:p>
        </p:txBody>
      </p:sp>
      <p:sp>
        <p:nvSpPr>
          <p:cNvPr id="222" name="Google Shape;222;p41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8AA3CF-B1E6-FD4A-A740-D005BEC18C5E}"/>
              </a:ext>
            </a:extLst>
          </p:cNvPr>
          <p:cNvSpPr/>
          <p:nvPr/>
        </p:nvSpPr>
        <p:spPr>
          <a:xfrm>
            <a:off x="5709157" y="4662481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1 – Source: https://</a:t>
            </a:r>
            <a:r>
              <a:rPr lang="en-US" sz="900" dirty="0" err="1"/>
              <a:t>www.owler.com</a:t>
            </a:r>
            <a:r>
              <a:rPr lang="en-US" sz="900" dirty="0"/>
              <a:t>/company/</a:t>
            </a:r>
            <a:r>
              <a:rPr lang="en-US" sz="900" dirty="0" err="1"/>
              <a:t>livongo</a:t>
            </a:r>
            <a:endParaRPr lang="en-US" sz="900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9D2F259E-817E-DA46-8502-4898E169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793" y="301621"/>
            <a:ext cx="1198610" cy="1193757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Why can we build a better solution?</a:t>
            </a:r>
            <a:endParaRPr sz="500" dirty="0"/>
          </a:p>
        </p:txBody>
      </p:sp>
      <p:sp>
        <p:nvSpPr>
          <p:cNvPr id="228" name="Google Shape;228;p42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Our Advantages</a:t>
            </a:r>
            <a:endParaRPr sz="500"/>
          </a:p>
        </p:txBody>
      </p:sp>
      <p:sp>
        <p:nvSpPr>
          <p:cNvPr id="230" name="Google Shape;230;p42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As an integrated managed care provider, KP has access to data across the spectrum </a:t>
            </a:r>
          </a:p>
          <a:p>
            <a:pPr marL="742950" lvl="1" indent="-285750"/>
            <a:r>
              <a:rPr lang="en-US" dirty="0"/>
              <a:t>Medical history, labs, pharmacy</a:t>
            </a:r>
          </a:p>
          <a:p>
            <a:pPr marL="742950" lvl="1" indent="-285750"/>
            <a:r>
              <a:rPr lang="en-US" dirty="0"/>
              <a:t>Insurance/cost data</a:t>
            </a:r>
          </a:p>
          <a:p>
            <a:pPr marL="285750" indent="-285750"/>
            <a:r>
              <a:rPr lang="en-US" dirty="0"/>
              <a:t>Don’t need external app to duplicate effective infrastructure we have</a:t>
            </a:r>
          </a:p>
          <a:p>
            <a:pPr marL="742950" lvl="1" indent="-285750"/>
            <a:r>
              <a:rPr lang="en-US" dirty="0"/>
              <a:t>We have coaches (care managers) in trusted relationships</a:t>
            </a:r>
          </a:p>
          <a:p>
            <a:pPr marL="285750" indent="-285750"/>
            <a:r>
              <a:rPr lang="en-US" dirty="0"/>
              <a:t>One size doesn’t fit all!</a:t>
            </a:r>
          </a:p>
          <a:p>
            <a:pPr marL="742950" lvl="1" indent="-285750"/>
            <a:r>
              <a:rPr lang="en-US" dirty="0"/>
              <a:t>Our best solution for our customers, our member demographics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17</a:t>
            </a:fld>
            <a:endParaRPr>
              <a:solidFill>
                <a:srgbClr val="929292"/>
              </a:solidFill>
            </a:endParaRPr>
          </a:p>
        </p:txBody>
      </p:sp>
      <p:pic>
        <p:nvPicPr>
          <p:cNvPr id="3" name="Picture 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717864AB-6338-DA4A-9973-253DDC969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07" y="304800"/>
            <a:ext cx="3478696" cy="4572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Roadmap and Vision</a:t>
            </a:r>
            <a:endParaRPr sz="500"/>
          </a:p>
        </p:txBody>
      </p:sp>
      <p:sp>
        <p:nvSpPr>
          <p:cNvPr id="237" name="Google Shape;237;p43"/>
          <p:cNvSpPr txBox="1">
            <a:spLocks noGrp="1"/>
          </p:cNvSpPr>
          <p:nvPr>
            <p:ph type="body" idx="4294967295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/>
              <a:t>Where do we go from here?</a:t>
            </a:r>
            <a:endParaRPr sz="500"/>
          </a:p>
        </p:txBody>
      </p:sp>
      <p:sp>
        <p:nvSpPr>
          <p:cNvPr id="243" name="Google Shape;243;p44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244" name="Google Shape;244;p4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Roadmap Pillars</a:t>
            </a:r>
            <a:endParaRPr sz="500" dirty="0"/>
          </a:p>
        </p:txBody>
      </p:sp>
      <p:sp>
        <p:nvSpPr>
          <p:cNvPr id="245" name="Google Shape;245;p44"/>
          <p:cNvSpPr txBox="1">
            <a:spLocks noGrp="1"/>
          </p:cNvSpPr>
          <p:nvPr>
            <p:ph type="body" idx="3"/>
          </p:nvPr>
        </p:nvSpPr>
        <p:spPr>
          <a:xfrm>
            <a:off x="457200" y="127718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-US" dirty="0"/>
              <a:t>Vision: Place KP’s care management, expertise and tools at members fingertips, so that they can improve their health every day</a:t>
            </a:r>
          </a:p>
          <a:p>
            <a:pPr marL="285750" indent="-285750"/>
            <a:r>
              <a:rPr lang="en-US" dirty="0"/>
              <a:t>Product Roadmap:</a:t>
            </a: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dirty="0"/>
          </a:p>
        </p:txBody>
      </p:sp>
      <p:sp>
        <p:nvSpPr>
          <p:cNvPr id="246" name="Google Shape;246;p44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19</a:t>
            </a:fld>
            <a:endParaRPr>
              <a:solidFill>
                <a:srgbClr val="92929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C116B-7744-7A43-A8A1-DC9F1A831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884637"/>
              </p:ext>
            </p:extLst>
          </p:nvPr>
        </p:nvGraphicFramePr>
        <p:xfrm>
          <a:off x="993912" y="2155523"/>
          <a:ext cx="7156175" cy="268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val="3722538830"/>
                    </a:ext>
                  </a:extLst>
                </a:gridCol>
                <a:gridCol w="1643269">
                  <a:extLst>
                    <a:ext uri="{9D8B030D-6E8A-4147-A177-3AD203B41FA5}">
                      <a16:colId xmlns:a16="http://schemas.microsoft.com/office/drawing/2014/main" val="3147584019"/>
                    </a:ext>
                  </a:extLst>
                </a:gridCol>
                <a:gridCol w="1431235">
                  <a:extLst>
                    <a:ext uri="{9D8B030D-6E8A-4147-A177-3AD203B41FA5}">
                      <a16:colId xmlns:a16="http://schemas.microsoft.com/office/drawing/2014/main" val="2272108101"/>
                    </a:ext>
                  </a:extLst>
                </a:gridCol>
                <a:gridCol w="1431235">
                  <a:extLst>
                    <a:ext uri="{9D8B030D-6E8A-4147-A177-3AD203B41FA5}">
                      <a16:colId xmlns:a16="http://schemas.microsoft.com/office/drawing/2014/main" val="1618418901"/>
                    </a:ext>
                  </a:extLst>
                </a:gridCol>
                <a:gridCol w="1431235">
                  <a:extLst>
                    <a:ext uri="{9D8B030D-6E8A-4147-A177-3AD203B41FA5}">
                      <a16:colId xmlns:a16="http://schemas.microsoft.com/office/drawing/2014/main" val="1913701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382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Prevention Core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Physical conditioning, Healthy nutrition, Weight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 planning using medical history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10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Condition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Care Manager integration, </a:t>
                      </a:r>
                      <a:r>
                        <a:rPr lang="en-US" dirty="0"/>
                        <a:t>Diabetes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Cardiovascular Disease Management, Stress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Mental Wellness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64679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Prevent the condition from occurring</a:t>
            </a:r>
            <a:endParaRPr sz="500" dirty="0"/>
          </a:p>
        </p:txBody>
      </p:sp>
      <p:sp>
        <p:nvSpPr>
          <p:cNvPr id="252" name="Google Shape;252;p45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253" name="Google Shape;253;p4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Prevention Core Functionality</a:t>
            </a:r>
            <a:endParaRPr sz="500" dirty="0"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idx="3"/>
          </p:nvPr>
        </p:nvSpPr>
        <p:spPr>
          <a:xfrm>
            <a:off x="457200" y="1634984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" dirty="0"/>
              <a:t>Physical conditioning</a:t>
            </a:r>
          </a:p>
          <a:p>
            <a:pPr marL="742950" lvl="1" indent="-285750">
              <a:buSzPts val="1400"/>
            </a:pPr>
            <a:r>
              <a:rPr lang="en" dirty="0"/>
              <a:t>Fitness tracker integration</a:t>
            </a:r>
          </a:p>
          <a:p>
            <a:pPr marL="742950" lvl="1" indent="-285750">
              <a:buSzPts val="1400"/>
            </a:pPr>
            <a:r>
              <a:rPr lang="en" dirty="0"/>
              <a:t>Personal targets and reminders based on patient data</a:t>
            </a:r>
          </a:p>
          <a:p>
            <a:pPr marL="285750" indent="-285750"/>
            <a:r>
              <a:rPr lang="en" dirty="0"/>
              <a:t>Healthy Nutrition</a:t>
            </a:r>
          </a:p>
          <a:p>
            <a:pPr marL="742950" lvl="1" indent="-285750">
              <a:buSzPts val="1400"/>
            </a:pPr>
            <a:r>
              <a:rPr lang="en" dirty="0"/>
              <a:t>Large food database for tracking</a:t>
            </a:r>
          </a:p>
          <a:p>
            <a:pPr marL="742950" lvl="1" indent="-285750">
              <a:buSzPts val="1400"/>
            </a:pPr>
            <a:r>
              <a:rPr lang="en" dirty="0"/>
              <a:t>Personal tips and recommendations</a:t>
            </a:r>
          </a:p>
          <a:p>
            <a:pPr marL="285750" indent="-285750"/>
            <a:r>
              <a:rPr lang="en" dirty="0"/>
              <a:t>Weight Management</a:t>
            </a:r>
          </a:p>
          <a:p>
            <a:pPr marL="742950" lvl="1" indent="-285750">
              <a:buSzPts val="1400"/>
            </a:pPr>
            <a:r>
              <a:rPr lang="en" dirty="0"/>
              <a:t>Personalized weight goal plan</a:t>
            </a:r>
          </a:p>
          <a:p>
            <a:pPr marL="742950" lvl="1" indent="-285750">
              <a:buSzPts val="1400"/>
            </a:pPr>
            <a:r>
              <a:rPr lang="en" dirty="0"/>
              <a:t>Exercise demonstration videos</a:t>
            </a:r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dirty="0"/>
          </a:p>
        </p:txBody>
      </p:sp>
      <p:sp>
        <p:nvSpPr>
          <p:cNvPr id="255" name="Google Shape;255;p45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20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Manage/Reverse Chronic Disease</a:t>
            </a:r>
            <a:endParaRPr sz="500" dirty="0"/>
          </a:p>
        </p:txBody>
      </p:sp>
      <p:sp>
        <p:nvSpPr>
          <p:cNvPr id="261" name="Google Shape;261;p46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 dirty="0"/>
              <a:t>Condition Management</a:t>
            </a:r>
            <a:endParaRPr sz="500" dirty="0"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3"/>
          </p:nvPr>
        </p:nvSpPr>
        <p:spPr>
          <a:xfrm>
            <a:off x="457200" y="1640625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en" dirty="0"/>
              <a:t>Care Manager Integration</a:t>
            </a:r>
          </a:p>
          <a:p>
            <a:pPr marL="742950" lvl="1" indent="-285750"/>
            <a:r>
              <a:rPr lang="en" dirty="0"/>
              <a:t>Personalized plan and check-ins</a:t>
            </a:r>
          </a:p>
          <a:p>
            <a:pPr marL="742950" lvl="1" indent="-285750"/>
            <a:r>
              <a:rPr lang="en" dirty="0"/>
              <a:t>Results-based alerts to care manager</a:t>
            </a:r>
          </a:p>
          <a:p>
            <a:pPr marL="285750" indent="-285750"/>
            <a:r>
              <a:rPr lang="en" dirty="0"/>
              <a:t>Diabetes Management</a:t>
            </a:r>
          </a:p>
          <a:p>
            <a:pPr marL="742950" lvl="1" indent="-285750">
              <a:buSzPts val="1400"/>
            </a:pPr>
            <a:r>
              <a:rPr lang="en" dirty="0"/>
              <a:t>Smart glucose meter integration</a:t>
            </a:r>
          </a:p>
          <a:p>
            <a:pPr marL="742950" lvl="1" indent="-285750">
              <a:buSzPts val="1400"/>
            </a:pPr>
            <a:r>
              <a:rPr lang="en" dirty="0"/>
              <a:t>A1C control</a:t>
            </a:r>
          </a:p>
          <a:p>
            <a:pPr marL="285750" indent="-285750"/>
            <a:r>
              <a:rPr lang="en" dirty="0"/>
              <a:t>Cardiovascular Disease Management</a:t>
            </a:r>
          </a:p>
          <a:p>
            <a:pPr marL="742950" lvl="1" indent="-285750">
              <a:buSzPts val="1400"/>
            </a:pPr>
            <a:r>
              <a:rPr lang="en" dirty="0"/>
              <a:t>Smart blood pressure monitor integration</a:t>
            </a:r>
          </a:p>
          <a:p>
            <a:pPr marL="742950" lvl="1" indent="-285750">
              <a:buSzPts val="1400"/>
            </a:pPr>
            <a:r>
              <a:rPr lang="en" dirty="0"/>
              <a:t>Stress management</a:t>
            </a:r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dirty="0"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21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>
            <a:spLocks noGrp="1"/>
          </p:cNvSpPr>
          <p:nvPr>
            <p:ph type="body" idx="1"/>
          </p:nvPr>
        </p:nvSpPr>
        <p:spPr>
          <a:xfrm>
            <a:off x="457200" y="914251"/>
            <a:ext cx="82296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 dirty="0"/>
              <a:t>Widening the scope</a:t>
            </a:r>
            <a:endParaRPr sz="500" dirty="0"/>
          </a:p>
        </p:txBody>
      </p:sp>
      <p:sp>
        <p:nvSpPr>
          <p:cNvPr id="279" name="Google Shape;279;p48"/>
          <p:cNvSpPr txBox="1">
            <a:spLocks noGrp="1"/>
          </p:cNvSpPr>
          <p:nvPr>
            <p:ph type="body" idx="2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sp>
        <p:nvSpPr>
          <p:cNvPr id="280" name="Google Shape;280;p48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Where do we go from here?</a:t>
            </a:r>
            <a:endParaRPr sz="500"/>
          </a:p>
        </p:txBody>
      </p:sp>
      <p:sp>
        <p:nvSpPr>
          <p:cNvPr id="281" name="Google Shape;281;p48"/>
          <p:cNvSpPr txBox="1">
            <a:spLocks noGrp="1"/>
          </p:cNvSpPr>
          <p:nvPr>
            <p:ph type="body" idx="3"/>
          </p:nvPr>
        </p:nvSpPr>
        <p:spPr>
          <a:xfrm>
            <a:off x="457200" y="14097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/>
            <a:r>
              <a:rPr lang="fr-CA" dirty="0"/>
              <a:t>Social sharing/motivation group</a:t>
            </a:r>
          </a:p>
          <a:p>
            <a:pPr marL="285750" indent="-285750"/>
            <a:r>
              <a:rPr lang="en-US" dirty="0"/>
              <a:t>Sleep improvement</a:t>
            </a:r>
          </a:p>
          <a:p>
            <a:pPr marL="285750" indent="-285750"/>
            <a:r>
              <a:rPr lang="en-US" dirty="0"/>
              <a:t>Take advantage of AI, deep learning to gain insights for better treatment</a:t>
            </a:r>
          </a:p>
          <a:p>
            <a:pPr marL="285750" indent="-285750"/>
            <a:r>
              <a:rPr lang="en-US" dirty="0"/>
              <a:t>One-stop shop: Integrate billing, appointments, prescription renewals, etc.</a:t>
            </a:r>
          </a:p>
          <a:p>
            <a:pPr marL="114300" marR="0" lvl="0" indent="-1143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D3D4A"/>
              </a:buClr>
              <a:buSzPts val="1400"/>
              <a:buFont typeface="Cabin"/>
              <a:buChar char="•"/>
            </a:pPr>
            <a:endParaRPr lang="fr-CA" dirty="0"/>
          </a:p>
        </p:txBody>
      </p:sp>
      <p:sp>
        <p:nvSpPr>
          <p:cNvPr id="282" name="Google Shape;282;p48"/>
          <p:cNvSpPr txBox="1">
            <a:spLocks noGrp="1"/>
          </p:cNvSpPr>
          <p:nvPr>
            <p:ph type="sldNum" idx="12"/>
          </p:nvPr>
        </p:nvSpPr>
        <p:spPr>
          <a:xfrm>
            <a:off x="8635403" y="4914900"/>
            <a:ext cx="1029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fld id="{00000000-1234-1234-1234-123412341234}" type="slidenum">
              <a:rPr lang="en"/>
              <a:t>22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dirty="0"/>
              <a:t>Thank you!</a:t>
            </a:r>
            <a:endParaRPr sz="500" dirty="0"/>
          </a:p>
        </p:txBody>
      </p:sp>
      <p:sp>
        <p:nvSpPr>
          <p:cNvPr id="237" name="Google Shape;237;p43"/>
          <p:cNvSpPr txBox="1">
            <a:spLocks noGrp="1"/>
          </p:cNvSpPr>
          <p:nvPr>
            <p:ph type="body" idx="4294967295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/>
              <a:t>9</a:t>
            </a:r>
            <a:r>
              <a:rPr lang="en" sz="700" b="0" i="0" u="none" strike="noStrike" cap="non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</p:spTree>
    <p:extLst>
      <p:ext uri="{BB962C8B-B14F-4D97-AF65-F5344CB8AC3E}">
        <p14:creationId xmlns:p14="http://schemas.microsoft.com/office/powerpoint/2010/main" val="2579273339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dacity Template 16x9">
  <a:themeElements>
    <a:clrScheme name="White">
      <a:dk1>
        <a:srgbClr val="2E3D49"/>
      </a:dk1>
      <a:lt1>
        <a:srgbClr val="7D97AD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6409</TotalTime>
  <Words>1541</Words>
  <Application>Microsoft Macintosh PowerPoint</Application>
  <PresentationFormat>On-screen Show (16:9)</PresentationFormat>
  <Paragraphs>262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Open Sans</vt:lpstr>
      <vt:lpstr>Cabin</vt:lpstr>
      <vt:lpstr>Arial</vt:lpstr>
      <vt:lpstr>Simple Light</vt:lpstr>
      <vt:lpstr>Udacity Template 16x9</vt:lpstr>
      <vt:lpstr>KPDailyCheckup</vt:lpstr>
      <vt:lpstr>Background</vt:lpstr>
      <vt:lpstr>Business Case</vt:lpstr>
      <vt:lpstr>Initial Focus</vt:lpstr>
      <vt:lpstr>Initial Focus</vt:lpstr>
      <vt:lpstr>Initial Focus</vt:lpstr>
      <vt:lpstr>Opportunity</vt:lpstr>
      <vt:lpstr>Opportunity</vt:lpstr>
      <vt:lpstr>Opportunity</vt:lpstr>
      <vt:lpstr>Proposal</vt:lpstr>
      <vt:lpstr>Return On Investment</vt:lpstr>
      <vt:lpstr>Return On Investment</vt:lpstr>
      <vt:lpstr>Measurement</vt:lpstr>
      <vt:lpstr>Competitors</vt:lpstr>
      <vt:lpstr>Omada</vt:lpstr>
      <vt:lpstr>Livongo</vt:lpstr>
      <vt:lpstr>Our Advantages</vt:lpstr>
      <vt:lpstr>Roadmap and Vision</vt:lpstr>
      <vt:lpstr>Roadmap Pillars</vt:lpstr>
      <vt:lpstr>Prevention Core Functionality</vt:lpstr>
      <vt:lpstr>Condition Management</vt:lpstr>
      <vt:lpstr>Where do we go from here?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</dc:title>
  <cp:lastModifiedBy>Maleina Bidek</cp:lastModifiedBy>
  <cp:revision>135</cp:revision>
  <dcterms:modified xsi:type="dcterms:W3CDTF">2020-04-25T21:21:55Z</dcterms:modified>
</cp:coreProperties>
</file>